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charts/chart4.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5.xml" ContentType="application/vnd.openxmlformats-officedocument.drawingml.chart+xml"/>
  <Override PartName="/ppt/notesSlides/notesSlide17.xml" ContentType="application/vnd.openxmlformats-officedocument.presentationml.notesSlide+xml"/>
  <Override PartName="/ppt/charts/chart6.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7.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notesSlides/notesSlide23.xml" ContentType="application/vnd.openxmlformats-officedocument.presentationml.notesSlide+xml"/>
  <Override PartName="/ppt/charts/chart10.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919D0327-A277-154C-A82F-52664499B505}">
          <p14:sldIdLst>
            <p14:sldId id="256"/>
            <p14:sldId id="257"/>
            <p14:sldId id="258"/>
            <p14:sldId id="259"/>
          </p14:sldIdLst>
        </p14:section>
        <p14:section name="Pregunta principal" id="{D116BD6C-38A2-5AE6-F67A-640D7AD4B667}">
          <p14:sldIdLst>
            <p14:sldId id="260"/>
            <p14:sldId id="261"/>
            <p14:sldId id="262"/>
            <p14:sldId id="263"/>
            <p14:sldId id="264"/>
            <p14:sldId id="265"/>
            <p14:sldId id="266"/>
            <p14:sldId id="267"/>
            <p14:sldId id="268"/>
            <p14:sldId id="269"/>
          </p14:sldIdLst>
        </p14:section>
        <p14:section name="Secundarias 1 y 2" id="{49D44E7B-6FE4-010D-795B-588342E40CD8}">
          <p14:sldIdLst>
            <p14:sldId id="270"/>
            <p14:sldId id="271"/>
            <p14:sldId id="272"/>
          </p14:sldIdLst>
        </p14:section>
        <p14:section name="Secundaria 3 · Público local" id="{2A05E9E4-AD5E-61E8-545E-218D19CA03F3}">
          <p14:sldIdLst>
            <p14:sldId id="273"/>
            <p14:sldId id="274"/>
            <p14:sldId id="275"/>
            <p14:sldId id="276"/>
            <p14:sldId id="277"/>
            <p14:sldId id="278"/>
            <p14:sldId id="279"/>
          </p14:sldIdLst>
        </p14:section>
        <p14:section name="Cierre" id="{1D7C7348-5A46-D4F1-014B-08EDE96DA635}">
          <p14:sldIdLst>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8FD68C-E432-4E03-A44E-C1956EF000CC}" v="2" dt="2026-10-05T14:49:37.8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8" d="100"/>
          <a:sy n="68" d="100"/>
        </p:scale>
        <p:origin x="7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400" b="0" i="0" u="none" strike="noStrike">
                <a:solidFill>
                  <a:srgbClr val="0C2B22"/>
                </a:solidFill>
                <a:latin typeface="+mn-lt"/>
              </a:defRPr>
            </a:pPr>
            <a:r>
              <a:rPr lang="es-ES" sz="1400" b="0" i="0" u="none" strike="noStrike">
                <a:solidFill>
                  <a:srgbClr val="0C2B22"/>
                </a:solidFill>
                <a:latin typeface="+mn-lt"/>
              </a:rPr>
              <a:t>Margen medio en cuotas de cierre (pp), 2022/23–2024/25</a:t>
            </a:r>
          </a:p>
        </c:rich>
      </c:tx>
      <c:overlay val="0"/>
    </c:title>
    <c:autoTitleDeleted val="0"/>
    <c:plotArea>
      <c:layout/>
      <c:barChart>
        <c:barDir val="col"/>
        <c:grouping val="clustered"/>
        <c:varyColors val="0"/>
        <c:ser>
          <c:idx val="0"/>
          <c:order val="0"/>
          <c:tx>
            <c:strRef>
              <c:f>Sheet1!$B$1</c:f>
              <c:strCache>
                <c:ptCount val="1"/>
                <c:pt idx="0">
                  <c:v>Bet365</c:v>
                </c:pt>
              </c:strCache>
            </c:strRef>
          </c:tx>
          <c:spPr>
            <a:solidFill>
              <a:srgbClr val="F2B705"/>
            </a:solidFill>
            <a:effectLst/>
          </c:spPr>
          <c:invertIfNegative val="0"/>
          <c:dLbls>
            <c:numFmt formatCode="0.00" sourceLinked="0"/>
            <c:spPr>
              <a:noFill/>
              <a:ln>
                <a:noFill/>
              </a:ln>
              <a:effectLst/>
            </c:spPr>
            <c:txPr>
              <a:bodyPr/>
              <a:lstStyle/>
              <a:p>
                <a:pPr>
                  <a:defRPr sz="1300" b="0" i="0" u="none" strike="noStrike">
                    <a:solidFill>
                      <a:srgbClr val="14211C"/>
                    </a:solidFill>
                    <a:latin typeface="+mn-lt"/>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Premier League</c:v>
                </c:pt>
                <c:pt idx="1">
                  <c:v>LaLiga</c:v>
                </c:pt>
              </c:strCache>
            </c:strRef>
          </c:cat>
          <c:val>
            <c:numRef>
              <c:f>Sheet1!$B$2:$B$3</c:f>
              <c:numCache>
                <c:formatCode>General</c:formatCode>
                <c:ptCount val="2"/>
                <c:pt idx="0">
                  <c:v>5.45</c:v>
                </c:pt>
                <c:pt idx="1">
                  <c:v>5.54</c:v>
                </c:pt>
              </c:numCache>
            </c:numRef>
          </c:val>
          <c:extLst>
            <c:ext xmlns:c16="http://schemas.microsoft.com/office/drawing/2014/chart" uri="{C3380CC4-5D6E-409C-BE32-E72D297353CC}">
              <c16:uniqueId val="{00000000-0E6F-4027-A170-4A964467A552}"/>
            </c:ext>
          </c:extLst>
        </c:ser>
        <c:ser>
          <c:idx val="1"/>
          <c:order val="1"/>
          <c:tx>
            <c:strRef>
              <c:f>Sheet1!$C$1</c:f>
              <c:strCache>
                <c:ptCount val="1"/>
                <c:pt idx="0">
                  <c:v>Pinnacle</c:v>
                </c:pt>
              </c:strCache>
            </c:strRef>
          </c:tx>
          <c:spPr>
            <a:solidFill>
              <a:srgbClr val="1F8A5B"/>
            </a:solidFill>
            <a:effectLst/>
          </c:spPr>
          <c:invertIfNegative val="0"/>
          <c:dLbls>
            <c:numFmt formatCode="0.00" sourceLinked="0"/>
            <c:spPr>
              <a:noFill/>
              <a:ln>
                <a:noFill/>
              </a:ln>
              <a:effectLst/>
            </c:spPr>
            <c:txPr>
              <a:bodyPr/>
              <a:lstStyle/>
              <a:p>
                <a:pPr>
                  <a:defRPr sz="1300" b="0" i="0" u="none" strike="noStrike">
                    <a:solidFill>
                      <a:srgbClr val="14211C"/>
                    </a:solidFill>
                    <a:latin typeface="+mn-lt"/>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Premier League</c:v>
                </c:pt>
                <c:pt idx="1">
                  <c:v>LaLiga</c:v>
                </c:pt>
              </c:strCache>
            </c:strRef>
          </c:cat>
          <c:val>
            <c:numRef>
              <c:f>Sheet1!$C$2:$C$3</c:f>
              <c:numCache>
                <c:formatCode>General</c:formatCode>
                <c:ptCount val="2"/>
                <c:pt idx="0">
                  <c:v>2.79</c:v>
                </c:pt>
                <c:pt idx="1">
                  <c:v>2.75</c:v>
                </c:pt>
              </c:numCache>
            </c:numRef>
          </c:val>
          <c:extLst>
            <c:ext xmlns:c16="http://schemas.microsoft.com/office/drawing/2014/chart" uri="{C3380CC4-5D6E-409C-BE32-E72D297353CC}">
              <c16:uniqueId val="{00000001-0E6F-4027-A170-4A964467A552}"/>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F68"/>
                </a:solidFill>
                <a:latin typeface="+mn-lt"/>
              </a:defRPr>
            </a:pPr>
            <a:endParaRPr lang="en-US"/>
          </a:p>
        </c:txPr>
        <c:crossAx val="2094734552"/>
        <c:crosses val="autoZero"/>
        <c:auto val="1"/>
        <c:lblAlgn val="ctr"/>
        <c:lblOffset val="100"/>
        <c:noMultiLvlLbl val="1"/>
      </c:catAx>
      <c:valAx>
        <c:axId val="2094734552"/>
        <c:scaling>
          <c:orientation val="minMax"/>
          <c:max val="7"/>
          <c:min val="0"/>
        </c:scaling>
        <c:delete val="0"/>
        <c:axPos val="l"/>
        <c:majorGridlines>
          <c:spPr>
            <a:ln w="9525" cap="flat">
              <a:solidFill>
                <a:srgbClr val="DCE3D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F68"/>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4211C"/>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400" b="0" i="0" u="none" strike="noStrike">
                <a:solidFill>
                  <a:srgbClr val="0C2B22"/>
                </a:solidFill>
                <a:latin typeface="+mn-lt"/>
              </a:defRPr>
            </a:pPr>
            <a:r>
              <a:rPr lang="es-CO" sz="1400" b="0" i="0" u="none" strike="noStrike">
                <a:solidFill>
                  <a:srgbClr val="0C2B22"/>
                </a:solidFill>
                <a:latin typeface="+mn-lt"/>
              </a:rPr>
              <a:t>Mismo partido, tres lecturas (%)</a:t>
            </a:r>
          </a:p>
        </c:rich>
      </c:tx>
      <c:overlay val="0"/>
    </c:title>
    <c:autoTitleDeleted val="0"/>
    <c:plotArea>
      <c:layout/>
      <c:barChart>
        <c:barDir val="col"/>
        <c:grouping val="clustered"/>
        <c:varyColors val="0"/>
        <c:ser>
          <c:idx val="0"/>
          <c:order val="0"/>
          <c:tx>
            <c:strRef>
              <c:f>Sheet1!$B$1</c:f>
              <c:strCache>
                <c:ptCount val="1"/>
                <c:pt idx="0">
                  <c:v>Bruta (1/cuota)</c:v>
                </c:pt>
              </c:strCache>
            </c:strRef>
          </c:tx>
          <c:spPr>
            <a:solidFill>
              <a:srgbClr val="C9D3CE"/>
            </a:solidFill>
            <a:effectLst/>
          </c:spPr>
          <c:invertIfNegative val="0"/>
          <c:dLbls>
            <c:numFmt formatCode="0.0" sourceLinked="0"/>
            <c:spPr>
              <a:noFill/>
              <a:ln>
                <a:noFill/>
              </a:ln>
              <a:effectLst/>
            </c:spPr>
            <c:txPr>
              <a:bodyPr/>
              <a:lstStyle/>
              <a:p>
                <a:pPr>
                  <a:defRPr sz="1100" b="0" i="0" u="none" strike="noStrike">
                    <a:solidFill>
                      <a:srgbClr val="14211C"/>
                    </a:solidFill>
                    <a:latin typeface="+mn-lt"/>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Favorito (1,40)</c:v>
                </c:pt>
                <c:pt idx="1">
                  <c:v>Empate (4,50)</c:v>
                </c:pt>
                <c:pt idx="2">
                  <c:v>Improbable (8,00)</c:v>
                </c:pt>
              </c:strCache>
            </c:strRef>
          </c:cat>
          <c:val>
            <c:numRef>
              <c:f>Sheet1!$B$2:$B$4</c:f>
              <c:numCache>
                <c:formatCode>General</c:formatCode>
                <c:ptCount val="3"/>
                <c:pt idx="0">
                  <c:v>71.400000000000006</c:v>
                </c:pt>
                <c:pt idx="1">
                  <c:v>22.2</c:v>
                </c:pt>
                <c:pt idx="2">
                  <c:v>12.5</c:v>
                </c:pt>
              </c:numCache>
            </c:numRef>
          </c:val>
          <c:extLst>
            <c:ext xmlns:c16="http://schemas.microsoft.com/office/drawing/2014/chart" uri="{C3380CC4-5D6E-409C-BE32-E72D297353CC}">
              <c16:uniqueId val="{00000000-FF1C-4C4B-AFBB-42410256C2CB}"/>
            </c:ext>
          </c:extLst>
        </c:ser>
        <c:ser>
          <c:idx val="1"/>
          <c:order val="1"/>
          <c:tx>
            <c:strRef>
              <c:f>Sheet1!$C$1</c:f>
              <c:strCache>
                <c:ptCount val="1"/>
                <c:pt idx="0">
                  <c:v>Proporcional</c:v>
                </c:pt>
              </c:strCache>
            </c:strRef>
          </c:tx>
          <c:spPr>
            <a:solidFill>
              <a:srgbClr val="8AA399"/>
            </a:solidFill>
            <a:effectLst/>
          </c:spPr>
          <c:invertIfNegative val="0"/>
          <c:dLbls>
            <c:numFmt formatCode="0.0" sourceLinked="0"/>
            <c:spPr>
              <a:noFill/>
              <a:ln>
                <a:noFill/>
              </a:ln>
              <a:effectLst/>
            </c:spPr>
            <c:txPr>
              <a:bodyPr/>
              <a:lstStyle/>
              <a:p>
                <a:pPr>
                  <a:defRPr sz="1100" b="0" i="0" u="none" strike="noStrike">
                    <a:solidFill>
                      <a:srgbClr val="14211C"/>
                    </a:solidFill>
                    <a:latin typeface="+mn-lt"/>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Favorito (1,40)</c:v>
                </c:pt>
                <c:pt idx="1">
                  <c:v>Empate (4,50)</c:v>
                </c:pt>
                <c:pt idx="2">
                  <c:v>Improbable (8,00)</c:v>
                </c:pt>
              </c:strCache>
            </c:strRef>
          </c:cat>
          <c:val>
            <c:numRef>
              <c:f>Sheet1!$C$2:$C$4</c:f>
              <c:numCache>
                <c:formatCode>General</c:formatCode>
                <c:ptCount val="3"/>
                <c:pt idx="0">
                  <c:v>67.3</c:v>
                </c:pt>
                <c:pt idx="1">
                  <c:v>20.9</c:v>
                </c:pt>
                <c:pt idx="2">
                  <c:v>11.8</c:v>
                </c:pt>
              </c:numCache>
            </c:numRef>
          </c:val>
          <c:extLst>
            <c:ext xmlns:c16="http://schemas.microsoft.com/office/drawing/2014/chart" uri="{C3380CC4-5D6E-409C-BE32-E72D297353CC}">
              <c16:uniqueId val="{00000001-FF1C-4C4B-AFBB-42410256C2CB}"/>
            </c:ext>
          </c:extLst>
        </c:ser>
        <c:ser>
          <c:idx val="2"/>
          <c:order val="2"/>
          <c:tx>
            <c:strRef>
              <c:f>Sheet1!$D$1</c:f>
              <c:strCache>
                <c:ptCount val="1"/>
                <c:pt idx="0">
                  <c:v>Potencia</c:v>
                </c:pt>
              </c:strCache>
            </c:strRef>
          </c:tx>
          <c:spPr>
            <a:solidFill>
              <a:srgbClr val="1F8A5B"/>
            </a:solidFill>
            <a:effectLst/>
          </c:spPr>
          <c:invertIfNegative val="0"/>
          <c:dLbls>
            <c:numFmt formatCode="0.0" sourceLinked="0"/>
            <c:spPr>
              <a:noFill/>
              <a:ln>
                <a:noFill/>
              </a:ln>
              <a:effectLst/>
            </c:spPr>
            <c:txPr>
              <a:bodyPr/>
              <a:lstStyle/>
              <a:p>
                <a:pPr>
                  <a:defRPr sz="1100" b="0" i="0" u="none" strike="noStrike">
                    <a:solidFill>
                      <a:srgbClr val="14211C"/>
                    </a:solidFill>
                    <a:latin typeface="+mn-lt"/>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Favorito (1,40)</c:v>
                </c:pt>
                <c:pt idx="1">
                  <c:v>Empate (4,50)</c:v>
                </c:pt>
                <c:pt idx="2">
                  <c:v>Improbable (8,00)</c:v>
                </c:pt>
              </c:strCache>
            </c:strRef>
          </c:cat>
          <c:val>
            <c:numRef>
              <c:f>Sheet1!$D$2:$D$4</c:f>
              <c:numCache>
                <c:formatCode>General</c:formatCode>
                <c:ptCount val="3"/>
                <c:pt idx="0">
                  <c:v>69.599999999999994</c:v>
                </c:pt>
                <c:pt idx="1">
                  <c:v>19.8</c:v>
                </c:pt>
                <c:pt idx="2">
                  <c:v>10.6</c:v>
                </c:pt>
              </c:numCache>
            </c:numRef>
          </c:val>
          <c:extLst>
            <c:ext xmlns:c16="http://schemas.microsoft.com/office/drawing/2014/chart" uri="{C3380CC4-5D6E-409C-BE32-E72D297353CC}">
              <c16:uniqueId val="{00000002-FF1C-4C4B-AFBB-42410256C2CB}"/>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F68"/>
                </a:solidFill>
                <a:latin typeface="+mn-lt"/>
              </a:defRPr>
            </a:pPr>
            <a:endParaRPr lang="en-US"/>
          </a:p>
        </c:txPr>
        <c:crossAx val="2094734552"/>
        <c:crosses val="autoZero"/>
        <c:auto val="1"/>
        <c:lblAlgn val="ctr"/>
        <c:lblOffset val="100"/>
        <c:noMultiLvlLbl val="1"/>
      </c:catAx>
      <c:valAx>
        <c:axId val="2094734552"/>
        <c:scaling>
          <c:orientation val="minMax"/>
          <c:max val="80"/>
          <c:min val="0"/>
        </c:scaling>
        <c:delete val="0"/>
        <c:axPos val="l"/>
        <c:majorGridlines>
          <c:spPr>
            <a:ln w="9525" cap="flat">
              <a:solidFill>
                <a:srgbClr val="DCE3D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F68"/>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4211C"/>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400" b="0" i="0" u="none" strike="noStrike">
                <a:solidFill>
                  <a:srgbClr val="0C2B22"/>
                </a:solidFill>
                <a:latin typeface="+mn-lt"/>
              </a:defRPr>
            </a:pPr>
            <a:r>
              <a:rPr lang="es-ES" sz="1400" b="0" i="0" u="none" strike="noStrike">
                <a:solidFill>
                  <a:srgbClr val="0C2B22"/>
                </a:solidFill>
                <a:latin typeface="+mn-lt"/>
              </a:rPr>
              <a:t>Probabilidad pronosticada vs frecuencia observada · Bet365, potencia</a:t>
            </a:r>
          </a:p>
        </c:rich>
      </c:tx>
      <c:overlay val="0"/>
    </c:title>
    <c:autoTitleDeleted val="0"/>
    <c:plotArea>
      <c:layout/>
      <c:scatterChart>
        <c:scatterStyle val="lineMarker"/>
        <c:varyColors val="0"/>
        <c:ser>
          <c:idx val="0"/>
          <c:order val="0"/>
          <c:tx>
            <c:strRef>
              <c:f>Sheet1!$B$1</c:f>
              <c:strCache>
                <c:ptCount val="1"/>
                <c:pt idx="0">
                  <c:v>Calibración perfecta</c:v>
                </c:pt>
              </c:strCache>
            </c:strRef>
          </c:tx>
          <c:spPr>
            <a:ln>
              <a:noFill/>
            </a:ln>
            <a:effectLst/>
          </c:spPr>
          <c:marker>
            <c:symbol val="circle"/>
            <c:size val="8"/>
            <c:spPr>
              <a:solidFill>
                <a:srgbClr val="B8C4BE"/>
              </a:solidFill>
              <a:ln w="9525" cap="flat">
                <a:solidFill>
                  <a:srgbClr val="B8C4BE"/>
                </a:solidFill>
                <a:prstDash val="solid"/>
                <a:round/>
              </a:ln>
              <a:effectLst/>
            </c:spPr>
          </c:marker>
          <c:xVal>
            <c:numRef>
              <c:f>Sheet1!$A$2:$A$79</c:f>
              <c:numCache>
                <c:formatCode>General</c:formatCode>
                <c:ptCount val="78"/>
                <c:pt idx="0">
                  <c:v>0.127</c:v>
                </c:pt>
                <c:pt idx="1">
                  <c:v>0.219</c:v>
                </c:pt>
                <c:pt idx="2">
                  <c:v>0.28899999999999998</c:v>
                </c:pt>
                <c:pt idx="3">
                  <c:v>0.34799999999999998</c:v>
                </c:pt>
                <c:pt idx="4">
                  <c:v>0.40799999999999997</c:v>
                </c:pt>
                <c:pt idx="5">
                  <c:v>0.47</c:v>
                </c:pt>
                <c:pt idx="6">
                  <c:v>0.53700000000000003</c:v>
                </c:pt>
                <c:pt idx="7">
                  <c:v>0.60599999999999998</c:v>
                </c:pt>
                <c:pt idx="8">
                  <c:v>0.69099999999999995</c:v>
                </c:pt>
                <c:pt idx="9">
                  <c:v>0.81599999999999995</c:v>
                </c:pt>
                <c:pt idx="10">
                  <c:v>0.113</c:v>
                </c:pt>
                <c:pt idx="11">
                  <c:v>0.16500000000000001</c:v>
                </c:pt>
                <c:pt idx="12">
                  <c:v>0.19900000000000001</c:v>
                </c:pt>
                <c:pt idx="13">
                  <c:v>0.22</c:v>
                </c:pt>
                <c:pt idx="14">
                  <c:v>0.23400000000000001</c:v>
                </c:pt>
                <c:pt idx="15">
                  <c:v>0.246</c:v>
                </c:pt>
                <c:pt idx="16">
                  <c:v>0.25600000000000001</c:v>
                </c:pt>
                <c:pt idx="17">
                  <c:v>0.26500000000000001</c:v>
                </c:pt>
                <c:pt idx="18">
                  <c:v>0.27600000000000002</c:v>
                </c:pt>
                <c:pt idx="19">
                  <c:v>0.29299999999999998</c:v>
                </c:pt>
                <c:pt idx="20">
                  <c:v>6.6000000000000003E-2</c:v>
                </c:pt>
                <c:pt idx="21">
                  <c:v>0.126</c:v>
                </c:pt>
                <c:pt idx="22">
                  <c:v>0.17199999999999999</c:v>
                </c:pt>
                <c:pt idx="23">
                  <c:v>0.217</c:v>
                </c:pt>
                <c:pt idx="24">
                  <c:v>0.26800000000000002</c:v>
                </c:pt>
                <c:pt idx="25">
                  <c:v>0.31900000000000001</c:v>
                </c:pt>
                <c:pt idx="26">
                  <c:v>0.378</c:v>
                </c:pt>
                <c:pt idx="27">
                  <c:v>0.44800000000000001</c:v>
                </c:pt>
                <c:pt idx="28">
                  <c:v>0.54100000000000004</c:v>
                </c:pt>
                <c:pt idx="29">
                  <c:v>0.68899999999999995</c:v>
                </c:pt>
                <c:pt idx="30">
                  <c:v>0.16300000000000001</c:v>
                </c:pt>
                <c:pt idx="31">
                  <c:v>0.25700000000000001</c:v>
                </c:pt>
                <c:pt idx="32">
                  <c:v>0.316</c:v>
                </c:pt>
                <c:pt idx="33">
                  <c:v>0.36899999999999999</c:v>
                </c:pt>
                <c:pt idx="34">
                  <c:v>0.41699999999999998</c:v>
                </c:pt>
                <c:pt idx="35">
                  <c:v>0.46700000000000003</c:v>
                </c:pt>
                <c:pt idx="36">
                  <c:v>0.52100000000000002</c:v>
                </c:pt>
                <c:pt idx="37">
                  <c:v>0.57899999999999996</c:v>
                </c:pt>
                <c:pt idx="38">
                  <c:v>0.66100000000000003</c:v>
                </c:pt>
                <c:pt idx="39">
                  <c:v>0.78200000000000003</c:v>
                </c:pt>
                <c:pt idx="40">
                  <c:v>0.13600000000000001</c:v>
                </c:pt>
                <c:pt idx="41">
                  <c:v>0.19500000000000001</c:v>
                </c:pt>
                <c:pt idx="42">
                  <c:v>0.23100000000000001</c:v>
                </c:pt>
                <c:pt idx="43">
                  <c:v>0.249</c:v>
                </c:pt>
                <c:pt idx="44">
                  <c:v>0.26300000000000001</c:v>
                </c:pt>
                <c:pt idx="45">
                  <c:v>0.27600000000000002</c:v>
                </c:pt>
                <c:pt idx="46">
                  <c:v>0.28699999999999998</c:v>
                </c:pt>
                <c:pt idx="47">
                  <c:v>0.29699999999999999</c:v>
                </c:pt>
                <c:pt idx="48">
                  <c:v>0.309</c:v>
                </c:pt>
                <c:pt idx="49">
                  <c:v>0.33</c:v>
                </c:pt>
                <c:pt idx="50">
                  <c:v>7.5999999999999998E-2</c:v>
                </c:pt>
                <c:pt idx="51">
                  <c:v>0.13</c:v>
                </c:pt>
                <c:pt idx="52">
                  <c:v>0.17100000000000001</c:v>
                </c:pt>
                <c:pt idx="53">
                  <c:v>0.20699999999999999</c:v>
                </c:pt>
                <c:pt idx="54">
                  <c:v>0.24299999999999999</c:v>
                </c:pt>
                <c:pt idx="55">
                  <c:v>0.28199999999999997</c:v>
                </c:pt>
                <c:pt idx="56">
                  <c:v>0.32600000000000001</c:v>
                </c:pt>
                <c:pt idx="57">
                  <c:v>0.38600000000000001</c:v>
                </c:pt>
                <c:pt idx="58">
                  <c:v>0.46300000000000002</c:v>
                </c:pt>
                <c:pt idx="59">
                  <c:v>0.61299999999999999</c:v>
                </c:pt>
                <c:pt idx="60">
                  <c:v>0</c:v>
                </c:pt>
                <c:pt idx="61">
                  <c:v>0.05</c:v>
                </c:pt>
                <c:pt idx="62">
                  <c:v>0.1</c:v>
                </c:pt>
                <c:pt idx="63">
                  <c:v>0.15000000000000002</c:v>
                </c:pt>
                <c:pt idx="64">
                  <c:v>0.2</c:v>
                </c:pt>
                <c:pt idx="65">
                  <c:v>0.25</c:v>
                </c:pt>
                <c:pt idx="66">
                  <c:v>0.30000000000000004</c:v>
                </c:pt>
                <c:pt idx="67">
                  <c:v>0.35000000000000003</c:v>
                </c:pt>
                <c:pt idx="68">
                  <c:v>0.4</c:v>
                </c:pt>
                <c:pt idx="69">
                  <c:v>0.45</c:v>
                </c:pt>
                <c:pt idx="70">
                  <c:v>0.5</c:v>
                </c:pt>
                <c:pt idx="71">
                  <c:v>0.55000000000000004</c:v>
                </c:pt>
                <c:pt idx="72">
                  <c:v>0.60000000000000009</c:v>
                </c:pt>
                <c:pt idx="73">
                  <c:v>0.65</c:v>
                </c:pt>
                <c:pt idx="74">
                  <c:v>0.70000000000000007</c:v>
                </c:pt>
                <c:pt idx="75">
                  <c:v>0.75</c:v>
                </c:pt>
                <c:pt idx="76">
                  <c:v>0.8</c:v>
                </c:pt>
                <c:pt idx="77">
                  <c:v>0.85000000000000009</c:v>
                </c:pt>
              </c:numCache>
            </c:numRef>
          </c:xVal>
          <c:yVal>
            <c:numRef>
              <c:f>Sheet1!$B$2:$B$79</c:f>
              <c:numCache>
                <c:formatCode>General</c:formatCode>
                <c:ptCount val="78"/>
                <c:pt idx="60">
                  <c:v>0</c:v>
                </c:pt>
                <c:pt idx="61">
                  <c:v>0.05</c:v>
                </c:pt>
                <c:pt idx="62">
                  <c:v>0.1</c:v>
                </c:pt>
                <c:pt idx="63">
                  <c:v>0.15000000000000002</c:v>
                </c:pt>
                <c:pt idx="64">
                  <c:v>0.2</c:v>
                </c:pt>
                <c:pt idx="65">
                  <c:v>0.25</c:v>
                </c:pt>
                <c:pt idx="66">
                  <c:v>0.30000000000000004</c:v>
                </c:pt>
                <c:pt idx="67">
                  <c:v>0.35000000000000003</c:v>
                </c:pt>
                <c:pt idx="68">
                  <c:v>0.4</c:v>
                </c:pt>
                <c:pt idx="69">
                  <c:v>0.45</c:v>
                </c:pt>
                <c:pt idx="70">
                  <c:v>0.5</c:v>
                </c:pt>
                <c:pt idx="71">
                  <c:v>0.55000000000000004</c:v>
                </c:pt>
                <c:pt idx="72">
                  <c:v>0.60000000000000009</c:v>
                </c:pt>
                <c:pt idx="73">
                  <c:v>0.65</c:v>
                </c:pt>
                <c:pt idx="74">
                  <c:v>0.70000000000000007</c:v>
                </c:pt>
                <c:pt idx="75">
                  <c:v>0.75</c:v>
                </c:pt>
                <c:pt idx="76">
                  <c:v>0.8</c:v>
                </c:pt>
                <c:pt idx="77">
                  <c:v>0.85000000000000009</c:v>
                </c:pt>
              </c:numCache>
            </c:numRef>
          </c:yVal>
          <c:smooth val="0"/>
          <c:extLst>
            <c:ext xmlns:c16="http://schemas.microsoft.com/office/drawing/2014/chart" uri="{C3380CC4-5D6E-409C-BE32-E72D297353CC}">
              <c16:uniqueId val="{00000000-BDA3-4F4D-A489-12160B7D2742}"/>
            </c:ext>
          </c:extLst>
        </c:ser>
        <c:ser>
          <c:idx val="1"/>
          <c:order val="1"/>
          <c:tx>
            <c:strRef>
              <c:f>Sheet1!$C$1</c:f>
              <c:strCache>
                <c:ptCount val="1"/>
                <c:pt idx="0">
                  <c:v>Premier League</c:v>
                </c:pt>
              </c:strCache>
            </c:strRef>
          </c:tx>
          <c:spPr>
            <a:ln>
              <a:noFill/>
            </a:ln>
            <a:effectLst/>
          </c:spPr>
          <c:marker>
            <c:symbol val="circle"/>
            <c:size val="8"/>
            <c:spPr>
              <a:solidFill>
                <a:srgbClr val="2F6FB2"/>
              </a:solidFill>
              <a:ln w="9525" cap="flat">
                <a:solidFill>
                  <a:srgbClr val="2F6FB2"/>
                </a:solidFill>
                <a:prstDash val="solid"/>
                <a:round/>
              </a:ln>
              <a:effectLst/>
            </c:spPr>
          </c:marker>
          <c:xVal>
            <c:numRef>
              <c:f>Sheet1!$A$2:$A$79</c:f>
              <c:numCache>
                <c:formatCode>General</c:formatCode>
                <c:ptCount val="78"/>
                <c:pt idx="0">
                  <c:v>0.127</c:v>
                </c:pt>
                <c:pt idx="1">
                  <c:v>0.219</c:v>
                </c:pt>
                <c:pt idx="2">
                  <c:v>0.28899999999999998</c:v>
                </c:pt>
                <c:pt idx="3">
                  <c:v>0.34799999999999998</c:v>
                </c:pt>
                <c:pt idx="4">
                  <c:v>0.40799999999999997</c:v>
                </c:pt>
                <c:pt idx="5">
                  <c:v>0.47</c:v>
                </c:pt>
                <c:pt idx="6">
                  <c:v>0.53700000000000003</c:v>
                </c:pt>
                <c:pt idx="7">
                  <c:v>0.60599999999999998</c:v>
                </c:pt>
                <c:pt idx="8">
                  <c:v>0.69099999999999995</c:v>
                </c:pt>
                <c:pt idx="9">
                  <c:v>0.81599999999999995</c:v>
                </c:pt>
                <c:pt idx="10">
                  <c:v>0.113</c:v>
                </c:pt>
                <c:pt idx="11">
                  <c:v>0.16500000000000001</c:v>
                </c:pt>
                <c:pt idx="12">
                  <c:v>0.19900000000000001</c:v>
                </c:pt>
                <c:pt idx="13">
                  <c:v>0.22</c:v>
                </c:pt>
                <c:pt idx="14">
                  <c:v>0.23400000000000001</c:v>
                </c:pt>
                <c:pt idx="15">
                  <c:v>0.246</c:v>
                </c:pt>
                <c:pt idx="16">
                  <c:v>0.25600000000000001</c:v>
                </c:pt>
                <c:pt idx="17">
                  <c:v>0.26500000000000001</c:v>
                </c:pt>
                <c:pt idx="18">
                  <c:v>0.27600000000000002</c:v>
                </c:pt>
                <c:pt idx="19">
                  <c:v>0.29299999999999998</c:v>
                </c:pt>
                <c:pt idx="20">
                  <c:v>6.6000000000000003E-2</c:v>
                </c:pt>
                <c:pt idx="21">
                  <c:v>0.126</c:v>
                </c:pt>
                <c:pt idx="22">
                  <c:v>0.17199999999999999</c:v>
                </c:pt>
                <c:pt idx="23">
                  <c:v>0.217</c:v>
                </c:pt>
                <c:pt idx="24">
                  <c:v>0.26800000000000002</c:v>
                </c:pt>
                <c:pt idx="25">
                  <c:v>0.31900000000000001</c:v>
                </c:pt>
                <c:pt idx="26">
                  <c:v>0.378</c:v>
                </c:pt>
                <c:pt idx="27">
                  <c:v>0.44800000000000001</c:v>
                </c:pt>
                <c:pt idx="28">
                  <c:v>0.54100000000000004</c:v>
                </c:pt>
                <c:pt idx="29">
                  <c:v>0.68899999999999995</c:v>
                </c:pt>
                <c:pt idx="30">
                  <c:v>0.16300000000000001</c:v>
                </c:pt>
                <c:pt idx="31">
                  <c:v>0.25700000000000001</c:v>
                </c:pt>
                <c:pt idx="32">
                  <c:v>0.316</c:v>
                </c:pt>
                <c:pt idx="33">
                  <c:v>0.36899999999999999</c:v>
                </c:pt>
                <c:pt idx="34">
                  <c:v>0.41699999999999998</c:v>
                </c:pt>
                <c:pt idx="35">
                  <c:v>0.46700000000000003</c:v>
                </c:pt>
                <c:pt idx="36">
                  <c:v>0.52100000000000002</c:v>
                </c:pt>
                <c:pt idx="37">
                  <c:v>0.57899999999999996</c:v>
                </c:pt>
                <c:pt idx="38">
                  <c:v>0.66100000000000003</c:v>
                </c:pt>
                <c:pt idx="39">
                  <c:v>0.78200000000000003</c:v>
                </c:pt>
                <c:pt idx="40">
                  <c:v>0.13600000000000001</c:v>
                </c:pt>
                <c:pt idx="41">
                  <c:v>0.19500000000000001</c:v>
                </c:pt>
                <c:pt idx="42">
                  <c:v>0.23100000000000001</c:v>
                </c:pt>
                <c:pt idx="43">
                  <c:v>0.249</c:v>
                </c:pt>
                <c:pt idx="44">
                  <c:v>0.26300000000000001</c:v>
                </c:pt>
                <c:pt idx="45">
                  <c:v>0.27600000000000002</c:v>
                </c:pt>
                <c:pt idx="46">
                  <c:v>0.28699999999999998</c:v>
                </c:pt>
                <c:pt idx="47">
                  <c:v>0.29699999999999999</c:v>
                </c:pt>
                <c:pt idx="48">
                  <c:v>0.309</c:v>
                </c:pt>
                <c:pt idx="49">
                  <c:v>0.33</c:v>
                </c:pt>
                <c:pt idx="50">
                  <c:v>7.5999999999999998E-2</c:v>
                </c:pt>
                <c:pt idx="51">
                  <c:v>0.13</c:v>
                </c:pt>
                <c:pt idx="52">
                  <c:v>0.17100000000000001</c:v>
                </c:pt>
                <c:pt idx="53">
                  <c:v>0.20699999999999999</c:v>
                </c:pt>
                <c:pt idx="54">
                  <c:v>0.24299999999999999</c:v>
                </c:pt>
                <c:pt idx="55">
                  <c:v>0.28199999999999997</c:v>
                </c:pt>
                <c:pt idx="56">
                  <c:v>0.32600000000000001</c:v>
                </c:pt>
                <c:pt idx="57">
                  <c:v>0.38600000000000001</c:v>
                </c:pt>
                <c:pt idx="58">
                  <c:v>0.46300000000000002</c:v>
                </c:pt>
                <c:pt idx="59">
                  <c:v>0.61299999999999999</c:v>
                </c:pt>
                <c:pt idx="60">
                  <c:v>0</c:v>
                </c:pt>
                <c:pt idx="61">
                  <c:v>0.05</c:v>
                </c:pt>
                <c:pt idx="62">
                  <c:v>0.1</c:v>
                </c:pt>
                <c:pt idx="63">
                  <c:v>0.15000000000000002</c:v>
                </c:pt>
                <c:pt idx="64">
                  <c:v>0.2</c:v>
                </c:pt>
                <c:pt idx="65">
                  <c:v>0.25</c:v>
                </c:pt>
                <c:pt idx="66">
                  <c:v>0.30000000000000004</c:v>
                </c:pt>
                <c:pt idx="67">
                  <c:v>0.35000000000000003</c:v>
                </c:pt>
                <c:pt idx="68">
                  <c:v>0.4</c:v>
                </c:pt>
                <c:pt idx="69">
                  <c:v>0.45</c:v>
                </c:pt>
                <c:pt idx="70">
                  <c:v>0.5</c:v>
                </c:pt>
                <c:pt idx="71">
                  <c:v>0.55000000000000004</c:v>
                </c:pt>
                <c:pt idx="72">
                  <c:v>0.60000000000000009</c:v>
                </c:pt>
                <c:pt idx="73">
                  <c:v>0.65</c:v>
                </c:pt>
                <c:pt idx="74">
                  <c:v>0.70000000000000007</c:v>
                </c:pt>
                <c:pt idx="75">
                  <c:v>0.75</c:v>
                </c:pt>
                <c:pt idx="76">
                  <c:v>0.8</c:v>
                </c:pt>
                <c:pt idx="77">
                  <c:v>0.85000000000000009</c:v>
                </c:pt>
              </c:numCache>
            </c:numRef>
          </c:xVal>
          <c:yVal>
            <c:numRef>
              <c:f>Sheet1!$C$2:$C$79</c:f>
              <c:numCache>
                <c:formatCode>General</c:formatCode>
                <c:ptCount val="78"/>
                <c:pt idx="0">
                  <c:v>0.13</c:v>
                </c:pt>
                <c:pt idx="1">
                  <c:v>0.21199999999999999</c:v>
                </c:pt>
                <c:pt idx="2">
                  <c:v>0.26100000000000001</c:v>
                </c:pt>
                <c:pt idx="3">
                  <c:v>0.35399999999999998</c:v>
                </c:pt>
                <c:pt idx="4">
                  <c:v>0.39500000000000002</c:v>
                </c:pt>
                <c:pt idx="5">
                  <c:v>0.42099999999999999</c:v>
                </c:pt>
                <c:pt idx="6">
                  <c:v>0.63200000000000001</c:v>
                </c:pt>
                <c:pt idx="7">
                  <c:v>0.64300000000000002</c:v>
                </c:pt>
                <c:pt idx="8">
                  <c:v>0.67300000000000004</c:v>
                </c:pt>
                <c:pt idx="9">
                  <c:v>0.78900000000000003</c:v>
                </c:pt>
                <c:pt idx="10">
                  <c:v>0.123</c:v>
                </c:pt>
                <c:pt idx="11">
                  <c:v>0.158</c:v>
                </c:pt>
                <c:pt idx="12">
                  <c:v>0.246</c:v>
                </c:pt>
                <c:pt idx="13">
                  <c:v>0.24299999999999999</c:v>
                </c:pt>
                <c:pt idx="14">
                  <c:v>0.21199999999999999</c:v>
                </c:pt>
                <c:pt idx="15">
                  <c:v>0.21099999999999999</c:v>
                </c:pt>
                <c:pt idx="16">
                  <c:v>0.28699999999999998</c:v>
                </c:pt>
                <c:pt idx="17">
                  <c:v>0.23899999999999999</c:v>
                </c:pt>
                <c:pt idx="18">
                  <c:v>0.29799999999999999</c:v>
                </c:pt>
                <c:pt idx="19">
                  <c:v>0.28100000000000003</c:v>
                </c:pt>
                <c:pt idx="20">
                  <c:v>7.9000000000000001E-2</c:v>
                </c:pt>
                <c:pt idx="21">
                  <c:v>9.6000000000000002E-2</c:v>
                </c:pt>
                <c:pt idx="22">
                  <c:v>0.158</c:v>
                </c:pt>
                <c:pt idx="23">
                  <c:v>0.2</c:v>
                </c:pt>
                <c:pt idx="24">
                  <c:v>0.221</c:v>
                </c:pt>
                <c:pt idx="25">
                  <c:v>0.377</c:v>
                </c:pt>
                <c:pt idx="26">
                  <c:v>0.34799999999999998</c:v>
                </c:pt>
                <c:pt idx="27">
                  <c:v>0.46899999999999997</c:v>
                </c:pt>
                <c:pt idx="28">
                  <c:v>0.56100000000000005</c:v>
                </c:pt>
                <c:pt idx="29">
                  <c:v>0.68400000000000005</c:v>
                </c:pt>
              </c:numCache>
            </c:numRef>
          </c:yVal>
          <c:smooth val="0"/>
          <c:extLst>
            <c:ext xmlns:c16="http://schemas.microsoft.com/office/drawing/2014/chart" uri="{C3380CC4-5D6E-409C-BE32-E72D297353CC}">
              <c16:uniqueId val="{00000001-BDA3-4F4D-A489-12160B7D2742}"/>
            </c:ext>
          </c:extLst>
        </c:ser>
        <c:ser>
          <c:idx val="2"/>
          <c:order val="2"/>
          <c:tx>
            <c:strRef>
              <c:f>Sheet1!$D$1</c:f>
              <c:strCache>
                <c:ptCount val="1"/>
                <c:pt idx="0">
                  <c:v>LaLiga</c:v>
                </c:pt>
              </c:strCache>
            </c:strRef>
          </c:tx>
          <c:spPr>
            <a:ln>
              <a:noFill/>
            </a:ln>
            <a:effectLst/>
          </c:spPr>
          <c:marker>
            <c:symbol val="circle"/>
            <c:size val="8"/>
            <c:spPr>
              <a:solidFill>
                <a:srgbClr val="E07A1F"/>
              </a:solidFill>
              <a:ln w="9525" cap="flat">
                <a:solidFill>
                  <a:srgbClr val="E07A1F"/>
                </a:solidFill>
                <a:prstDash val="solid"/>
                <a:round/>
              </a:ln>
              <a:effectLst/>
            </c:spPr>
          </c:marker>
          <c:xVal>
            <c:numRef>
              <c:f>Sheet1!$A$2:$A$79</c:f>
              <c:numCache>
                <c:formatCode>General</c:formatCode>
                <c:ptCount val="78"/>
                <c:pt idx="0">
                  <c:v>0.127</c:v>
                </c:pt>
                <c:pt idx="1">
                  <c:v>0.219</c:v>
                </c:pt>
                <c:pt idx="2">
                  <c:v>0.28899999999999998</c:v>
                </c:pt>
                <c:pt idx="3">
                  <c:v>0.34799999999999998</c:v>
                </c:pt>
                <c:pt idx="4">
                  <c:v>0.40799999999999997</c:v>
                </c:pt>
                <c:pt idx="5">
                  <c:v>0.47</c:v>
                </c:pt>
                <c:pt idx="6">
                  <c:v>0.53700000000000003</c:v>
                </c:pt>
                <c:pt idx="7">
                  <c:v>0.60599999999999998</c:v>
                </c:pt>
                <c:pt idx="8">
                  <c:v>0.69099999999999995</c:v>
                </c:pt>
                <c:pt idx="9">
                  <c:v>0.81599999999999995</c:v>
                </c:pt>
                <c:pt idx="10">
                  <c:v>0.113</c:v>
                </c:pt>
                <c:pt idx="11">
                  <c:v>0.16500000000000001</c:v>
                </c:pt>
                <c:pt idx="12">
                  <c:v>0.19900000000000001</c:v>
                </c:pt>
                <c:pt idx="13">
                  <c:v>0.22</c:v>
                </c:pt>
                <c:pt idx="14">
                  <c:v>0.23400000000000001</c:v>
                </c:pt>
                <c:pt idx="15">
                  <c:v>0.246</c:v>
                </c:pt>
                <c:pt idx="16">
                  <c:v>0.25600000000000001</c:v>
                </c:pt>
                <c:pt idx="17">
                  <c:v>0.26500000000000001</c:v>
                </c:pt>
                <c:pt idx="18">
                  <c:v>0.27600000000000002</c:v>
                </c:pt>
                <c:pt idx="19">
                  <c:v>0.29299999999999998</c:v>
                </c:pt>
                <c:pt idx="20">
                  <c:v>6.6000000000000003E-2</c:v>
                </c:pt>
                <c:pt idx="21">
                  <c:v>0.126</c:v>
                </c:pt>
                <c:pt idx="22">
                  <c:v>0.17199999999999999</c:v>
                </c:pt>
                <c:pt idx="23">
                  <c:v>0.217</c:v>
                </c:pt>
                <c:pt idx="24">
                  <c:v>0.26800000000000002</c:v>
                </c:pt>
                <c:pt idx="25">
                  <c:v>0.31900000000000001</c:v>
                </c:pt>
                <c:pt idx="26">
                  <c:v>0.378</c:v>
                </c:pt>
                <c:pt idx="27">
                  <c:v>0.44800000000000001</c:v>
                </c:pt>
                <c:pt idx="28">
                  <c:v>0.54100000000000004</c:v>
                </c:pt>
                <c:pt idx="29">
                  <c:v>0.68899999999999995</c:v>
                </c:pt>
                <c:pt idx="30">
                  <c:v>0.16300000000000001</c:v>
                </c:pt>
                <c:pt idx="31">
                  <c:v>0.25700000000000001</c:v>
                </c:pt>
                <c:pt idx="32">
                  <c:v>0.316</c:v>
                </c:pt>
                <c:pt idx="33">
                  <c:v>0.36899999999999999</c:v>
                </c:pt>
                <c:pt idx="34">
                  <c:v>0.41699999999999998</c:v>
                </c:pt>
                <c:pt idx="35">
                  <c:v>0.46700000000000003</c:v>
                </c:pt>
                <c:pt idx="36">
                  <c:v>0.52100000000000002</c:v>
                </c:pt>
                <c:pt idx="37">
                  <c:v>0.57899999999999996</c:v>
                </c:pt>
                <c:pt idx="38">
                  <c:v>0.66100000000000003</c:v>
                </c:pt>
                <c:pt idx="39">
                  <c:v>0.78200000000000003</c:v>
                </c:pt>
                <c:pt idx="40">
                  <c:v>0.13600000000000001</c:v>
                </c:pt>
                <c:pt idx="41">
                  <c:v>0.19500000000000001</c:v>
                </c:pt>
                <c:pt idx="42">
                  <c:v>0.23100000000000001</c:v>
                </c:pt>
                <c:pt idx="43">
                  <c:v>0.249</c:v>
                </c:pt>
                <c:pt idx="44">
                  <c:v>0.26300000000000001</c:v>
                </c:pt>
                <c:pt idx="45">
                  <c:v>0.27600000000000002</c:v>
                </c:pt>
                <c:pt idx="46">
                  <c:v>0.28699999999999998</c:v>
                </c:pt>
                <c:pt idx="47">
                  <c:v>0.29699999999999999</c:v>
                </c:pt>
                <c:pt idx="48">
                  <c:v>0.309</c:v>
                </c:pt>
                <c:pt idx="49">
                  <c:v>0.33</c:v>
                </c:pt>
                <c:pt idx="50">
                  <c:v>7.5999999999999998E-2</c:v>
                </c:pt>
                <c:pt idx="51">
                  <c:v>0.13</c:v>
                </c:pt>
                <c:pt idx="52">
                  <c:v>0.17100000000000001</c:v>
                </c:pt>
                <c:pt idx="53">
                  <c:v>0.20699999999999999</c:v>
                </c:pt>
                <c:pt idx="54">
                  <c:v>0.24299999999999999</c:v>
                </c:pt>
                <c:pt idx="55">
                  <c:v>0.28199999999999997</c:v>
                </c:pt>
                <c:pt idx="56">
                  <c:v>0.32600000000000001</c:v>
                </c:pt>
                <c:pt idx="57">
                  <c:v>0.38600000000000001</c:v>
                </c:pt>
                <c:pt idx="58">
                  <c:v>0.46300000000000002</c:v>
                </c:pt>
                <c:pt idx="59">
                  <c:v>0.61299999999999999</c:v>
                </c:pt>
                <c:pt idx="60">
                  <c:v>0</c:v>
                </c:pt>
                <c:pt idx="61">
                  <c:v>0.05</c:v>
                </c:pt>
                <c:pt idx="62">
                  <c:v>0.1</c:v>
                </c:pt>
                <c:pt idx="63">
                  <c:v>0.15000000000000002</c:v>
                </c:pt>
                <c:pt idx="64">
                  <c:v>0.2</c:v>
                </c:pt>
                <c:pt idx="65">
                  <c:v>0.25</c:v>
                </c:pt>
                <c:pt idx="66">
                  <c:v>0.30000000000000004</c:v>
                </c:pt>
                <c:pt idx="67">
                  <c:v>0.35000000000000003</c:v>
                </c:pt>
                <c:pt idx="68">
                  <c:v>0.4</c:v>
                </c:pt>
                <c:pt idx="69">
                  <c:v>0.45</c:v>
                </c:pt>
                <c:pt idx="70">
                  <c:v>0.5</c:v>
                </c:pt>
                <c:pt idx="71">
                  <c:v>0.55000000000000004</c:v>
                </c:pt>
                <c:pt idx="72">
                  <c:v>0.60000000000000009</c:v>
                </c:pt>
                <c:pt idx="73">
                  <c:v>0.65</c:v>
                </c:pt>
                <c:pt idx="74">
                  <c:v>0.70000000000000007</c:v>
                </c:pt>
                <c:pt idx="75">
                  <c:v>0.75</c:v>
                </c:pt>
                <c:pt idx="76">
                  <c:v>0.8</c:v>
                </c:pt>
                <c:pt idx="77">
                  <c:v>0.85000000000000009</c:v>
                </c:pt>
              </c:numCache>
            </c:numRef>
          </c:xVal>
          <c:yVal>
            <c:numRef>
              <c:f>Sheet1!$D$2:$D$79</c:f>
              <c:numCache>
                <c:formatCode>General</c:formatCode>
                <c:ptCount val="78"/>
                <c:pt idx="30">
                  <c:v>0.14899999999999999</c:v>
                </c:pt>
                <c:pt idx="31">
                  <c:v>0.20899999999999999</c:v>
                </c:pt>
                <c:pt idx="32">
                  <c:v>0.307</c:v>
                </c:pt>
                <c:pt idx="33">
                  <c:v>0.36299999999999999</c:v>
                </c:pt>
                <c:pt idx="34">
                  <c:v>0.439</c:v>
                </c:pt>
                <c:pt idx="35">
                  <c:v>0.43</c:v>
                </c:pt>
                <c:pt idx="36">
                  <c:v>0.52200000000000002</c:v>
                </c:pt>
                <c:pt idx="37">
                  <c:v>0.60199999999999998</c:v>
                </c:pt>
                <c:pt idx="38">
                  <c:v>0.68700000000000006</c:v>
                </c:pt>
                <c:pt idx="39">
                  <c:v>0.84099999999999997</c:v>
                </c:pt>
                <c:pt idx="40">
                  <c:v>0.114</c:v>
                </c:pt>
                <c:pt idx="41">
                  <c:v>0.155</c:v>
                </c:pt>
                <c:pt idx="42">
                  <c:v>0.28699999999999998</c:v>
                </c:pt>
                <c:pt idx="43">
                  <c:v>0.24299999999999999</c:v>
                </c:pt>
                <c:pt idx="44">
                  <c:v>0.254</c:v>
                </c:pt>
                <c:pt idx="45">
                  <c:v>0.307</c:v>
                </c:pt>
                <c:pt idx="46">
                  <c:v>0.29799999999999999</c:v>
                </c:pt>
                <c:pt idx="47">
                  <c:v>0.34200000000000003</c:v>
                </c:pt>
                <c:pt idx="48">
                  <c:v>0.27800000000000002</c:v>
                </c:pt>
                <c:pt idx="49">
                  <c:v>0.29199999999999998</c:v>
                </c:pt>
                <c:pt idx="50">
                  <c:v>4.3999999999999997E-2</c:v>
                </c:pt>
                <c:pt idx="51">
                  <c:v>0.105</c:v>
                </c:pt>
                <c:pt idx="52">
                  <c:v>0.184</c:v>
                </c:pt>
                <c:pt idx="53">
                  <c:v>0.193</c:v>
                </c:pt>
                <c:pt idx="54">
                  <c:v>0.193</c:v>
                </c:pt>
                <c:pt idx="55">
                  <c:v>0.254</c:v>
                </c:pt>
                <c:pt idx="56">
                  <c:v>0.28899999999999998</c:v>
                </c:pt>
                <c:pt idx="57">
                  <c:v>0.45600000000000002</c:v>
                </c:pt>
                <c:pt idx="58">
                  <c:v>0.55300000000000005</c:v>
                </c:pt>
                <c:pt idx="59">
                  <c:v>0.61399999999999999</c:v>
                </c:pt>
              </c:numCache>
            </c:numRef>
          </c:yVal>
          <c:smooth val="0"/>
          <c:extLst>
            <c:ext xmlns:c16="http://schemas.microsoft.com/office/drawing/2014/chart" uri="{C3380CC4-5D6E-409C-BE32-E72D297353CC}">
              <c16:uniqueId val="{00000002-BDA3-4F4D-A489-12160B7D2742}"/>
            </c:ext>
          </c:extLst>
        </c:ser>
        <c:dLbls>
          <c:showLegendKey val="0"/>
          <c:showVal val="0"/>
          <c:showCatName val="0"/>
          <c:showSerName val="0"/>
          <c:showPercent val="0"/>
          <c:showBubbleSize val="0"/>
        </c:dLbls>
        <c:axId val="2094734554"/>
        <c:axId val="2094734552"/>
      </c:scatterChart>
      <c:valAx>
        <c:axId val="2094734554"/>
        <c:scaling>
          <c:orientation val="minMax"/>
          <c:max val="0.9"/>
          <c:min val="0"/>
        </c:scaling>
        <c:delete val="0"/>
        <c:axPos val="b"/>
        <c:title>
          <c:tx>
            <c:rich>
              <a:bodyPr/>
              <a:lstStyle/>
              <a:p>
                <a:pPr>
                  <a:defRPr sz="1200" b="0" i="0" u="none" strike="noStrike">
                    <a:solidFill>
                      <a:srgbClr val="5E6F68"/>
                    </a:solidFill>
                    <a:latin typeface="Arial"/>
                  </a:defRPr>
                </a:pPr>
                <a:r>
                  <a:rPr lang="es-CO" sz="1200" b="0" i="0" u="none" strike="noStrike">
                    <a:solidFill>
                      <a:srgbClr val="5E6F68"/>
                    </a:solidFill>
                    <a:latin typeface="Arial"/>
                  </a:rPr>
                  <a:t>Probabilidad pronosticada</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5E6F68"/>
                </a:solidFill>
                <a:latin typeface="+mn-lt"/>
              </a:defRPr>
            </a:pPr>
            <a:endParaRPr lang="en-US"/>
          </a:p>
        </c:txPr>
        <c:crossAx val="2094734552"/>
        <c:crosses val="autoZero"/>
        <c:crossBetween val="midCat"/>
      </c:valAx>
      <c:valAx>
        <c:axId val="2094734552"/>
        <c:scaling>
          <c:orientation val="minMax"/>
          <c:max val="0.9"/>
          <c:min val="0"/>
        </c:scaling>
        <c:delete val="0"/>
        <c:axPos val="l"/>
        <c:majorGridlines>
          <c:spPr>
            <a:ln w="9525" cap="flat">
              <a:solidFill>
                <a:srgbClr val="DCE3DF"/>
              </a:solidFill>
              <a:prstDash val="solid"/>
              <a:round/>
            </a:ln>
          </c:spPr>
        </c:majorGridlines>
        <c:title>
          <c:tx>
            <c:rich>
              <a:bodyPr/>
              <a:lstStyle/>
              <a:p>
                <a:pPr>
                  <a:defRPr sz="1200" b="0" i="0" u="none" strike="noStrike">
                    <a:solidFill>
                      <a:srgbClr val="5E6F68"/>
                    </a:solidFill>
                    <a:latin typeface="Arial"/>
                  </a:defRPr>
                </a:pPr>
                <a:r>
                  <a:rPr lang="es-CO" sz="1200" b="0" i="0" u="none" strike="noStrike">
                    <a:solidFill>
                      <a:srgbClr val="5E6F68"/>
                    </a:solidFill>
                    <a:latin typeface="Arial"/>
                  </a:rPr>
                  <a:t>Frecuencia observada</a:t>
                </a:r>
              </a:p>
            </c:rich>
          </c:tx>
          <c:overlay val="0"/>
        </c:title>
        <c:numFmt formatCode="0%"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5E6F68"/>
                </a:solidFill>
                <a:latin typeface="+mn-lt"/>
              </a:defRPr>
            </a:pPr>
            <a:endParaRPr lang="en-US"/>
          </a:p>
        </c:txPr>
        <c:crossAx val="2094734554"/>
        <c:crosses val="autoZero"/>
        <c:crossBetween val="midCat"/>
      </c:valAx>
      <c:spPr>
        <a:noFill/>
        <a:ln>
          <a:noFill/>
        </a:ln>
        <a:effectLst/>
      </c:spPr>
    </c:plotArea>
    <c:legend>
      <c:legendPos val="t"/>
      <c:overlay val="0"/>
      <c:txPr>
        <a:bodyPr/>
        <a:lstStyle/>
        <a:p>
          <a:pPr>
            <a:defRPr sz="1200">
              <a:solidFill>
                <a:srgbClr val="14211C"/>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400" b="0" i="0" u="none" strike="noStrike">
                <a:solidFill>
                  <a:srgbClr val="0C2B22"/>
                </a:solidFill>
                <a:latin typeface="+mn-lt"/>
              </a:defRPr>
            </a:pPr>
            <a:r>
              <a:rPr lang="es-ES" sz="1400" b="0" i="0" u="none" strike="noStrike">
                <a:solidFill>
                  <a:srgbClr val="0C2B22"/>
                </a:solidFill>
                <a:latin typeface="+mn-lt"/>
              </a:rPr>
              <a:t>Pendiente del error: pp por cada 10 pp de probabilidad (positiva = sesgo favorito–longshot)</a:t>
            </a:r>
          </a:p>
        </c:rich>
      </c:tx>
      <c:overlay val="0"/>
    </c:title>
    <c:autoTitleDeleted val="0"/>
    <c:plotArea>
      <c:layout/>
      <c:barChart>
        <c:barDir val="col"/>
        <c:grouping val="clustered"/>
        <c:varyColors val="0"/>
        <c:ser>
          <c:idx val="0"/>
          <c:order val="0"/>
          <c:tx>
            <c:strRef>
              <c:f>Sheet1!$B$1</c:f>
              <c:strCache>
                <c:ptCount val="1"/>
                <c:pt idx="0">
                  <c:v>Proporcional</c:v>
                </c:pt>
              </c:strCache>
            </c:strRef>
          </c:tx>
          <c:spPr>
            <a:solidFill>
              <a:srgbClr val="8AA399"/>
            </a:solidFill>
            <a:effectLst/>
          </c:spPr>
          <c:invertIfNegative val="0"/>
          <c:dLbls>
            <c:numFmt formatCode="0.00" sourceLinked="0"/>
            <c:spPr>
              <a:noFill/>
              <a:ln>
                <a:noFill/>
              </a:ln>
              <a:effectLst/>
            </c:spPr>
            <c:txPr>
              <a:bodyPr/>
              <a:lstStyle/>
              <a:p>
                <a:pPr>
                  <a:defRPr sz="1200" b="0" i="0" u="none" strike="noStrike">
                    <a:solidFill>
                      <a:srgbClr val="14211C"/>
                    </a:solidFill>
                    <a:latin typeface="+mn-lt"/>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Premier · Bet365</c:v>
                </c:pt>
                <c:pt idx="1">
                  <c:v>Premier · Pinnacle</c:v>
                </c:pt>
                <c:pt idx="2">
                  <c:v>LaLiga · Bet365</c:v>
                </c:pt>
                <c:pt idx="3">
                  <c:v>LaLiga · Pinnacle</c:v>
                </c:pt>
              </c:strCache>
            </c:strRef>
          </c:cat>
          <c:val>
            <c:numRef>
              <c:f>Sheet1!$B$2:$B$5</c:f>
              <c:numCache>
                <c:formatCode>General</c:formatCode>
                <c:ptCount val="4"/>
                <c:pt idx="0">
                  <c:v>0.79</c:v>
                </c:pt>
                <c:pt idx="1">
                  <c:v>0.56000000000000005</c:v>
                </c:pt>
                <c:pt idx="2">
                  <c:v>1.66</c:v>
                </c:pt>
                <c:pt idx="3">
                  <c:v>1.37</c:v>
                </c:pt>
              </c:numCache>
            </c:numRef>
          </c:val>
          <c:extLst>
            <c:ext xmlns:c16="http://schemas.microsoft.com/office/drawing/2014/chart" uri="{C3380CC4-5D6E-409C-BE32-E72D297353CC}">
              <c16:uniqueId val="{00000000-BADD-401D-88E7-4591E741E258}"/>
            </c:ext>
          </c:extLst>
        </c:ser>
        <c:ser>
          <c:idx val="1"/>
          <c:order val="1"/>
          <c:tx>
            <c:strRef>
              <c:f>Sheet1!$C$1</c:f>
              <c:strCache>
                <c:ptCount val="1"/>
                <c:pt idx="0">
                  <c:v>Potencia</c:v>
                </c:pt>
              </c:strCache>
            </c:strRef>
          </c:tx>
          <c:spPr>
            <a:solidFill>
              <a:srgbClr val="1F8A5B"/>
            </a:solidFill>
            <a:effectLst/>
          </c:spPr>
          <c:invertIfNegative val="0"/>
          <c:dLbls>
            <c:numFmt formatCode="0.00" sourceLinked="0"/>
            <c:spPr>
              <a:noFill/>
              <a:ln>
                <a:noFill/>
              </a:ln>
              <a:effectLst/>
            </c:spPr>
            <c:txPr>
              <a:bodyPr/>
              <a:lstStyle/>
              <a:p>
                <a:pPr>
                  <a:defRPr sz="1200" b="0" i="0" u="none" strike="noStrike">
                    <a:solidFill>
                      <a:srgbClr val="14211C"/>
                    </a:solidFill>
                    <a:latin typeface="+mn-lt"/>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Premier · Bet365</c:v>
                </c:pt>
                <c:pt idx="1">
                  <c:v>Premier · Pinnacle</c:v>
                </c:pt>
                <c:pt idx="2">
                  <c:v>LaLiga · Bet365</c:v>
                </c:pt>
                <c:pt idx="3">
                  <c:v>LaLiga · Pinnacle</c:v>
                </c:pt>
              </c:strCache>
            </c:strRef>
          </c:cat>
          <c:val>
            <c:numRef>
              <c:f>Sheet1!$C$2:$C$5</c:f>
              <c:numCache>
                <c:formatCode>General</c:formatCode>
                <c:ptCount val="4"/>
                <c:pt idx="0">
                  <c:v>0.18</c:v>
                </c:pt>
                <c:pt idx="1">
                  <c:v>0.22</c:v>
                </c:pt>
                <c:pt idx="2">
                  <c:v>1</c:v>
                </c:pt>
                <c:pt idx="3">
                  <c:v>1.02</c:v>
                </c:pt>
              </c:numCache>
            </c:numRef>
          </c:val>
          <c:extLst>
            <c:ext xmlns:c16="http://schemas.microsoft.com/office/drawing/2014/chart" uri="{C3380CC4-5D6E-409C-BE32-E72D297353CC}">
              <c16:uniqueId val="{00000001-BADD-401D-88E7-4591E741E258}"/>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F68"/>
                </a:solidFill>
                <a:latin typeface="+mn-lt"/>
              </a:defRPr>
            </a:pPr>
            <a:endParaRPr lang="en-US"/>
          </a:p>
        </c:txPr>
        <c:crossAx val="2094734552"/>
        <c:crosses val="autoZero"/>
        <c:auto val="1"/>
        <c:lblAlgn val="ctr"/>
        <c:lblOffset val="100"/>
        <c:noMultiLvlLbl val="1"/>
      </c:catAx>
      <c:valAx>
        <c:axId val="2094734552"/>
        <c:scaling>
          <c:orientation val="minMax"/>
          <c:max val="2"/>
          <c:min val="0"/>
        </c:scaling>
        <c:delete val="0"/>
        <c:axPos val="l"/>
        <c:majorGridlines>
          <c:spPr>
            <a:ln w="9525" cap="flat">
              <a:solidFill>
                <a:srgbClr val="DCE3DF"/>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F68"/>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4211C"/>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400" b="0" i="0" u="none" strike="noStrike">
                <a:solidFill>
                  <a:srgbClr val="0C2B22"/>
                </a:solidFill>
                <a:latin typeface="+mn-lt"/>
              </a:defRPr>
            </a:pPr>
            <a:r>
              <a:rPr lang="es-ES" sz="1400" b="0" i="0" u="none" strike="noStrike">
                <a:solidFill>
                  <a:srgbClr val="0C2B22"/>
                </a:solidFill>
                <a:latin typeface="+mn-lt"/>
              </a:rPr>
              <a:t>Pendiente del error por método · Bet365 (pp por 10 pp)</a:t>
            </a:r>
          </a:p>
        </c:rich>
      </c:tx>
      <c:overlay val="0"/>
    </c:title>
    <c:autoTitleDeleted val="0"/>
    <c:plotArea>
      <c:layout/>
      <c:barChart>
        <c:barDir val="col"/>
        <c:grouping val="clustered"/>
        <c:varyColors val="0"/>
        <c:ser>
          <c:idx val="0"/>
          <c:order val="0"/>
          <c:tx>
            <c:strRef>
              <c:f>Sheet1!$B$1</c:f>
              <c:strCache>
                <c:ptCount val="1"/>
                <c:pt idx="0">
                  <c:v>Premier League</c:v>
                </c:pt>
              </c:strCache>
            </c:strRef>
          </c:tx>
          <c:spPr>
            <a:solidFill>
              <a:srgbClr val="2F6FB2"/>
            </a:solidFill>
            <a:effectLst/>
          </c:spPr>
          <c:invertIfNegative val="0"/>
          <c:dLbls>
            <c:numFmt formatCode="0.00" sourceLinked="0"/>
            <c:spPr>
              <a:noFill/>
              <a:ln>
                <a:noFill/>
              </a:ln>
              <a:effectLst/>
            </c:spPr>
            <c:txPr>
              <a:bodyPr/>
              <a:lstStyle/>
              <a:p>
                <a:pPr>
                  <a:defRPr sz="1200" b="0" i="0" u="none" strike="noStrike">
                    <a:solidFill>
                      <a:srgbClr val="14211C"/>
                    </a:solidFill>
                    <a:latin typeface="+mn-lt"/>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Proporcional</c:v>
                </c:pt>
                <c:pt idx="1">
                  <c:v>Potencia</c:v>
                </c:pt>
                <c:pt idx="2">
                  <c:v>Aditivo</c:v>
                </c:pt>
                <c:pt idx="3">
                  <c:v>Shin</c:v>
                </c:pt>
              </c:strCache>
            </c:strRef>
          </c:cat>
          <c:val>
            <c:numRef>
              <c:f>Sheet1!$B$2:$B$5</c:f>
              <c:numCache>
                <c:formatCode>General</c:formatCode>
                <c:ptCount val="4"/>
                <c:pt idx="0">
                  <c:v>0.79</c:v>
                </c:pt>
                <c:pt idx="1">
                  <c:v>0.18</c:v>
                </c:pt>
                <c:pt idx="2">
                  <c:v>0.23</c:v>
                </c:pt>
                <c:pt idx="3">
                  <c:v>0.37</c:v>
                </c:pt>
              </c:numCache>
            </c:numRef>
          </c:val>
          <c:extLst>
            <c:ext xmlns:c16="http://schemas.microsoft.com/office/drawing/2014/chart" uri="{C3380CC4-5D6E-409C-BE32-E72D297353CC}">
              <c16:uniqueId val="{00000000-736A-4975-8FCB-8EC1CDC0162E}"/>
            </c:ext>
          </c:extLst>
        </c:ser>
        <c:ser>
          <c:idx val="1"/>
          <c:order val="1"/>
          <c:tx>
            <c:strRef>
              <c:f>Sheet1!$C$1</c:f>
              <c:strCache>
                <c:ptCount val="1"/>
                <c:pt idx="0">
                  <c:v>LaLiga</c:v>
                </c:pt>
              </c:strCache>
            </c:strRef>
          </c:tx>
          <c:spPr>
            <a:solidFill>
              <a:srgbClr val="E07A1F"/>
            </a:solidFill>
            <a:effectLst/>
          </c:spPr>
          <c:invertIfNegative val="0"/>
          <c:dLbls>
            <c:numFmt formatCode="0.00" sourceLinked="0"/>
            <c:spPr>
              <a:noFill/>
              <a:ln>
                <a:noFill/>
              </a:ln>
              <a:effectLst/>
            </c:spPr>
            <c:txPr>
              <a:bodyPr/>
              <a:lstStyle/>
              <a:p>
                <a:pPr>
                  <a:defRPr sz="1200" b="0" i="0" u="none" strike="noStrike">
                    <a:solidFill>
                      <a:srgbClr val="14211C"/>
                    </a:solidFill>
                    <a:latin typeface="+mn-lt"/>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Proporcional</c:v>
                </c:pt>
                <c:pt idx="1">
                  <c:v>Potencia</c:v>
                </c:pt>
                <c:pt idx="2">
                  <c:v>Aditivo</c:v>
                </c:pt>
                <c:pt idx="3">
                  <c:v>Shin</c:v>
                </c:pt>
              </c:strCache>
            </c:strRef>
          </c:cat>
          <c:val>
            <c:numRef>
              <c:f>Sheet1!$C$2:$C$5</c:f>
              <c:numCache>
                <c:formatCode>General</c:formatCode>
                <c:ptCount val="4"/>
                <c:pt idx="0">
                  <c:v>1.66</c:v>
                </c:pt>
                <c:pt idx="1">
                  <c:v>1</c:v>
                </c:pt>
                <c:pt idx="2">
                  <c:v>1.04</c:v>
                </c:pt>
                <c:pt idx="3">
                  <c:v>1.2</c:v>
                </c:pt>
              </c:numCache>
            </c:numRef>
          </c:val>
          <c:extLst>
            <c:ext xmlns:c16="http://schemas.microsoft.com/office/drawing/2014/chart" uri="{C3380CC4-5D6E-409C-BE32-E72D297353CC}">
              <c16:uniqueId val="{00000001-736A-4975-8FCB-8EC1CDC0162E}"/>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F68"/>
                </a:solidFill>
                <a:latin typeface="+mn-lt"/>
              </a:defRPr>
            </a:pPr>
            <a:endParaRPr lang="en-US"/>
          </a:p>
        </c:txPr>
        <c:crossAx val="2094734552"/>
        <c:crosses val="autoZero"/>
        <c:auto val="1"/>
        <c:lblAlgn val="ctr"/>
        <c:lblOffset val="100"/>
        <c:noMultiLvlLbl val="1"/>
      </c:catAx>
      <c:valAx>
        <c:axId val="2094734552"/>
        <c:scaling>
          <c:orientation val="minMax"/>
          <c:max val="2"/>
          <c:min val="0"/>
        </c:scaling>
        <c:delete val="0"/>
        <c:axPos val="l"/>
        <c:majorGridlines>
          <c:spPr>
            <a:ln w="9525" cap="flat">
              <a:solidFill>
                <a:srgbClr val="DCE3DF"/>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F68"/>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4211C"/>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400" b="0" i="0" u="none" strike="noStrike">
                <a:solidFill>
                  <a:srgbClr val="0C2B22"/>
                </a:solidFill>
                <a:latin typeface="+mn-lt"/>
              </a:defRPr>
            </a:pPr>
            <a:r>
              <a:rPr lang="es-ES" sz="1400" b="0" i="0" u="none" strike="noStrike">
                <a:solidFill>
                  <a:srgbClr val="0C2B22"/>
                </a:solidFill>
                <a:latin typeface="+mn-lt"/>
              </a:rPr>
              <a:t>Pendiente del error por temporada · Bet365, potencia (pp por 10 pp)</a:t>
            </a:r>
          </a:p>
        </c:rich>
      </c:tx>
      <c:overlay val="0"/>
    </c:title>
    <c:autoTitleDeleted val="0"/>
    <c:plotArea>
      <c:layout/>
      <c:lineChart>
        <c:grouping val="standard"/>
        <c:varyColors val="0"/>
        <c:ser>
          <c:idx val="0"/>
          <c:order val="0"/>
          <c:tx>
            <c:strRef>
              <c:f>Sheet1!$B$1</c:f>
              <c:strCache>
                <c:ptCount val="1"/>
                <c:pt idx="0">
                  <c:v>Premier League</c:v>
                </c:pt>
              </c:strCache>
            </c:strRef>
          </c:tx>
          <c:spPr>
            <a:ln w="38100" cap="flat">
              <a:solidFill>
                <a:srgbClr val="2F6FB2"/>
              </a:solidFill>
              <a:prstDash val="solid"/>
              <a:round/>
            </a:ln>
            <a:effectLst/>
          </c:spPr>
          <c:marker>
            <c:symbol val="circle"/>
            <c:size val="10"/>
            <c:spPr>
              <a:solidFill>
                <a:srgbClr val="2F6FB2"/>
              </a:solidFill>
              <a:ln w="9525" cap="flat">
                <a:solidFill>
                  <a:srgbClr val="2F6FB2"/>
                </a:solidFill>
                <a:prstDash val="solid"/>
                <a:round/>
              </a:ln>
              <a:effectLst/>
            </c:spPr>
          </c:marker>
          <c:dLbls>
            <c:numFmt formatCode="0.00" sourceLinked="0"/>
            <c:spPr>
              <a:noFill/>
              <a:ln>
                <a:noFill/>
              </a:ln>
              <a:effectLst/>
            </c:spPr>
            <c:txPr>
              <a:bodyPr/>
              <a:lstStyle/>
              <a:p>
                <a:pPr>
                  <a:defRPr sz="1200" b="0" i="0" u="none" strike="noStrike">
                    <a:solidFill>
                      <a:srgbClr val="14211C"/>
                    </a:solidFill>
                    <a:latin typeface="+mn-lt"/>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2022/23</c:v>
                </c:pt>
                <c:pt idx="1">
                  <c:v>2023/24</c:v>
                </c:pt>
                <c:pt idx="2">
                  <c:v>2024/25</c:v>
                </c:pt>
              </c:strCache>
            </c:strRef>
          </c:cat>
          <c:val>
            <c:numRef>
              <c:f>Sheet1!$B$2:$B$4</c:f>
              <c:numCache>
                <c:formatCode>General</c:formatCode>
                <c:ptCount val="3"/>
                <c:pt idx="0">
                  <c:v>-7.0000000000000007E-2</c:v>
                </c:pt>
                <c:pt idx="1">
                  <c:v>1.0900000000000001</c:v>
                </c:pt>
                <c:pt idx="2">
                  <c:v>-0.63</c:v>
                </c:pt>
              </c:numCache>
            </c:numRef>
          </c:val>
          <c:smooth val="0"/>
          <c:extLst>
            <c:ext xmlns:c16="http://schemas.microsoft.com/office/drawing/2014/chart" uri="{C3380CC4-5D6E-409C-BE32-E72D297353CC}">
              <c16:uniqueId val="{00000000-09E4-4E26-9A00-6A11448CB059}"/>
            </c:ext>
          </c:extLst>
        </c:ser>
        <c:ser>
          <c:idx val="1"/>
          <c:order val="1"/>
          <c:tx>
            <c:strRef>
              <c:f>Sheet1!$C$1</c:f>
              <c:strCache>
                <c:ptCount val="1"/>
                <c:pt idx="0">
                  <c:v>LaLiga</c:v>
                </c:pt>
              </c:strCache>
            </c:strRef>
          </c:tx>
          <c:spPr>
            <a:ln w="38100" cap="flat">
              <a:solidFill>
                <a:srgbClr val="E07A1F"/>
              </a:solidFill>
              <a:prstDash val="solid"/>
              <a:round/>
            </a:ln>
            <a:effectLst/>
          </c:spPr>
          <c:marker>
            <c:symbol val="circle"/>
            <c:size val="10"/>
            <c:spPr>
              <a:solidFill>
                <a:srgbClr val="E07A1F"/>
              </a:solidFill>
              <a:ln w="9525" cap="flat">
                <a:solidFill>
                  <a:srgbClr val="E07A1F"/>
                </a:solidFill>
                <a:prstDash val="solid"/>
                <a:round/>
              </a:ln>
              <a:effectLst/>
            </c:spPr>
          </c:marker>
          <c:dLbls>
            <c:numFmt formatCode="0.00" sourceLinked="0"/>
            <c:spPr>
              <a:noFill/>
              <a:ln>
                <a:noFill/>
              </a:ln>
              <a:effectLst/>
            </c:spPr>
            <c:txPr>
              <a:bodyPr/>
              <a:lstStyle/>
              <a:p>
                <a:pPr>
                  <a:defRPr sz="1200" b="0" i="0" u="none" strike="noStrike">
                    <a:solidFill>
                      <a:srgbClr val="14211C"/>
                    </a:solidFill>
                    <a:latin typeface="+mn-lt"/>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2022/23</c:v>
                </c:pt>
                <c:pt idx="1">
                  <c:v>2023/24</c:v>
                </c:pt>
                <c:pt idx="2">
                  <c:v>2024/25</c:v>
                </c:pt>
              </c:strCache>
            </c:strRef>
          </c:cat>
          <c:val>
            <c:numRef>
              <c:f>Sheet1!$C$2:$C$4</c:f>
              <c:numCache>
                <c:formatCode>General</c:formatCode>
                <c:ptCount val="3"/>
                <c:pt idx="0">
                  <c:v>0.48</c:v>
                </c:pt>
                <c:pt idx="1">
                  <c:v>1.49</c:v>
                </c:pt>
                <c:pt idx="2">
                  <c:v>1.02</c:v>
                </c:pt>
              </c:numCache>
            </c:numRef>
          </c:val>
          <c:smooth val="0"/>
          <c:extLst>
            <c:ext xmlns:c16="http://schemas.microsoft.com/office/drawing/2014/chart" uri="{C3380CC4-5D6E-409C-BE32-E72D297353CC}">
              <c16:uniqueId val="{00000001-09E4-4E26-9A00-6A11448CB059}"/>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F68"/>
                </a:solidFill>
                <a:latin typeface="+mn-lt"/>
              </a:defRPr>
            </a:pPr>
            <a:endParaRPr lang="en-US"/>
          </a:p>
        </c:txPr>
        <c:crossAx val="2094734552"/>
        <c:crosses val="autoZero"/>
        <c:auto val="1"/>
        <c:lblAlgn val="ctr"/>
        <c:lblOffset val="100"/>
        <c:noMultiLvlLbl val="1"/>
      </c:catAx>
      <c:valAx>
        <c:axId val="2094734552"/>
        <c:scaling>
          <c:orientation val="minMax"/>
          <c:max val="2"/>
          <c:min val="-1"/>
        </c:scaling>
        <c:delete val="0"/>
        <c:axPos val="l"/>
        <c:majorGridlines>
          <c:spPr>
            <a:ln w="9525" cap="flat">
              <a:solidFill>
                <a:srgbClr val="DCE3DF"/>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F68"/>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4211C"/>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400" b="0" i="0" u="none" strike="noStrike">
                <a:solidFill>
                  <a:srgbClr val="0C2B22"/>
                </a:solidFill>
                <a:latin typeface="+mn-lt"/>
              </a:defRPr>
            </a:pPr>
            <a:r>
              <a:rPr lang="es-ES" sz="1400" b="0" i="0" u="none" strike="noStrike">
                <a:solidFill>
                  <a:srgbClr val="0C2B22"/>
                </a:solidFill>
                <a:latin typeface="+mn-lt"/>
              </a:rPr>
              <a:t>Puntos del local − puntos del visitante, por partido</a:t>
            </a:r>
          </a:p>
        </c:rich>
      </c:tx>
      <c:overlay val="0"/>
    </c:title>
    <c:autoTitleDeleted val="0"/>
    <c:plotArea>
      <c:layout/>
      <c:barChart>
        <c:barDir val="col"/>
        <c:grouping val="clustered"/>
        <c:varyColors val="0"/>
        <c:ser>
          <c:idx val="0"/>
          <c:order val="0"/>
          <c:tx>
            <c:strRef>
              <c:f>Sheet1!$B$1</c:f>
              <c:strCache>
                <c:ptCount val="1"/>
                <c:pt idx="0">
                  <c:v>Premier League</c:v>
                </c:pt>
              </c:strCache>
            </c:strRef>
          </c:tx>
          <c:spPr>
            <a:solidFill>
              <a:srgbClr val="2F6FB2"/>
            </a:solidFill>
            <a:effectLst/>
          </c:spPr>
          <c:invertIfNegative val="0"/>
          <c:dLbls>
            <c:numFmt formatCode="0.00" sourceLinked="0"/>
            <c:spPr>
              <a:noFill/>
              <a:ln>
                <a:noFill/>
              </a:ln>
              <a:effectLst/>
            </c:spPr>
            <c:txPr>
              <a:bodyPr/>
              <a:lstStyle/>
              <a:p>
                <a:pPr>
                  <a:defRPr sz="1300" b="0" i="0" u="none" strike="noStrike">
                    <a:solidFill>
                      <a:srgbClr val="14211C"/>
                    </a:solidFill>
                    <a:latin typeface="+mn-lt"/>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Con público (antes)</c:v>
                </c:pt>
                <c:pt idx="1">
                  <c:v>Puerta cerrada</c:v>
                </c:pt>
                <c:pt idx="2">
                  <c:v>Con público (después)</c:v>
                </c:pt>
              </c:strCache>
            </c:strRef>
          </c:cat>
          <c:val>
            <c:numRef>
              <c:f>Sheet1!$B$2:$B$4</c:f>
              <c:numCache>
                <c:formatCode>General</c:formatCode>
                <c:ptCount val="3"/>
                <c:pt idx="0">
                  <c:v>0.46</c:v>
                </c:pt>
                <c:pt idx="1">
                  <c:v>-0.01</c:v>
                </c:pt>
                <c:pt idx="2">
                  <c:v>0.36</c:v>
                </c:pt>
              </c:numCache>
            </c:numRef>
          </c:val>
          <c:extLst>
            <c:ext xmlns:c16="http://schemas.microsoft.com/office/drawing/2014/chart" uri="{C3380CC4-5D6E-409C-BE32-E72D297353CC}">
              <c16:uniqueId val="{00000000-4DD6-4CE6-AA2C-BBE66FB3D63A}"/>
            </c:ext>
          </c:extLst>
        </c:ser>
        <c:ser>
          <c:idx val="1"/>
          <c:order val="1"/>
          <c:tx>
            <c:strRef>
              <c:f>Sheet1!$C$1</c:f>
              <c:strCache>
                <c:ptCount val="1"/>
                <c:pt idx="0">
                  <c:v>LaLiga</c:v>
                </c:pt>
              </c:strCache>
            </c:strRef>
          </c:tx>
          <c:spPr>
            <a:solidFill>
              <a:srgbClr val="E07A1F"/>
            </a:solidFill>
            <a:effectLst/>
          </c:spPr>
          <c:invertIfNegative val="0"/>
          <c:dLbls>
            <c:numFmt formatCode="0.00" sourceLinked="0"/>
            <c:spPr>
              <a:noFill/>
              <a:ln>
                <a:noFill/>
              </a:ln>
              <a:effectLst/>
            </c:spPr>
            <c:txPr>
              <a:bodyPr/>
              <a:lstStyle/>
              <a:p>
                <a:pPr>
                  <a:defRPr sz="1300" b="0" i="0" u="none" strike="noStrike">
                    <a:solidFill>
                      <a:srgbClr val="14211C"/>
                    </a:solidFill>
                    <a:latin typeface="+mn-lt"/>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Con público (antes)</c:v>
                </c:pt>
                <c:pt idx="1">
                  <c:v>Puerta cerrada</c:v>
                </c:pt>
                <c:pt idx="2">
                  <c:v>Con público (después)</c:v>
                </c:pt>
              </c:strCache>
            </c:strRef>
          </c:cat>
          <c:val>
            <c:numRef>
              <c:f>Sheet1!$C$2:$C$4</c:f>
              <c:numCache>
                <c:formatCode>General</c:formatCode>
                <c:ptCount val="3"/>
                <c:pt idx="0">
                  <c:v>0.56999999999999995</c:v>
                </c:pt>
                <c:pt idx="1">
                  <c:v>0.32</c:v>
                </c:pt>
                <c:pt idx="2">
                  <c:v>0.51</c:v>
                </c:pt>
              </c:numCache>
            </c:numRef>
          </c:val>
          <c:extLst>
            <c:ext xmlns:c16="http://schemas.microsoft.com/office/drawing/2014/chart" uri="{C3380CC4-5D6E-409C-BE32-E72D297353CC}">
              <c16:uniqueId val="{00000001-4DD6-4CE6-AA2C-BBE66FB3D63A}"/>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F68"/>
                </a:solidFill>
                <a:latin typeface="+mn-lt"/>
              </a:defRPr>
            </a:pPr>
            <a:endParaRPr lang="en-US"/>
          </a:p>
        </c:txPr>
        <c:crossAx val="2094734552"/>
        <c:crosses val="autoZero"/>
        <c:auto val="1"/>
        <c:lblAlgn val="ctr"/>
        <c:lblOffset val="100"/>
        <c:noMultiLvlLbl val="1"/>
      </c:catAx>
      <c:valAx>
        <c:axId val="2094734552"/>
        <c:scaling>
          <c:orientation val="minMax"/>
          <c:max val="0.7"/>
          <c:min val="-0.1"/>
        </c:scaling>
        <c:delete val="0"/>
        <c:axPos val="l"/>
        <c:majorGridlines>
          <c:spPr>
            <a:ln w="9525" cap="flat">
              <a:solidFill>
                <a:srgbClr val="DCE3DF"/>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F68"/>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4211C"/>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400" b="0" i="0" u="none" strike="noStrike">
                <a:solidFill>
                  <a:srgbClr val="0C2B22"/>
                </a:solidFill>
                <a:latin typeface="+mn-lt"/>
              </a:defRPr>
            </a:pPr>
            <a:r>
              <a:rPr lang="es-ES" sz="1400" b="0" i="0" u="none" strike="noStrike">
                <a:solidFill>
                  <a:srgbClr val="0C2B22"/>
                </a:solidFill>
                <a:latin typeface="+mn-lt"/>
              </a:rPr>
              <a:t>Árbitro: amarillas al visitante − al local</a:t>
            </a:r>
          </a:p>
        </c:rich>
      </c:tx>
      <c:overlay val="0"/>
    </c:title>
    <c:autoTitleDeleted val="0"/>
    <c:plotArea>
      <c:layout/>
      <c:barChart>
        <c:barDir val="col"/>
        <c:grouping val="clustered"/>
        <c:varyColors val="0"/>
        <c:ser>
          <c:idx val="0"/>
          <c:order val="0"/>
          <c:tx>
            <c:strRef>
              <c:f>Sheet1!$B$1</c:f>
              <c:strCache>
                <c:ptCount val="1"/>
                <c:pt idx="0">
                  <c:v>Premier League</c:v>
                </c:pt>
              </c:strCache>
            </c:strRef>
          </c:tx>
          <c:spPr>
            <a:solidFill>
              <a:srgbClr val="2F6FB2"/>
            </a:solidFill>
            <a:effectLst/>
          </c:spPr>
          <c:invertIfNegative val="0"/>
          <c:dLbls>
            <c:numFmt formatCode="0.00" sourceLinked="0"/>
            <c:spPr>
              <a:noFill/>
              <a:ln>
                <a:noFill/>
              </a:ln>
              <a:effectLst/>
            </c:spPr>
            <c:txPr>
              <a:bodyPr/>
              <a:lstStyle/>
              <a:p>
                <a:pPr>
                  <a:defRPr sz="1100" b="0" i="0" u="none" strike="noStrike">
                    <a:solidFill>
                      <a:srgbClr val="14211C"/>
                    </a:solidFill>
                    <a:latin typeface="+mn-lt"/>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Antes</c:v>
                </c:pt>
                <c:pt idx="1">
                  <c:v>Cerrada</c:v>
                </c:pt>
                <c:pt idx="2">
                  <c:v>Después</c:v>
                </c:pt>
              </c:strCache>
            </c:strRef>
          </c:cat>
          <c:val>
            <c:numRef>
              <c:f>Sheet1!$B$2:$B$4</c:f>
              <c:numCache>
                <c:formatCode>General</c:formatCode>
                <c:ptCount val="3"/>
                <c:pt idx="0">
                  <c:v>0.16</c:v>
                </c:pt>
                <c:pt idx="1">
                  <c:v>-0.04</c:v>
                </c:pt>
                <c:pt idx="2">
                  <c:v>0.23</c:v>
                </c:pt>
              </c:numCache>
            </c:numRef>
          </c:val>
          <c:extLst>
            <c:ext xmlns:c16="http://schemas.microsoft.com/office/drawing/2014/chart" uri="{C3380CC4-5D6E-409C-BE32-E72D297353CC}">
              <c16:uniqueId val="{00000000-0FDE-4968-95FA-0160AD36E61F}"/>
            </c:ext>
          </c:extLst>
        </c:ser>
        <c:ser>
          <c:idx val="1"/>
          <c:order val="1"/>
          <c:tx>
            <c:strRef>
              <c:f>Sheet1!$C$1</c:f>
              <c:strCache>
                <c:ptCount val="1"/>
                <c:pt idx="0">
                  <c:v>LaLiga</c:v>
                </c:pt>
              </c:strCache>
            </c:strRef>
          </c:tx>
          <c:spPr>
            <a:solidFill>
              <a:srgbClr val="E07A1F"/>
            </a:solidFill>
            <a:effectLst/>
          </c:spPr>
          <c:invertIfNegative val="0"/>
          <c:dLbls>
            <c:numFmt formatCode="0.00" sourceLinked="0"/>
            <c:spPr>
              <a:noFill/>
              <a:ln>
                <a:noFill/>
              </a:ln>
              <a:effectLst/>
            </c:spPr>
            <c:txPr>
              <a:bodyPr/>
              <a:lstStyle/>
              <a:p>
                <a:pPr>
                  <a:defRPr sz="1100" b="0" i="0" u="none" strike="noStrike">
                    <a:solidFill>
                      <a:srgbClr val="14211C"/>
                    </a:solidFill>
                    <a:latin typeface="+mn-lt"/>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Antes</c:v>
                </c:pt>
                <c:pt idx="1">
                  <c:v>Cerrada</c:v>
                </c:pt>
                <c:pt idx="2">
                  <c:v>Después</c:v>
                </c:pt>
              </c:strCache>
            </c:strRef>
          </c:cat>
          <c:val>
            <c:numRef>
              <c:f>Sheet1!$C$2:$C$4</c:f>
              <c:numCache>
                <c:formatCode>General</c:formatCode>
                <c:ptCount val="3"/>
                <c:pt idx="0">
                  <c:v>0.22</c:v>
                </c:pt>
                <c:pt idx="1">
                  <c:v>0.02</c:v>
                </c:pt>
                <c:pt idx="2">
                  <c:v>0.18</c:v>
                </c:pt>
              </c:numCache>
            </c:numRef>
          </c:val>
          <c:extLst>
            <c:ext xmlns:c16="http://schemas.microsoft.com/office/drawing/2014/chart" uri="{C3380CC4-5D6E-409C-BE32-E72D297353CC}">
              <c16:uniqueId val="{00000001-0FDE-4968-95FA-0160AD36E61F}"/>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F68"/>
                </a:solidFill>
                <a:latin typeface="+mn-lt"/>
              </a:defRPr>
            </a:pPr>
            <a:endParaRPr lang="en-US"/>
          </a:p>
        </c:txPr>
        <c:crossAx val="2094734552"/>
        <c:crosses val="autoZero"/>
        <c:auto val="1"/>
        <c:lblAlgn val="ctr"/>
        <c:lblOffset val="100"/>
        <c:noMultiLvlLbl val="1"/>
      </c:catAx>
      <c:valAx>
        <c:axId val="2094734552"/>
        <c:scaling>
          <c:orientation val="minMax"/>
          <c:max val="0.3"/>
          <c:min val="-0.1"/>
        </c:scaling>
        <c:delete val="0"/>
        <c:axPos val="l"/>
        <c:majorGridlines>
          <c:spPr>
            <a:ln w="9525" cap="flat">
              <a:solidFill>
                <a:srgbClr val="DCE3DF"/>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F68"/>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4211C"/>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400" b="0" i="0" u="none" strike="noStrike">
                <a:solidFill>
                  <a:srgbClr val="0C2B22"/>
                </a:solidFill>
                <a:latin typeface="+mn-lt"/>
              </a:defRPr>
            </a:pPr>
            <a:r>
              <a:rPr lang="es-ES" sz="1400" b="0" i="0" u="none" strike="noStrike">
                <a:solidFill>
                  <a:srgbClr val="0C2B22"/>
                </a:solidFill>
                <a:latin typeface="+mn-lt"/>
              </a:rPr>
              <a:t>Juego: remates del local − del visitante</a:t>
            </a:r>
          </a:p>
        </c:rich>
      </c:tx>
      <c:overlay val="0"/>
    </c:title>
    <c:autoTitleDeleted val="0"/>
    <c:plotArea>
      <c:layout/>
      <c:barChart>
        <c:barDir val="col"/>
        <c:grouping val="clustered"/>
        <c:varyColors val="0"/>
        <c:ser>
          <c:idx val="0"/>
          <c:order val="0"/>
          <c:tx>
            <c:strRef>
              <c:f>Sheet1!$B$1</c:f>
              <c:strCache>
                <c:ptCount val="1"/>
                <c:pt idx="0">
                  <c:v>Premier League</c:v>
                </c:pt>
              </c:strCache>
            </c:strRef>
          </c:tx>
          <c:spPr>
            <a:solidFill>
              <a:srgbClr val="2F6FB2"/>
            </a:solidFill>
            <a:effectLst/>
          </c:spPr>
          <c:invertIfNegative val="0"/>
          <c:dLbls>
            <c:numFmt formatCode="0.0" sourceLinked="0"/>
            <c:spPr>
              <a:noFill/>
              <a:ln>
                <a:noFill/>
              </a:ln>
              <a:effectLst/>
            </c:spPr>
            <c:txPr>
              <a:bodyPr/>
              <a:lstStyle/>
              <a:p>
                <a:pPr>
                  <a:defRPr sz="1100" b="0" i="0" u="none" strike="noStrike">
                    <a:solidFill>
                      <a:srgbClr val="14211C"/>
                    </a:solidFill>
                    <a:latin typeface="+mn-lt"/>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Antes</c:v>
                </c:pt>
                <c:pt idx="1">
                  <c:v>Cerrada</c:v>
                </c:pt>
                <c:pt idx="2">
                  <c:v>Después</c:v>
                </c:pt>
              </c:strCache>
            </c:strRef>
          </c:cat>
          <c:val>
            <c:numRef>
              <c:f>Sheet1!$B$2:$B$4</c:f>
              <c:numCache>
                <c:formatCode>General</c:formatCode>
                <c:ptCount val="3"/>
                <c:pt idx="0">
                  <c:v>2.72</c:v>
                </c:pt>
                <c:pt idx="1">
                  <c:v>1.1399999999999999</c:v>
                </c:pt>
                <c:pt idx="2">
                  <c:v>2.39</c:v>
                </c:pt>
              </c:numCache>
            </c:numRef>
          </c:val>
          <c:extLst>
            <c:ext xmlns:c16="http://schemas.microsoft.com/office/drawing/2014/chart" uri="{C3380CC4-5D6E-409C-BE32-E72D297353CC}">
              <c16:uniqueId val="{00000000-D5B2-47A2-8A13-F77CE389DCA8}"/>
            </c:ext>
          </c:extLst>
        </c:ser>
        <c:ser>
          <c:idx val="1"/>
          <c:order val="1"/>
          <c:tx>
            <c:strRef>
              <c:f>Sheet1!$C$1</c:f>
              <c:strCache>
                <c:ptCount val="1"/>
                <c:pt idx="0">
                  <c:v>LaLiga</c:v>
                </c:pt>
              </c:strCache>
            </c:strRef>
          </c:tx>
          <c:spPr>
            <a:solidFill>
              <a:srgbClr val="E07A1F"/>
            </a:solidFill>
            <a:effectLst/>
          </c:spPr>
          <c:invertIfNegative val="0"/>
          <c:dLbls>
            <c:numFmt formatCode="0.0" sourceLinked="0"/>
            <c:spPr>
              <a:noFill/>
              <a:ln>
                <a:noFill/>
              </a:ln>
              <a:effectLst/>
            </c:spPr>
            <c:txPr>
              <a:bodyPr/>
              <a:lstStyle/>
              <a:p>
                <a:pPr>
                  <a:defRPr sz="1100" b="0" i="0" u="none" strike="noStrike">
                    <a:solidFill>
                      <a:srgbClr val="14211C"/>
                    </a:solidFill>
                    <a:latin typeface="+mn-lt"/>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Antes</c:v>
                </c:pt>
                <c:pt idx="1">
                  <c:v>Cerrada</c:v>
                </c:pt>
                <c:pt idx="2">
                  <c:v>Después</c:v>
                </c:pt>
              </c:strCache>
            </c:strRef>
          </c:cat>
          <c:val>
            <c:numRef>
              <c:f>Sheet1!$C$2:$C$4</c:f>
              <c:numCache>
                <c:formatCode>General</c:formatCode>
                <c:ptCount val="3"/>
                <c:pt idx="0">
                  <c:v>3.15</c:v>
                </c:pt>
                <c:pt idx="1">
                  <c:v>1.34</c:v>
                </c:pt>
                <c:pt idx="2">
                  <c:v>2.96</c:v>
                </c:pt>
              </c:numCache>
            </c:numRef>
          </c:val>
          <c:extLst>
            <c:ext xmlns:c16="http://schemas.microsoft.com/office/drawing/2014/chart" uri="{C3380CC4-5D6E-409C-BE32-E72D297353CC}">
              <c16:uniqueId val="{00000001-D5B2-47A2-8A13-F77CE389DCA8}"/>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F68"/>
                </a:solidFill>
                <a:latin typeface="+mn-lt"/>
              </a:defRPr>
            </a:pPr>
            <a:endParaRPr lang="en-US"/>
          </a:p>
        </c:txPr>
        <c:crossAx val="2094734552"/>
        <c:crosses val="autoZero"/>
        <c:auto val="1"/>
        <c:lblAlgn val="ctr"/>
        <c:lblOffset val="100"/>
        <c:noMultiLvlLbl val="1"/>
      </c:catAx>
      <c:valAx>
        <c:axId val="2094734552"/>
        <c:scaling>
          <c:orientation val="minMax"/>
          <c:max val="4"/>
          <c:min val="0"/>
        </c:scaling>
        <c:delete val="0"/>
        <c:axPos val="l"/>
        <c:majorGridlines>
          <c:spPr>
            <a:ln w="9525" cap="flat">
              <a:solidFill>
                <a:srgbClr val="DCE3D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F68"/>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4211C"/>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400" b="0" i="0" u="none" strike="noStrike">
                <a:solidFill>
                  <a:srgbClr val="0C2B22"/>
                </a:solidFill>
                <a:latin typeface="+mn-lt"/>
              </a:defRPr>
            </a:pPr>
            <a:r>
              <a:rPr lang="es-CO" sz="1400" b="0" i="0" u="none" strike="noStrike">
                <a:solidFill>
                  <a:srgbClr val="0C2B22"/>
                </a:solidFill>
                <a:latin typeface="+mn-lt"/>
              </a:rPr>
              <a:t>Victoria local (%): observada vs probabilidad implícita</a:t>
            </a:r>
          </a:p>
        </c:rich>
      </c:tx>
      <c:overlay val="0"/>
    </c:title>
    <c:autoTitleDeleted val="0"/>
    <c:plotArea>
      <c:layout/>
      <c:barChart>
        <c:barDir val="col"/>
        <c:grouping val="clustered"/>
        <c:varyColors val="0"/>
        <c:ser>
          <c:idx val="0"/>
          <c:order val="0"/>
          <c:tx>
            <c:strRef>
              <c:f>Sheet1!$B$1</c:f>
              <c:strCache>
                <c:ptCount val="1"/>
                <c:pt idx="0">
                  <c:v>Observada</c:v>
                </c:pt>
              </c:strCache>
            </c:strRef>
          </c:tx>
          <c:spPr>
            <a:solidFill>
              <a:srgbClr val="0C2B22"/>
            </a:solidFill>
            <a:effectLst/>
          </c:spPr>
          <c:invertIfNegative val="0"/>
          <c:dLbls>
            <c:numFmt formatCode="0.0" sourceLinked="0"/>
            <c:spPr>
              <a:noFill/>
              <a:ln>
                <a:noFill/>
              </a:ln>
              <a:effectLst/>
            </c:spPr>
            <c:txPr>
              <a:bodyPr/>
              <a:lstStyle/>
              <a:p>
                <a:pPr>
                  <a:defRPr sz="1000" b="0" i="0" u="none" strike="noStrike">
                    <a:solidFill>
                      <a:srgbClr val="14211C"/>
                    </a:solidFill>
                    <a:latin typeface="+mn-lt"/>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Premier · antes</c:v>
                </c:pt>
                <c:pt idx="1">
                  <c:v>Premier · cerrada</c:v>
                </c:pt>
                <c:pt idx="2">
                  <c:v>Premier · después</c:v>
                </c:pt>
                <c:pt idx="3">
                  <c:v>LaLiga · antes</c:v>
                </c:pt>
                <c:pt idx="4">
                  <c:v>LaLiga · cerrada</c:v>
                </c:pt>
                <c:pt idx="5">
                  <c:v>LaLiga · después</c:v>
                </c:pt>
              </c:strCache>
            </c:strRef>
          </c:cat>
          <c:val>
            <c:numRef>
              <c:f>Sheet1!$B$2:$B$7</c:f>
              <c:numCache>
                <c:formatCode>General</c:formatCode>
                <c:ptCount val="6"/>
                <c:pt idx="0">
                  <c:v>46.1</c:v>
                </c:pt>
                <c:pt idx="1">
                  <c:v>38.799999999999997</c:v>
                </c:pt>
                <c:pt idx="2">
                  <c:v>44.5</c:v>
                </c:pt>
                <c:pt idx="3">
                  <c:v>46.3</c:v>
                </c:pt>
                <c:pt idx="4">
                  <c:v>41</c:v>
                </c:pt>
                <c:pt idx="5">
                  <c:v>45.4</c:v>
                </c:pt>
              </c:numCache>
            </c:numRef>
          </c:val>
          <c:extLst>
            <c:ext xmlns:c16="http://schemas.microsoft.com/office/drawing/2014/chart" uri="{C3380CC4-5D6E-409C-BE32-E72D297353CC}">
              <c16:uniqueId val="{00000000-A166-4191-88C4-03943A0661AC}"/>
            </c:ext>
          </c:extLst>
        </c:ser>
        <c:ser>
          <c:idx val="1"/>
          <c:order val="1"/>
          <c:tx>
            <c:strRef>
              <c:f>Sheet1!$C$1</c:f>
              <c:strCache>
                <c:ptCount val="1"/>
                <c:pt idx="0">
                  <c:v>Implícita Pinnacle (potencia)</c:v>
                </c:pt>
              </c:strCache>
            </c:strRef>
          </c:tx>
          <c:spPr>
            <a:solidFill>
              <a:srgbClr val="F2B705"/>
            </a:solidFill>
            <a:effectLst/>
          </c:spPr>
          <c:invertIfNegative val="0"/>
          <c:dLbls>
            <c:numFmt formatCode="0.0" sourceLinked="0"/>
            <c:spPr>
              <a:noFill/>
              <a:ln>
                <a:noFill/>
              </a:ln>
              <a:effectLst/>
            </c:spPr>
            <c:txPr>
              <a:bodyPr/>
              <a:lstStyle/>
              <a:p>
                <a:pPr>
                  <a:defRPr sz="1000" b="0" i="0" u="none" strike="noStrike">
                    <a:solidFill>
                      <a:srgbClr val="14211C"/>
                    </a:solidFill>
                    <a:latin typeface="+mn-lt"/>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Premier · antes</c:v>
                </c:pt>
                <c:pt idx="1">
                  <c:v>Premier · cerrada</c:v>
                </c:pt>
                <c:pt idx="2">
                  <c:v>Premier · después</c:v>
                </c:pt>
                <c:pt idx="3">
                  <c:v>LaLiga · antes</c:v>
                </c:pt>
                <c:pt idx="4">
                  <c:v>LaLiga · cerrada</c:v>
                </c:pt>
                <c:pt idx="5">
                  <c:v>LaLiga · después</c:v>
                </c:pt>
              </c:strCache>
            </c:strRef>
          </c:cat>
          <c:val>
            <c:numRef>
              <c:f>Sheet1!$C$2:$C$7</c:f>
              <c:numCache>
                <c:formatCode>General</c:formatCode>
                <c:ptCount val="6"/>
                <c:pt idx="0">
                  <c:v>45</c:v>
                </c:pt>
                <c:pt idx="1">
                  <c:v>41.3</c:v>
                </c:pt>
                <c:pt idx="2">
                  <c:v>44.6</c:v>
                </c:pt>
                <c:pt idx="3">
                  <c:v>46.3</c:v>
                </c:pt>
                <c:pt idx="4">
                  <c:v>42.2</c:v>
                </c:pt>
                <c:pt idx="5">
                  <c:v>45</c:v>
                </c:pt>
              </c:numCache>
            </c:numRef>
          </c:val>
          <c:extLst>
            <c:ext xmlns:c16="http://schemas.microsoft.com/office/drawing/2014/chart" uri="{C3380CC4-5D6E-409C-BE32-E72D297353CC}">
              <c16:uniqueId val="{00000001-A166-4191-88C4-03943A0661AC}"/>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6F68"/>
                </a:solidFill>
                <a:latin typeface="+mn-lt"/>
              </a:defRPr>
            </a:pPr>
            <a:endParaRPr lang="en-US"/>
          </a:p>
        </c:txPr>
        <c:crossAx val="2094734552"/>
        <c:crosses val="autoZero"/>
        <c:auto val="1"/>
        <c:lblAlgn val="ctr"/>
        <c:lblOffset val="100"/>
        <c:noMultiLvlLbl val="1"/>
      </c:catAx>
      <c:valAx>
        <c:axId val="2094734552"/>
        <c:scaling>
          <c:orientation val="minMax"/>
          <c:max val="50"/>
          <c:min val="30"/>
        </c:scaling>
        <c:delete val="0"/>
        <c:axPos val="l"/>
        <c:majorGridlines>
          <c:spPr>
            <a:ln w="9525" cap="flat">
              <a:solidFill>
                <a:srgbClr val="DCE3D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F68"/>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4211C"/>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1043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Andrés. Saludo y presentación del equipo. Una casa de apuestas emite pronósticos probabilísticos todos los días; la pregunta del proyecto no es cómo ganarle, sino si sus probabilidades son correctas. Además aprovechamos la pandemia como experimento natural para medir si el público local influye en los resultados.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Andrés. Este encuadre es parte de la rúbrica. Insistir: no es una guía para apostar. El margen medio de Bet365 en nuestra muestra es 5,5 % y el de Pinnacle 2,8 %; con una suma de probabilidades S, el apostador sostenido pierde en promedio 1 − 1/S de lo apostado: 5,2 % y 2,7 %.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Andrés. La principal y las dos primeras secundarias vienen del planteamiento del equipo; la tercera aprovecha la pandemia como experimento natural. Todas se responden con los mismos métodos: remoción del margen, curvas de calibración, bootstrap por bloques y control de comparaciones múltiples.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Andrés. Usamos las cuotas de cierre (columnas B365CH/CD/CA y PSCH/CD/CA), que incorporan toda la información previa al partido. La fuente advierte que Pinnacle dejó de ser confiable desde julio de 2025: si la incluyéramos después, mediríamos un artefacto de recolección. Para la pregunta de la pandemia, antes de 2019/20 no hay cuotas de cierre de Bet365 y usamos Pinnacle.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Andrés. Entramos a la pregunta principal. Primero el método (cómo pasamos de cuotas a probabilidades y cómo evaluamos) y después los resultados.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Andrés. Este es el ejemplo del enunciado. Las tres probabilidades suman 103,7 %; ese 3,7 % extra es el margen u overround. Ninguna comparación con resultados reales se hace sobre probabilidades brutas.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Andrés. Margen medio por casa y liga en las tres temporadas. Que una casa cobre más no significa que pronostique peor: eso lo medimos después con calibración.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Mauricio. Nadie observa cómo reparte la casa su margen, así que cada método es un supuesto. Con el proporcional el favorito queda en 67,3 %; con potencia en 69,6 %, porque potencia le quita proporcionalmente más al improbable (de 12,5 a 10,6). Esta diferencia es la que decide si aparece o no el sesgo favorito–longshot. Usamos los cuatro métodos y comparamos.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Mauricio. Este es el flujo de la pregunta principal, en orden. 1) Convertimos cada cuota en probabilidad bruta. 2) Quitamos el margen con cuatro métodos; potencia es el principal porque la literatura lo encuentra superior y nunca da probabilidades negativas. 3) Calibración: para cada resultado agrupamos los pronósticos en 10 grupos de igual tamaño y comparamos lo pronosticado con lo observado; el ECE resume la desviación media. 4) Precisión global con Brier, RPS y log loss, comparada con dos pronósticos ingenuos; RPS respeta el orden local–empate–visitante. 5) Sesgo favorito–longshot con dos medidas: la pendiente del error y el contraste entre favoritos e improbables.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Mauricio. Remuestreamos bloques de 20 partidos seguidos dentro de cada liga y temporada. La revisión pidió justificarlo: medimos la autocorrelación (ninguna de 24 series fue significativa) y el bloque óptimo de Politis–White salió de 1 a 2 partidos, así que 20 es conservador; con bloques de 1, 10, 40 o semanas completas los errores estándar cambian entre 0,85 y 1,21 veces. Para la dependencia entre partidos del mismo equipo usamos errores diádicos y una prueba de dispersión por equipo. Además comparamos el ECE con el de un pronóstico perfectamente calibrado simulado, y para no confundir «no significativo» con «no hay efecto» calculamos el efecto mínimo detectable y pruebas de equivalencia.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Mauricio. Cada punto agrupa unos 114 pronósticos con probabilidad parecida (10 grupos de igual frecuencia por resultado). Si el pronóstico está calibrado, cae sobre la diagonal. Los puntos se reparten alrededor sin un patrón sistemático. El error medio por resultado es de 2,6 pp en la Premier y 3,0 en LaLiga. Ojo: un ECE nunca es cero, ni siquiera con un pronóstico perfecto; simulamos 2.000 temporadas con calibración perfecta y el ECE esperado es 3,2–3,3 pp, así que lo observado es puro ruido muestral (p ≥ 0,71). El mercado mejora 18 % y 16 % el RPS de la frecuencia histórica. Usamos RPS porque respeta el orden local–empate–visitante.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Mauricio. La pendiente del error dice cuántos puntos crece el error observado − pronosticado por cada 10 puntos de probabilidad; si es positiva, los favoritos ganan más de lo pronosticado y los improbables menos. Con proporcional, LaLiga tiene pendientes de 1,66 y 1,37 con IC sobre cero; con potencia bajan a 1,00 y 1,02 y el intervalo cruza cero por poco (−0,05 a 2,11). Tras Holm, ninguna de las 16 es significativa. Lo sólido es que el proporcional añade entre 0,34 y 0,66 pp de pendiente en las cuatro combinaciones (p de Holm 0,006): parte del sesgo es del método. Pero cuidado: en LaLiga no podemos decir que no haya sesgo; el estudio solo detecta pendientes de 1,5 o más, y la estimada es 1,0. En la Premier sí: el IC 90 % cae dentro de ±1, es equivalente a cero.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Mauricio. Esta diapositiva responde a la revisión del director. Antes destacábamos 10,8 pp con umbrales de 15 y 65 %: es la celda más alta de la matriz. Al probar las 25 combinaciones, el signo es siempre positivo en LaLiga, pero la significancia depende del corte y ninguna sobrevive al ajuste dentro de la matriz. En la Premier nada es significativo. Lectura honesta: en LaLiga puede haber un sesgo moderado, pero con 1.140 partidos no lo podemos confirmar ni descartar.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Mauricio. El sesgo favorito–longshot se documentó primero en carreras de caballos (Griffith, 1949). Levitt (2004) mostró que las casas fijan precios activamente; Snowberg y Wolfers (2010) atribuyen el sesgo a que las personas sobreestiman probabilidades pequeñas. Clarke, Kovalchik e Ingram (2017) hallaron que potencia supera al proporcional, y Štrumbelj (2014) que Shin supera a la normalización simple, con ventajas menores en mercados grandes. Por eso potencia es nuestro método principal, pero no suponemos que sea el «verdadero»: en nuestros datos lo comprobamos y las diferencias de log loss y RPS entre métodos son mínimas.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Mauricio. Con los mismos métodos de la pregunta principal, ahora comparamos ligas y temporadas.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Mauricio. LaLiga − Premier en la pendiente con potencia: 0,82 en Bet365 (IC −0,53 a 2,33) y 0,80 en Pinnacle. La dirección es consistente, pero ninguna de las 24 diferencias entre ligas sobrevive al ajuste. No significativo no es igual: con la prueba de equivalencia (margen ±1 pp) tampoco se demuestra que sean iguales, y el efecto mínimo detectable es 2,05 pp. Conclusión: no concluyente. Entre casas sí hay equivalencia: las 8 diferencias de RPS caen dentro de ±0,002, sobre los mismos partidos (datos apareados).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Mauricio. Las pendientes suben y bajan entre temporadas, pero cada temporada tiene solo 380 partidos por liga y los intervalos son anchos (por ejemplo, Premier 2023/24: 1,09 con IC −0,35 a 2,51). Por eso no decimos «estable»: ninguna diferencia es significativa, pero tampoco ninguna es equivalente con los márgenes declarados. Ocho diferencias de RPSS tienen p cercano a 0,05 sin ajustar, ninguna tras Holm.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Carlos. Durante la pandemia se jugó sin público durante más de un año. Eso permite comparar la ventaja de local con y sin afición, aunque la pandemia también cambió el calendario, las sustituciones y las plantillas, así que hablaremos de asociación y pondremos a prueba esos confusores.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Carlos. Fechas: última jornada con público el 9 de marzo de 2020; puerta cerrada desde la reanudación hasta el final de 2020/21. Los partidos con aforo mínimo o parcial se excluyen del contraste principal y se reincorporan como sensibilidad. Medimos cuatro cosas: la ventaja en puntos, el canal arbitral con las tarjetas, el canal de juego con los remates y la reacción del mercado.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Carlos. Con público (antes y después juntos) el local de la Premier sumaba 0,40 puntos más que el visitante por partido; sin público, −0,01: jugar en casa dejó de dar ventaja. Cambio −0,42 (IC −0,65 a −0,20; p ajustado por Holm 0,005). Ajustando por la fuerza de cada equipo en cada temporada da lo mismo (−0,40). En LaLiga bajó de 0,53 a 0,32 (cerca del 39 %); en puntos no supera el ajuste de Holm (0,242), pero sí en remates y en goles ajustados por fuerza (p ajustado 0,022). Al volver el público, la ventaja regresó en ambas ligas.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Carlos. El director pidió no atribuir el cambio al público sin más. Hicimos tres pruebas. Placebo: repetimos el contraste con todas las ventanas de partidos con público del mismo tamaño y ninguna da una caída como la real. Sustituciones: la Premier jugó 2020/21 sin público con tres cambios y desde 2022/23 con público y cinco; la caída ocurrió con tres cambios y cinco cambios con público no cambian la ventaja, así que la regla no la explica. Aforo mínimo: ventaja intermedia (0,32), aunque con poca muestra. Pero la reanudación de 2019/20, también sin público, no mostró caída. Por eso hablamos de asociación robusta, no de efecto causal demostrado.</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Carlos. Dos canales compatibles con la influencia de la afición: el árbitro (la diferencia de tarjetas en contra del visitante desaparece) y el juego (el local remata menos). El diseño no permite separar cuánto aporta cada uno, ni prueba causalidad individual: la pandemia también cambió calendarios y viajes.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Carlos. El eje empieza en 30 % para que se vean diferencias de pocos puntos. Pinnacle bajó la probabilidad del local 3,5 pp en la Premier y 3,3 en LaLiga; Bet365 se movió igual. La brecha observada − implícita cambió −2,9 pp en la Premier (IC −6,6 a 0,7) y −1,5 en LaLiga: no significativa en el periodo completo. Por mitades, en la Premier la brecha fue −0,8 pp en la primera y −4,2 pp en la segunda (IC −7,2 a −1,1); la diferencia entre mitades no es significativa. Podemos decir que el precio se ajustó, no qué tan rápido ni qué tan bien.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Carlos. Contrastamos con la literatura. McCarrick y colaboradores (Psychology of Sport and Exercise, 2021) estiman para 11 ligas europeas una caída de 0,39 a 0,22 puntos; nuestra LaLiga va en línea y la Premier es más extrema. Bryson y colaboradores (Economics Letters, 2021) encuentran menos amarillas al visitante sin público, como nosotros en la Premier. Winkelmann, Deutscher y Ötting (Applied Economics, 2021) hallan que en la Bundesliga las casas tardaron en ajustar; en nuestras ligas la brecha global no es significativa, aunque en la segunda mitad del periodo cerrado de la Premier sí aparece, compatible con ese hallazgo.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Mauricio. Las cuatro limitaciones principales. Preparar respuestas: el bloque de 20 es conservador porque no hay autocorrelación (Politis–White da 1–2); con bloques de 1, 10 o 40 las conclusiones con potencia no cambian; con 1.140 partidos por liga solo detectamos pendientes de 1,5 o más; y para el público, el placebo y la regla de sustituciones descartan algunos confusores, no todos.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Carlos. Cierre en una frase por pregunta, distinguiendo lo que se observó, lo que se sostiene estadísticamente y lo que es interpretación. Con más tiempo: más temporadas para tener potencia en LaLiga, datos de asistencia por partido y ligas que reabrieron en fechas distintas para identificar mejor el efecto del público.</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Referencias citadas en la presentación. Código y datos: proyecto en Python, python run_all.py regenera todo.</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Abrir preguntas. Recordar el encuadre: hallazgo técnico retrospectivo, no oportunidad de apuesta. Mostrar en vivo el código si lo piden: python run_all.py regenera todo el análisis.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0C2B2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74520"/>
            <a:ext cx="6949440" cy="192024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3977640"/>
            <a:ext cx="6766560" cy="82296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CION">
    <p:bg>
      <p:bgPr>
        <a:solidFill>
          <a:srgbClr val="0C2B2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377440"/>
            <a:ext cx="6766560" cy="137160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931920"/>
            <a:ext cx="6583680" cy="1600200"/>
          </a:xfrm>
          <a:prstGeom prst="rect">
            <a:avLst/>
          </a:prstGeom>
          <a:noFill/>
          <a:ln/>
        </p:spPr>
        <p:txBody>
          <a:bodyPr wrap="square" rtlCol="0"/>
          <a:lstStyle>
            <a:lvl1pPr marL="0" indent="0" algn="l">
              <a:buNone/>
              <a:defRPr lang="en-US" sz="1900" dirty="0">
                <a:solidFill>
                  <a:schemeClr val="bg2"/>
                </a:solidFill>
              </a:defRPr>
            </a:lvl1pPr>
          </a:lstStyle>
          <a:p>
            <a:pPr marL="0" indent="0" algn="l">
              <a:buNone/>
            </a:pPr>
            <a:endParaRPr lang="en-US" sz="19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marL="0" indent="0">
              <a:buNone/>
            </a:pPr>
            <a:r>
              <a:rPr lang="en-US" sz="1000" dirty="0">
                <a:solidFill>
                  <a:schemeClr val="bg2"/>
                </a:solidFill>
              </a:rPr>
              <a:t>Proyecto 2 · Estadística Industrial · Universidad del Magdalena</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6868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marL="0" indent="0">
              <a:buNone/>
            </a:pPr>
            <a:r>
              <a:rPr lang="en-US" sz="1000" dirty="0">
                <a:solidFill>
                  <a:srgbClr val="5E6F68"/>
                </a:solidFill>
              </a:rPr>
              <a:t>Proyecto 2 · Estadística Industrial · Universidad del Magdalena</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F68"/>
                </a:solidFill>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2.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chart" Target="../charts/chart9.xml"/></Relationships>
</file>

<file path=ppt/slides/_rels/slide23.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2.pn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anel"/>
          <p:cNvSpPr/>
          <p:nvPr/>
        </p:nvSpPr>
        <p:spPr>
          <a:xfrm>
            <a:off x="0" y="0"/>
            <a:ext cx="12191695" cy="6858000"/>
          </a:xfrm>
          <a:prstGeom prst="roundRect">
            <a:avLst/>
          </a:prstGeom>
          <a:solidFill>
            <a:srgbClr val="0C2B22"/>
          </a:solidFill>
          <a:ln w="12700">
            <a:solidFill>
              <a:srgbClr val="0C2B22"/>
            </a:solidFill>
            <a:prstDash val="solid"/>
          </a:ln>
        </p:spPr>
        <p:txBody>
          <a:bodyPr/>
          <a:lstStyle/>
          <a:p>
            <a:endParaRPr lang="es-CO"/>
          </a:p>
        </p:txBody>
      </p:sp>
      <p:sp>
        <p:nvSpPr>
          <p:cNvPr id="3" name="!!ring"/>
          <p:cNvSpPr/>
          <p:nvPr/>
        </p:nvSpPr>
        <p:spPr>
          <a:xfrm>
            <a:off x="7726680" y="960120"/>
            <a:ext cx="4754880" cy="4754880"/>
          </a:xfrm>
          <a:prstGeom prst="ellipse">
            <a:avLst/>
          </a:prstGeom>
          <a:solidFill>
            <a:srgbClr val="FFFFFF">
              <a:alpha val="0"/>
            </a:srgbClr>
          </a:solidFill>
          <a:ln w="38100">
            <a:solidFill>
              <a:srgbClr val="1F8A5B"/>
            </a:solidFill>
            <a:prstDash val="solid"/>
          </a:ln>
        </p:spPr>
        <p:txBody>
          <a:bodyPr/>
          <a:lstStyle/>
          <a:p>
            <a:endParaRPr lang="es-CO"/>
          </a:p>
        </p:txBody>
      </p:sp>
      <p:sp>
        <p:nvSpPr>
          <p:cNvPr id="4" name="!!ball"/>
          <p:cNvSpPr/>
          <p:nvPr/>
        </p:nvSpPr>
        <p:spPr>
          <a:xfrm>
            <a:off x="9921240" y="3154680"/>
            <a:ext cx="365760" cy="365760"/>
          </a:xfrm>
          <a:prstGeom prst="ellipse">
            <a:avLst/>
          </a:prstGeom>
          <a:solidFill>
            <a:srgbClr val="F2B705"/>
          </a:solidFill>
          <a:ln w="12700">
            <a:solidFill>
              <a:srgbClr val="F2B705"/>
            </a:solidFill>
            <a:prstDash val="solid"/>
          </a:ln>
        </p:spPr>
        <p:txBody>
          <a:bodyPr/>
          <a:lstStyle/>
          <a:p>
            <a:endParaRPr lang="es-CO"/>
          </a:p>
        </p:txBody>
      </p:sp>
      <p:sp>
        <p:nvSpPr>
          <p:cNvPr id="5" name="Shape 3"/>
          <p:cNvSpPr/>
          <p:nvPr/>
        </p:nvSpPr>
        <p:spPr>
          <a:xfrm>
            <a:off x="10104120" y="0"/>
            <a:ext cx="0" cy="960120"/>
          </a:xfrm>
          <a:prstGeom prst="line">
            <a:avLst/>
          </a:prstGeom>
          <a:noFill/>
          <a:ln w="38100">
            <a:solidFill>
              <a:srgbClr val="1F8A5B"/>
            </a:solidFill>
            <a:prstDash val="solid"/>
          </a:ln>
        </p:spPr>
        <p:txBody>
          <a:bodyPr/>
          <a:lstStyle/>
          <a:p>
            <a:endParaRPr lang="es-CO"/>
          </a:p>
        </p:txBody>
      </p:sp>
      <p:sp>
        <p:nvSpPr>
          <p:cNvPr id="6" name="Shape 4"/>
          <p:cNvSpPr/>
          <p:nvPr/>
        </p:nvSpPr>
        <p:spPr>
          <a:xfrm>
            <a:off x="10104120" y="5715000"/>
            <a:ext cx="0" cy="1143000"/>
          </a:xfrm>
          <a:prstGeom prst="line">
            <a:avLst/>
          </a:prstGeom>
          <a:noFill/>
          <a:ln w="38100">
            <a:solidFill>
              <a:srgbClr val="1F8A5B"/>
            </a:solidFill>
            <a:prstDash val="solid"/>
          </a:ln>
        </p:spPr>
        <p:txBody>
          <a:bodyPr/>
          <a:lstStyle/>
          <a:p>
            <a:endParaRPr lang="es-CO"/>
          </a:p>
        </p:txBody>
      </p:sp>
      <p:sp>
        <p:nvSpPr>
          <p:cNvPr id="7" name="Text 5"/>
          <p:cNvSpPr txBox="1"/>
          <p:nvPr/>
        </p:nvSpPr>
        <p:spPr>
          <a:xfrm>
            <a:off x="731520" y="1234440"/>
            <a:ext cx="6949440" cy="365760"/>
          </a:xfrm>
          <a:prstGeom prst="rect">
            <a:avLst/>
          </a:prstGeom>
          <a:noFill/>
          <a:ln/>
        </p:spPr>
        <p:txBody>
          <a:bodyPr wrap="square" lIns="0" tIns="0" rIns="0" bIns="0" rtlCol="0" anchor="ctr"/>
          <a:lstStyle/>
          <a:p>
            <a:pPr marL="0" indent="0">
              <a:buNone/>
            </a:pPr>
            <a:r>
              <a:rPr lang="en-US" sz="1300" b="1" kern="0" spc="200" dirty="0">
                <a:solidFill>
                  <a:schemeClr val="accent2"/>
                </a:solidFill>
              </a:rPr>
              <a:t>PROYECTO 2 · EVALUACIÓN DE PRONÓSTICOS PROBABILÍSTICOS</a:t>
            </a:r>
            <a:endParaRPr lang="en-US" sz="1300" dirty="0"/>
          </a:p>
        </p:txBody>
      </p:sp>
      <p:sp>
        <p:nvSpPr>
          <p:cNvPr id="8" name="Text 0"/>
          <p:cNvSpPr>
            <a:spLocks noGrp="1"/>
          </p:cNvSpPr>
          <p:nvPr>
            <p:ph type="title" idx="100" hasCustomPrompt="1"/>
          </p:nvPr>
        </p:nvSpPr>
        <p:spPr>
          <a:xfrm>
            <a:off x="731520" y="1874520"/>
            <a:ext cx="6949440" cy="1920240"/>
          </a:xfrm>
          <a:prstGeom prst="rect">
            <a:avLst/>
          </a:prstGeom>
          <a:noFill/>
          <a:ln/>
        </p:spPr>
        <p:txBody>
          <a:bodyPr wrap="square" lIns="0" tIns="0" rIns="0" bIns="0" rtlCol="0" anchor="b"/>
          <a:lstStyle/>
          <a:p>
            <a:pPr marL="0" indent="0" algn="l">
              <a:buNone/>
            </a:pPr>
            <a:r>
              <a:rPr lang="en-US" sz="4600" b="1" dirty="0">
                <a:solidFill>
                  <a:schemeClr val="bg1"/>
                </a:solidFill>
              </a:rPr>
              <a:t>¿Le atinan las casas de apuestas?</a:t>
            </a:r>
            <a:endParaRPr lang="en-US" sz="4600" dirty="0"/>
          </a:p>
        </p:txBody>
      </p:sp>
      <p:sp>
        <p:nvSpPr>
          <p:cNvPr id="9" name="Text 0"/>
          <p:cNvSpPr>
            <a:spLocks noGrp="1"/>
          </p:cNvSpPr>
          <p:nvPr>
            <p:ph type="body" idx="101" hasCustomPrompt="1"/>
          </p:nvPr>
        </p:nvSpPr>
        <p:spPr>
          <a:xfrm>
            <a:off x="731520" y="3977640"/>
            <a:ext cx="6766560" cy="822960"/>
          </a:xfrm>
          <a:prstGeom prst="rect">
            <a:avLst/>
          </a:prstGeom>
          <a:noFill/>
          <a:ln/>
        </p:spPr>
        <p:txBody>
          <a:bodyPr wrap="square" lIns="0" tIns="0" rIns="0" bIns="0" rtlCol="0" anchor="t"/>
          <a:lstStyle/>
          <a:p>
            <a:pPr marL="0" indent="0" algn="l">
              <a:buNone/>
            </a:pPr>
            <a:r>
              <a:rPr lang="en-US" sz="2000" dirty="0">
                <a:solidFill>
                  <a:schemeClr val="bg2"/>
                </a:solidFill>
              </a:rPr>
              <a:t>Calibración de las cuotas en Premier League y LaLiga, y el efecto del público local</a:t>
            </a:r>
            <a:endParaRPr lang="en-US" sz="2000" dirty="0"/>
          </a:p>
        </p:txBody>
      </p:sp>
      <p:sp>
        <p:nvSpPr>
          <p:cNvPr id="10" name="Text 8"/>
          <p:cNvSpPr txBox="1"/>
          <p:nvPr/>
        </p:nvSpPr>
        <p:spPr>
          <a:xfrm>
            <a:off x="731520" y="5257800"/>
            <a:ext cx="6949440" cy="731520"/>
          </a:xfrm>
          <a:prstGeom prst="rect">
            <a:avLst/>
          </a:prstGeom>
          <a:noFill/>
          <a:ln/>
        </p:spPr>
        <p:txBody>
          <a:bodyPr wrap="square" lIns="0" tIns="0" rIns="0" bIns="0" rtlCol="0" anchor="ctr"/>
          <a:lstStyle/>
          <a:p>
            <a:pPr marL="0" indent="0">
              <a:buNone/>
            </a:pPr>
            <a:r>
              <a:rPr lang="en-US" sz="1500" b="1" dirty="0">
                <a:solidFill>
                  <a:schemeClr val="bg1"/>
                </a:solidFill>
              </a:rPr>
              <a:t>Andrés Beleño · Mauricio Serrano · Carlos Cadena</a:t>
            </a:r>
            <a:endParaRPr lang="en-US" sz="1500" dirty="0"/>
          </a:p>
          <a:p>
            <a:pPr marL="0" indent="0">
              <a:buNone/>
            </a:pPr>
            <a:r>
              <a:rPr lang="en-US" sz="1500" dirty="0">
                <a:solidFill>
                  <a:schemeClr val="bg2"/>
                </a:solidFill>
              </a:rPr>
              <a:t>Estadística Industrial · Universidad del Magdalena · 2026-II</a:t>
            </a:r>
            <a:endParaRPr lang="en-US" sz="15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68680"/>
          </a:xfrm>
          <a:prstGeom prst="rect">
            <a:avLst/>
          </a:prstGeom>
          <a:noFill/>
          <a:ln/>
        </p:spPr>
        <p:txBody>
          <a:bodyPr wrap="square" lIns="0" tIns="0" rIns="0" bIns="0" rtlCol="0" anchor="ctr"/>
          <a:lstStyle/>
          <a:p>
            <a:pPr marL="0" indent="0" algn="l">
              <a:buNone/>
            </a:pPr>
            <a:r>
              <a:rPr lang="en-US" sz="3400" b="1" dirty="0">
                <a:solidFill>
                  <a:schemeClr val="tx2"/>
                </a:solidFill>
              </a:rPr>
              <a:t>Auditamos pronósticos, no apostamos</a:t>
            </a:r>
            <a:endParaRPr lang="en-US" sz="3400" dirty="0"/>
          </a:p>
        </p:txBody>
      </p:sp>
      <p:sp>
        <p:nvSpPr>
          <p:cNvPr id="3" name="Shape 1"/>
          <p:cNvSpPr/>
          <p:nvPr/>
        </p:nvSpPr>
        <p:spPr>
          <a:xfrm>
            <a:off x="548640" y="128016"/>
            <a:ext cx="969264" cy="274320"/>
          </a:xfrm>
          <a:prstGeom prst="roundRect">
            <a:avLst>
              <a:gd name="adj" fmla="val 50000"/>
            </a:avLst>
          </a:prstGeom>
          <a:solidFill>
            <a:srgbClr val="5E6F68"/>
          </a:solidFill>
          <a:ln w="12700">
            <a:solidFill>
              <a:srgbClr val="5E6F68"/>
            </a:solidFill>
            <a:prstDash val="solid"/>
          </a:ln>
        </p:spPr>
        <p:txBody>
          <a:bodyPr/>
          <a:lstStyle/>
          <a:p>
            <a:endParaRPr lang="es-CO"/>
          </a:p>
        </p:txBody>
      </p:sp>
      <p:sp>
        <p:nvSpPr>
          <p:cNvPr id="4" name="Text 2"/>
          <p:cNvSpPr txBox="1"/>
          <p:nvPr/>
        </p:nvSpPr>
        <p:spPr>
          <a:xfrm>
            <a:off x="548640" y="128016"/>
            <a:ext cx="969264" cy="274320"/>
          </a:xfrm>
          <a:prstGeom prst="rect">
            <a:avLst/>
          </a:prstGeom>
          <a:noFill/>
          <a:ln/>
        </p:spPr>
        <p:txBody>
          <a:bodyPr wrap="square" lIns="0" tIns="0" rIns="0" bIns="0" rtlCol="0" anchor="ctr"/>
          <a:lstStyle/>
          <a:p>
            <a:pPr marL="0" indent="0" algn="ctr">
              <a:buNone/>
            </a:pPr>
            <a:r>
              <a:rPr lang="en-US" sz="1050" b="1" kern="0" spc="100" dirty="0">
                <a:solidFill>
                  <a:schemeClr val="bg1"/>
                </a:solidFill>
              </a:rPr>
              <a:t>CONTEXTO</a:t>
            </a:r>
            <a:endParaRPr lang="en-US" sz="1050" dirty="0"/>
          </a:p>
        </p:txBody>
      </p:sp>
      <p:sp>
        <p:nvSpPr>
          <p:cNvPr id="5" name="!!panel"/>
          <p:cNvSpPr/>
          <p:nvPr/>
        </p:nvSpPr>
        <p:spPr>
          <a:xfrm>
            <a:off x="7040880" y="1463040"/>
            <a:ext cx="4572000" cy="4663440"/>
          </a:xfrm>
          <a:prstGeom prst="roundRect">
            <a:avLst>
              <a:gd name="adj" fmla="val 3600"/>
            </a:avLst>
          </a:prstGeom>
          <a:solidFill>
            <a:srgbClr val="0C2B22"/>
          </a:solidFill>
          <a:ln w="12700">
            <a:solidFill>
              <a:srgbClr val="0C2B22"/>
            </a:solidFill>
            <a:prstDash val="solid"/>
          </a:ln>
        </p:spPr>
        <p:txBody>
          <a:bodyPr/>
          <a:lstStyle/>
          <a:p>
            <a:endParaRPr lang="es-CO"/>
          </a:p>
        </p:txBody>
      </p:sp>
      <p:sp>
        <p:nvSpPr>
          <p:cNvPr id="6" name="!!ring"/>
          <p:cNvSpPr/>
          <p:nvPr/>
        </p:nvSpPr>
        <p:spPr>
          <a:xfrm>
            <a:off x="10972800" y="384048"/>
            <a:ext cx="731520" cy="731520"/>
          </a:xfrm>
          <a:prstGeom prst="ellipse">
            <a:avLst/>
          </a:prstGeom>
          <a:solidFill>
            <a:srgbClr val="FFFFFF">
              <a:alpha val="0"/>
            </a:srgbClr>
          </a:solidFill>
          <a:ln w="31750">
            <a:solidFill>
              <a:srgbClr val="1F8A5B"/>
            </a:solidFill>
            <a:prstDash val="solid"/>
          </a:ln>
        </p:spPr>
        <p:txBody>
          <a:bodyPr/>
          <a:lstStyle/>
          <a:p>
            <a:endParaRPr lang="es-CO"/>
          </a:p>
        </p:txBody>
      </p:sp>
      <p:sp>
        <p:nvSpPr>
          <p:cNvPr id="7" name="!!ball"/>
          <p:cNvSpPr/>
          <p:nvPr/>
        </p:nvSpPr>
        <p:spPr>
          <a:xfrm>
            <a:off x="11256264" y="667512"/>
            <a:ext cx="164592" cy="164592"/>
          </a:xfrm>
          <a:prstGeom prst="ellipse">
            <a:avLst/>
          </a:prstGeom>
          <a:solidFill>
            <a:srgbClr val="F2B705"/>
          </a:solidFill>
          <a:ln w="12700">
            <a:solidFill>
              <a:srgbClr val="F2B705"/>
            </a:solidFill>
            <a:prstDash val="solid"/>
          </a:ln>
        </p:spPr>
        <p:txBody>
          <a:bodyPr/>
          <a:lstStyle/>
          <a:p>
            <a:endParaRPr lang="es-CO"/>
          </a:p>
        </p:txBody>
      </p:sp>
      <p:sp>
        <p:nvSpPr>
          <p:cNvPr id="8" name="Text 6"/>
          <p:cNvSpPr txBox="1"/>
          <p:nvPr/>
        </p:nvSpPr>
        <p:spPr>
          <a:xfrm>
            <a:off x="548640" y="1600200"/>
            <a:ext cx="6035040" cy="2743200"/>
          </a:xfrm>
          <a:prstGeom prst="rect">
            <a:avLst/>
          </a:prstGeom>
          <a:noFill/>
          <a:ln/>
        </p:spPr>
        <p:txBody>
          <a:bodyPr wrap="square" lIns="0" tIns="0" rIns="0" bIns="0" rtlCol="0" anchor="t"/>
          <a:lstStyle/>
          <a:p>
            <a:pPr marL="0" indent="0">
              <a:spcAft>
                <a:spcPts val="600"/>
              </a:spcAft>
              <a:buNone/>
            </a:pPr>
            <a:r>
              <a:rPr lang="en-US" sz="1800" dirty="0">
                <a:solidFill>
                  <a:schemeClr val="tx1"/>
                </a:solidFill>
              </a:rPr>
              <a:t>Ejercicio retrospectivo con datos históricos ya cerrados y fines académicos.</a:t>
            </a:r>
            <a:endParaRPr lang="en-US" sz="1800" dirty="0"/>
          </a:p>
          <a:p>
            <a:pPr marL="0" indent="0">
              <a:spcAft>
                <a:spcPts val="600"/>
              </a:spcAft>
              <a:buNone/>
            </a:pPr>
            <a:r>
              <a:rPr lang="en-US" sz="1800" dirty="0">
                <a:solidFill>
                  <a:schemeClr val="tx1"/>
                </a:solidFill>
              </a:rPr>
              <a:t>No es una estrategia, ni un sistema de selección, ni una recomendación de apuesta.</a:t>
            </a:r>
            <a:endParaRPr lang="en-US" sz="1800" dirty="0"/>
          </a:p>
          <a:p>
            <a:pPr marL="0" indent="0">
              <a:spcAft>
                <a:spcPts val="600"/>
              </a:spcAft>
              <a:buNone/>
            </a:pPr>
            <a:r>
              <a:rPr lang="en-US" sz="1800" dirty="0">
                <a:solidFill>
                  <a:schemeClr val="tx1"/>
                </a:solidFill>
              </a:rPr>
              <a:t>El margen de la casa hace que apostar de forma sostenida tenga valor esperado negativo. No es suerte ni habilidad: es la estructura del precio.</a:t>
            </a:r>
            <a:endParaRPr lang="en-US" sz="1800" dirty="0"/>
          </a:p>
        </p:txBody>
      </p:sp>
      <p:sp>
        <p:nvSpPr>
          <p:cNvPr id="9" name="Shape 7"/>
          <p:cNvSpPr/>
          <p:nvPr/>
        </p:nvSpPr>
        <p:spPr>
          <a:xfrm>
            <a:off x="548640" y="4617720"/>
            <a:ext cx="822960" cy="822960"/>
          </a:xfrm>
          <a:prstGeom prst="ellipse">
            <a:avLst/>
          </a:prstGeom>
          <a:solidFill>
            <a:srgbClr val="1F8A5B"/>
          </a:solidFill>
          <a:ln w="12700">
            <a:solidFill>
              <a:srgbClr val="1F8A5B"/>
            </a:solidFill>
            <a:prstDash val="solid"/>
          </a:ln>
        </p:spPr>
        <p:txBody>
          <a:bodyPr/>
          <a:lstStyle/>
          <a:p>
            <a:endParaRPr lang="es-CO"/>
          </a:p>
        </p:txBody>
      </p:sp>
      <p:pic>
        <p:nvPicPr>
          <p:cNvPr id="10" name="Image 0" descr="preencoded.png"/>
          <p:cNvPicPr>
            <a:picLocks noChangeAspect="1"/>
          </p:cNvPicPr>
          <p:nvPr/>
        </p:nvPicPr>
        <p:blipFill>
          <a:blip r:embed="rId3"/>
          <a:stretch>
            <a:fillRect/>
          </a:stretch>
        </p:blipFill>
        <p:spPr>
          <a:xfrm>
            <a:off x="762610" y="4831690"/>
            <a:ext cx="395021" cy="395021"/>
          </a:xfrm>
          <a:prstGeom prst="rect">
            <a:avLst/>
          </a:prstGeom>
        </p:spPr>
      </p:pic>
      <p:sp>
        <p:nvSpPr>
          <p:cNvPr id="11" name="Text 8"/>
          <p:cNvSpPr txBox="1"/>
          <p:nvPr/>
        </p:nvSpPr>
        <p:spPr>
          <a:xfrm>
            <a:off x="1554480" y="4617720"/>
            <a:ext cx="5120640" cy="868680"/>
          </a:xfrm>
          <a:prstGeom prst="rect">
            <a:avLst/>
          </a:prstGeom>
          <a:noFill/>
          <a:ln/>
        </p:spPr>
        <p:txBody>
          <a:bodyPr wrap="square" lIns="0" tIns="0" rIns="0" bIns="0" rtlCol="0" anchor="ctr"/>
          <a:lstStyle/>
          <a:p>
            <a:pPr marL="0" indent="0">
              <a:spcAft>
                <a:spcPts val="600"/>
              </a:spcAft>
              <a:buNone/>
            </a:pPr>
            <a:r>
              <a:rPr lang="en-US" sz="1500" i="1" dirty="0">
                <a:solidFill>
                  <a:srgbClr val="5E6F68"/>
                </a:solidFill>
              </a:rPr>
              <a:t>Un mercado bien calibrado es justamente aquel en el que no existe ganancia esperada positiva.</a:t>
            </a:r>
            <a:endParaRPr lang="en-US" sz="1500" dirty="0"/>
          </a:p>
        </p:txBody>
      </p:sp>
      <p:sp>
        <p:nvSpPr>
          <p:cNvPr id="12" name="Text 9"/>
          <p:cNvSpPr txBox="1"/>
          <p:nvPr/>
        </p:nvSpPr>
        <p:spPr>
          <a:xfrm>
            <a:off x="7406640" y="1783080"/>
            <a:ext cx="3840480" cy="822960"/>
          </a:xfrm>
          <a:prstGeom prst="rect">
            <a:avLst/>
          </a:prstGeom>
          <a:noFill/>
          <a:ln/>
        </p:spPr>
        <p:txBody>
          <a:bodyPr wrap="square" lIns="0" tIns="0" rIns="0" bIns="0" rtlCol="0" anchor="ctr"/>
          <a:lstStyle/>
          <a:p>
            <a:pPr marL="0" indent="0">
              <a:buNone/>
            </a:pPr>
            <a:r>
              <a:rPr lang="en-US" sz="1500" dirty="0">
                <a:solidFill>
                  <a:schemeClr val="bg2"/>
                </a:solidFill>
              </a:rPr>
              <a:t>Por cada $100 apostados de forma sostenida, la casa retiene en promedio</a:t>
            </a:r>
            <a:endParaRPr lang="en-US" sz="1500" dirty="0"/>
          </a:p>
        </p:txBody>
      </p:sp>
      <p:sp>
        <p:nvSpPr>
          <p:cNvPr id="13" name="Text 10"/>
          <p:cNvSpPr txBox="1"/>
          <p:nvPr/>
        </p:nvSpPr>
        <p:spPr>
          <a:xfrm>
            <a:off x="7406640" y="2606040"/>
            <a:ext cx="1828800" cy="868680"/>
          </a:xfrm>
          <a:prstGeom prst="rect">
            <a:avLst/>
          </a:prstGeom>
          <a:noFill/>
          <a:ln/>
        </p:spPr>
        <p:txBody>
          <a:bodyPr wrap="square" lIns="0" tIns="0" rIns="0" bIns="0" rtlCol="0" anchor="b"/>
          <a:lstStyle/>
          <a:p>
            <a:pPr marL="0" indent="0">
              <a:buNone/>
            </a:pPr>
            <a:r>
              <a:rPr lang="en-US" sz="4000" b="1" dirty="0">
                <a:solidFill>
                  <a:schemeClr val="accent2"/>
                </a:solidFill>
                <a:latin typeface="Arial" pitchFamily="34" charset="0"/>
                <a:ea typeface="Arial" pitchFamily="34" charset="-122"/>
                <a:cs typeface="Arial" pitchFamily="34" charset="-120"/>
              </a:rPr>
              <a:t>$5,2</a:t>
            </a:r>
            <a:endParaRPr lang="en-US" sz="4000" dirty="0"/>
          </a:p>
        </p:txBody>
      </p:sp>
      <p:sp>
        <p:nvSpPr>
          <p:cNvPr id="14" name="Text 11"/>
          <p:cNvSpPr txBox="1"/>
          <p:nvPr/>
        </p:nvSpPr>
        <p:spPr>
          <a:xfrm>
            <a:off x="7406640" y="3520440"/>
            <a:ext cx="1828800" cy="685800"/>
          </a:xfrm>
          <a:prstGeom prst="rect">
            <a:avLst/>
          </a:prstGeom>
          <a:noFill/>
          <a:ln/>
        </p:spPr>
        <p:txBody>
          <a:bodyPr wrap="square" lIns="0" tIns="0" rIns="0" bIns="0" rtlCol="0" anchor="t"/>
          <a:lstStyle/>
          <a:p>
            <a:pPr marL="0" indent="0">
              <a:buNone/>
            </a:pPr>
            <a:r>
              <a:rPr lang="en-US" sz="1400" dirty="0">
                <a:solidFill>
                  <a:schemeClr val="bg2"/>
                </a:solidFill>
              </a:rPr>
              <a:t>Bet365 (margen medio 5,5 %)</a:t>
            </a:r>
            <a:endParaRPr lang="en-US" sz="1400" dirty="0"/>
          </a:p>
        </p:txBody>
      </p:sp>
      <p:sp>
        <p:nvSpPr>
          <p:cNvPr id="15" name="Text 12"/>
          <p:cNvSpPr txBox="1"/>
          <p:nvPr/>
        </p:nvSpPr>
        <p:spPr>
          <a:xfrm>
            <a:off x="9418320" y="2606040"/>
            <a:ext cx="1828800" cy="868680"/>
          </a:xfrm>
          <a:prstGeom prst="rect">
            <a:avLst/>
          </a:prstGeom>
          <a:noFill/>
          <a:ln/>
        </p:spPr>
        <p:txBody>
          <a:bodyPr wrap="square" lIns="0" tIns="0" rIns="0" bIns="0" rtlCol="0" anchor="b"/>
          <a:lstStyle/>
          <a:p>
            <a:pPr marL="0" indent="0">
              <a:buNone/>
            </a:pPr>
            <a:r>
              <a:rPr lang="en-US" sz="4000" b="1" dirty="0">
                <a:solidFill>
                  <a:schemeClr val="bg1"/>
                </a:solidFill>
                <a:latin typeface="Arial" pitchFamily="34" charset="0"/>
                <a:ea typeface="Arial" pitchFamily="34" charset="-122"/>
                <a:cs typeface="Arial" pitchFamily="34" charset="-120"/>
              </a:rPr>
              <a:t>$2,7</a:t>
            </a:r>
            <a:endParaRPr lang="en-US" sz="4000" dirty="0"/>
          </a:p>
        </p:txBody>
      </p:sp>
      <p:sp>
        <p:nvSpPr>
          <p:cNvPr id="16" name="Text 13"/>
          <p:cNvSpPr txBox="1"/>
          <p:nvPr/>
        </p:nvSpPr>
        <p:spPr>
          <a:xfrm>
            <a:off x="9418320" y="3520440"/>
            <a:ext cx="1828800" cy="685800"/>
          </a:xfrm>
          <a:prstGeom prst="rect">
            <a:avLst/>
          </a:prstGeom>
          <a:noFill/>
          <a:ln/>
        </p:spPr>
        <p:txBody>
          <a:bodyPr wrap="square" lIns="0" tIns="0" rIns="0" bIns="0" rtlCol="0" anchor="t"/>
          <a:lstStyle/>
          <a:p>
            <a:pPr marL="0" indent="0">
              <a:buNone/>
            </a:pPr>
            <a:r>
              <a:rPr lang="en-US" sz="1400" dirty="0">
                <a:solidFill>
                  <a:schemeClr val="bg2"/>
                </a:solidFill>
              </a:rPr>
              <a:t>Pinnacle (margen medio 2,8 %)</a:t>
            </a:r>
            <a:endParaRPr lang="en-US" sz="1400" dirty="0"/>
          </a:p>
        </p:txBody>
      </p:sp>
      <p:sp>
        <p:nvSpPr>
          <p:cNvPr id="17" name="Text 14"/>
          <p:cNvSpPr txBox="1"/>
          <p:nvPr/>
        </p:nvSpPr>
        <p:spPr>
          <a:xfrm>
            <a:off x="7406640" y="4892040"/>
            <a:ext cx="3840480" cy="822960"/>
          </a:xfrm>
          <a:prstGeom prst="rect">
            <a:avLst/>
          </a:prstGeom>
          <a:noFill/>
          <a:ln/>
        </p:spPr>
        <p:txBody>
          <a:bodyPr wrap="square" lIns="0" tIns="0" rIns="0" bIns="0" rtlCol="0" anchor="ctr"/>
          <a:lstStyle/>
          <a:p>
            <a:pPr marL="0" indent="0">
              <a:buNone/>
            </a:pPr>
            <a:r>
              <a:rPr lang="en-US" sz="1200" dirty="0">
                <a:solidFill>
                  <a:schemeClr val="bg2"/>
                </a:solidFill>
              </a:rPr>
              <a:t>Cálculo: 1 − 1/S con la suma media de probabilidades implícitas, cuotas de cierre 2022/23–2024/25.</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F68"/>
                </a:solidFill>
              </a:defRPr>
            </a:lvl1pPr>
          </a:lstStyle>
          <a:p>
            <a:pPr algn="r"/>
            <a:fld id="{F7021451-1387-4CA6-816F-3879F97B5CBC}" type="slidenum">
              <a:rPr lang="en-US" b="0"/>
              <a:t>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68680"/>
          </a:xfrm>
          <a:prstGeom prst="rect">
            <a:avLst/>
          </a:prstGeom>
          <a:noFill/>
          <a:ln/>
        </p:spPr>
        <p:txBody>
          <a:bodyPr wrap="square" lIns="0" tIns="0" rIns="0" bIns="0" rtlCol="0" anchor="ctr"/>
          <a:lstStyle/>
          <a:p>
            <a:pPr marL="0" indent="0" algn="l">
              <a:buNone/>
            </a:pPr>
            <a:r>
              <a:rPr lang="en-US" sz="3400" b="1" dirty="0">
                <a:solidFill>
                  <a:schemeClr val="tx2"/>
                </a:solidFill>
              </a:rPr>
              <a:t>Cuatro preguntas</a:t>
            </a:r>
            <a:endParaRPr lang="en-US" sz="3400" dirty="0"/>
          </a:p>
        </p:txBody>
      </p:sp>
      <p:sp>
        <p:nvSpPr>
          <p:cNvPr id="3" name="Shape 1"/>
          <p:cNvSpPr/>
          <p:nvPr/>
        </p:nvSpPr>
        <p:spPr>
          <a:xfrm>
            <a:off x="548640" y="128016"/>
            <a:ext cx="969264" cy="274320"/>
          </a:xfrm>
          <a:prstGeom prst="roundRect">
            <a:avLst>
              <a:gd name="adj" fmla="val 50000"/>
            </a:avLst>
          </a:prstGeom>
          <a:solidFill>
            <a:srgbClr val="5E6F68"/>
          </a:solidFill>
          <a:ln w="12700">
            <a:solidFill>
              <a:srgbClr val="5E6F68"/>
            </a:solidFill>
            <a:prstDash val="solid"/>
          </a:ln>
        </p:spPr>
        <p:txBody>
          <a:bodyPr/>
          <a:lstStyle/>
          <a:p>
            <a:endParaRPr lang="es-CO"/>
          </a:p>
        </p:txBody>
      </p:sp>
      <p:sp>
        <p:nvSpPr>
          <p:cNvPr id="4" name="Text 2"/>
          <p:cNvSpPr txBox="1"/>
          <p:nvPr/>
        </p:nvSpPr>
        <p:spPr>
          <a:xfrm>
            <a:off x="548640" y="128016"/>
            <a:ext cx="969264" cy="274320"/>
          </a:xfrm>
          <a:prstGeom prst="rect">
            <a:avLst/>
          </a:prstGeom>
          <a:noFill/>
          <a:ln/>
        </p:spPr>
        <p:txBody>
          <a:bodyPr wrap="square" lIns="0" tIns="0" rIns="0" bIns="0" rtlCol="0" anchor="ctr"/>
          <a:lstStyle/>
          <a:p>
            <a:pPr marL="0" indent="0" algn="ctr">
              <a:buNone/>
            </a:pPr>
            <a:r>
              <a:rPr lang="en-US" sz="1050" b="1" kern="0" spc="100" dirty="0">
                <a:solidFill>
                  <a:schemeClr val="bg1"/>
                </a:solidFill>
              </a:rPr>
              <a:t>CONTEXTO</a:t>
            </a:r>
            <a:endParaRPr lang="en-US" sz="1050" dirty="0"/>
          </a:p>
        </p:txBody>
      </p:sp>
      <p:sp>
        <p:nvSpPr>
          <p:cNvPr id="5" name="!!panel"/>
          <p:cNvSpPr/>
          <p:nvPr/>
        </p:nvSpPr>
        <p:spPr>
          <a:xfrm>
            <a:off x="548640" y="1463040"/>
            <a:ext cx="5486400" cy="2240280"/>
          </a:xfrm>
          <a:prstGeom prst="roundRect">
            <a:avLst>
              <a:gd name="adj" fmla="val 7347"/>
            </a:avLst>
          </a:prstGeom>
          <a:solidFill>
            <a:srgbClr val="0C2B22"/>
          </a:solidFill>
          <a:ln w="12700">
            <a:solidFill>
              <a:srgbClr val="0C2B22"/>
            </a:solidFill>
            <a:prstDash val="solid"/>
          </a:ln>
        </p:spPr>
        <p:txBody>
          <a:bodyPr/>
          <a:lstStyle/>
          <a:p>
            <a:endParaRPr lang="es-CO"/>
          </a:p>
        </p:txBody>
      </p:sp>
      <p:sp>
        <p:nvSpPr>
          <p:cNvPr id="6" name="!!ring"/>
          <p:cNvSpPr/>
          <p:nvPr/>
        </p:nvSpPr>
        <p:spPr>
          <a:xfrm>
            <a:off x="10972800" y="384048"/>
            <a:ext cx="731520" cy="731520"/>
          </a:xfrm>
          <a:prstGeom prst="ellipse">
            <a:avLst/>
          </a:prstGeom>
          <a:solidFill>
            <a:srgbClr val="FFFFFF">
              <a:alpha val="0"/>
            </a:srgbClr>
          </a:solidFill>
          <a:ln w="31750">
            <a:solidFill>
              <a:srgbClr val="1F8A5B"/>
            </a:solidFill>
            <a:prstDash val="solid"/>
          </a:ln>
        </p:spPr>
        <p:txBody>
          <a:bodyPr/>
          <a:lstStyle/>
          <a:p>
            <a:endParaRPr lang="es-CO"/>
          </a:p>
        </p:txBody>
      </p:sp>
      <p:sp>
        <p:nvSpPr>
          <p:cNvPr id="7" name="!!ball"/>
          <p:cNvSpPr/>
          <p:nvPr/>
        </p:nvSpPr>
        <p:spPr>
          <a:xfrm>
            <a:off x="11256264" y="667512"/>
            <a:ext cx="164592" cy="164592"/>
          </a:xfrm>
          <a:prstGeom prst="ellipse">
            <a:avLst/>
          </a:prstGeom>
          <a:solidFill>
            <a:srgbClr val="F2B705"/>
          </a:solidFill>
          <a:ln w="12700">
            <a:solidFill>
              <a:srgbClr val="F2B705"/>
            </a:solidFill>
            <a:prstDash val="solid"/>
          </a:ln>
        </p:spPr>
        <p:txBody>
          <a:bodyPr/>
          <a:lstStyle/>
          <a:p>
            <a:endParaRPr lang="es-CO"/>
          </a:p>
        </p:txBody>
      </p:sp>
      <p:sp>
        <p:nvSpPr>
          <p:cNvPr id="8" name="Shape 6"/>
          <p:cNvSpPr/>
          <p:nvPr/>
        </p:nvSpPr>
        <p:spPr>
          <a:xfrm>
            <a:off x="822960" y="1737360"/>
            <a:ext cx="685800" cy="685800"/>
          </a:xfrm>
          <a:prstGeom prst="ellipse">
            <a:avLst/>
          </a:prstGeom>
          <a:solidFill>
            <a:srgbClr val="1F8A5B"/>
          </a:solidFill>
          <a:ln w="12700">
            <a:solidFill>
              <a:srgbClr val="1F8A5B"/>
            </a:solidFill>
            <a:prstDash val="solid"/>
          </a:ln>
        </p:spPr>
        <p:txBody>
          <a:bodyPr/>
          <a:lstStyle/>
          <a:p>
            <a:endParaRPr lang="es-CO"/>
          </a:p>
        </p:txBody>
      </p:sp>
      <p:pic>
        <p:nvPicPr>
          <p:cNvPr id="9" name="Image 0" descr="preencoded.png"/>
          <p:cNvPicPr>
            <a:picLocks noChangeAspect="1"/>
          </p:cNvPicPr>
          <p:nvPr/>
        </p:nvPicPr>
        <p:blipFill>
          <a:blip r:embed="rId3"/>
          <a:stretch>
            <a:fillRect/>
          </a:stretch>
        </p:blipFill>
        <p:spPr>
          <a:xfrm>
            <a:off x="1001268" y="1915668"/>
            <a:ext cx="329184" cy="329184"/>
          </a:xfrm>
          <a:prstGeom prst="rect">
            <a:avLst/>
          </a:prstGeom>
        </p:spPr>
      </p:pic>
      <p:sp>
        <p:nvSpPr>
          <p:cNvPr id="10" name="Text 7"/>
          <p:cNvSpPr txBox="1"/>
          <p:nvPr/>
        </p:nvSpPr>
        <p:spPr>
          <a:xfrm>
            <a:off x="1691640" y="1737360"/>
            <a:ext cx="4023360" cy="685800"/>
          </a:xfrm>
          <a:prstGeom prst="rect">
            <a:avLst/>
          </a:prstGeom>
          <a:noFill/>
          <a:ln/>
        </p:spPr>
        <p:txBody>
          <a:bodyPr wrap="square" lIns="0" tIns="0" rIns="0" bIns="0" rtlCol="0" anchor="ctr"/>
          <a:lstStyle/>
          <a:p>
            <a:pPr marL="0" indent="0">
              <a:buNone/>
            </a:pPr>
            <a:r>
              <a:rPr lang="en-US" sz="1800" b="1" dirty="0">
                <a:solidFill>
                  <a:schemeClr val="bg1"/>
                </a:solidFill>
              </a:rPr>
              <a:t>Principal</a:t>
            </a:r>
            <a:endParaRPr lang="en-US" sz="1800" dirty="0"/>
          </a:p>
        </p:txBody>
      </p:sp>
      <p:sp>
        <p:nvSpPr>
          <p:cNvPr id="11" name="Text 8"/>
          <p:cNvSpPr txBox="1"/>
          <p:nvPr/>
        </p:nvSpPr>
        <p:spPr>
          <a:xfrm>
            <a:off x="822960" y="2560320"/>
            <a:ext cx="4892040" cy="1005840"/>
          </a:xfrm>
          <a:prstGeom prst="rect">
            <a:avLst/>
          </a:prstGeom>
          <a:noFill/>
          <a:ln/>
        </p:spPr>
        <p:txBody>
          <a:bodyPr wrap="square" lIns="0" tIns="0" rIns="0" bIns="0" rtlCol="0" anchor="t"/>
          <a:lstStyle/>
          <a:p>
            <a:pPr marL="0" indent="0">
              <a:buNone/>
            </a:pPr>
            <a:r>
              <a:rPr lang="en-US" sz="1500" dirty="0">
                <a:solidFill>
                  <a:schemeClr val="bg2"/>
                </a:solidFill>
              </a:rPr>
              <a:t>¿Qué tan bien calibradas están las probabilidades de local, empate y visitante de Bet365 y Pinnacle (2022/23–2024/25), y cuánto depende el sesgo favorito–longshot del método para quitar el margen?</a:t>
            </a:r>
            <a:endParaRPr lang="en-US" sz="1500" dirty="0"/>
          </a:p>
        </p:txBody>
      </p:sp>
      <p:sp>
        <p:nvSpPr>
          <p:cNvPr id="12" name="Shape 9"/>
          <p:cNvSpPr/>
          <p:nvPr/>
        </p:nvSpPr>
        <p:spPr>
          <a:xfrm>
            <a:off x="6263640" y="1463040"/>
            <a:ext cx="5394960" cy="2240280"/>
          </a:xfrm>
          <a:prstGeom prst="roundRect">
            <a:avLst>
              <a:gd name="adj" fmla="val 7347"/>
            </a:avLst>
          </a:prstGeom>
          <a:solidFill>
            <a:srgbClr val="EEF3F0"/>
          </a:solidFill>
          <a:ln w="12700">
            <a:solidFill>
              <a:srgbClr val="EEF3F0"/>
            </a:solidFill>
            <a:prstDash val="solid"/>
          </a:ln>
        </p:spPr>
        <p:txBody>
          <a:bodyPr/>
          <a:lstStyle/>
          <a:p>
            <a:endParaRPr lang="es-CO"/>
          </a:p>
        </p:txBody>
      </p:sp>
      <p:sp>
        <p:nvSpPr>
          <p:cNvPr id="13" name="Shape 10"/>
          <p:cNvSpPr/>
          <p:nvPr/>
        </p:nvSpPr>
        <p:spPr>
          <a:xfrm>
            <a:off x="6537960" y="1737360"/>
            <a:ext cx="685800" cy="685800"/>
          </a:xfrm>
          <a:prstGeom prst="ellipse">
            <a:avLst/>
          </a:prstGeom>
          <a:solidFill>
            <a:srgbClr val="2F6FB2"/>
          </a:solidFill>
          <a:ln w="12700">
            <a:solidFill>
              <a:srgbClr val="2F6FB2"/>
            </a:solidFill>
            <a:prstDash val="solid"/>
          </a:ln>
        </p:spPr>
        <p:txBody>
          <a:bodyPr/>
          <a:lstStyle/>
          <a:p>
            <a:endParaRPr lang="es-CO"/>
          </a:p>
        </p:txBody>
      </p:sp>
      <p:pic>
        <p:nvPicPr>
          <p:cNvPr id="14" name="Image 1" descr="preencoded.png"/>
          <p:cNvPicPr>
            <a:picLocks noChangeAspect="1"/>
          </p:cNvPicPr>
          <p:nvPr/>
        </p:nvPicPr>
        <p:blipFill>
          <a:blip r:embed="rId4"/>
          <a:stretch>
            <a:fillRect/>
          </a:stretch>
        </p:blipFill>
        <p:spPr>
          <a:xfrm>
            <a:off x="6716268" y="1915668"/>
            <a:ext cx="329184" cy="329184"/>
          </a:xfrm>
          <a:prstGeom prst="rect">
            <a:avLst/>
          </a:prstGeom>
        </p:spPr>
      </p:pic>
      <p:sp>
        <p:nvSpPr>
          <p:cNvPr id="15" name="Text 11"/>
          <p:cNvSpPr txBox="1"/>
          <p:nvPr/>
        </p:nvSpPr>
        <p:spPr>
          <a:xfrm>
            <a:off x="7406640" y="1737360"/>
            <a:ext cx="4023360" cy="685800"/>
          </a:xfrm>
          <a:prstGeom prst="rect">
            <a:avLst/>
          </a:prstGeom>
          <a:noFill/>
          <a:ln/>
        </p:spPr>
        <p:txBody>
          <a:bodyPr wrap="square" lIns="0" tIns="0" rIns="0" bIns="0" rtlCol="0" anchor="ctr"/>
          <a:lstStyle/>
          <a:p>
            <a:pPr marL="0" indent="0">
              <a:buNone/>
            </a:pPr>
            <a:r>
              <a:rPr lang="en-US" sz="1800" b="1" dirty="0">
                <a:solidFill>
                  <a:schemeClr val="tx2"/>
                </a:solidFill>
              </a:rPr>
              <a:t>Secundaria 1 · ligas</a:t>
            </a:r>
            <a:endParaRPr lang="en-US" sz="1800" dirty="0"/>
          </a:p>
        </p:txBody>
      </p:sp>
      <p:sp>
        <p:nvSpPr>
          <p:cNvPr id="16" name="Text 12"/>
          <p:cNvSpPr txBox="1"/>
          <p:nvPr/>
        </p:nvSpPr>
        <p:spPr>
          <a:xfrm>
            <a:off x="6537960" y="2560320"/>
            <a:ext cx="4892040" cy="1005840"/>
          </a:xfrm>
          <a:prstGeom prst="rect">
            <a:avLst/>
          </a:prstGeom>
          <a:noFill/>
          <a:ln/>
        </p:spPr>
        <p:txBody>
          <a:bodyPr wrap="square" lIns="0" tIns="0" rIns="0" bIns="0" rtlCol="0" anchor="t"/>
          <a:lstStyle/>
          <a:p>
            <a:pPr marL="0" indent="0">
              <a:buNone/>
            </a:pPr>
            <a:r>
              <a:rPr lang="en-US" sz="1500" dirty="0">
                <a:solidFill>
                  <a:schemeClr val="tx1"/>
                </a:solidFill>
              </a:rPr>
              <a:t>¿Difieren Premier League y LaLiga en sus desviaciones, sobre todo en resultados muy probables o improbables? ¿Coinciden ambas casas?</a:t>
            </a:r>
            <a:endParaRPr lang="en-US" sz="1500" dirty="0"/>
          </a:p>
        </p:txBody>
      </p:sp>
      <p:sp>
        <p:nvSpPr>
          <p:cNvPr id="17" name="Shape 13"/>
          <p:cNvSpPr/>
          <p:nvPr/>
        </p:nvSpPr>
        <p:spPr>
          <a:xfrm>
            <a:off x="548640" y="3931920"/>
            <a:ext cx="5394960" cy="2240280"/>
          </a:xfrm>
          <a:prstGeom prst="roundRect">
            <a:avLst>
              <a:gd name="adj" fmla="val 7347"/>
            </a:avLst>
          </a:prstGeom>
          <a:solidFill>
            <a:srgbClr val="EEF3F0"/>
          </a:solidFill>
          <a:ln w="12700">
            <a:solidFill>
              <a:srgbClr val="EEF3F0"/>
            </a:solidFill>
            <a:prstDash val="solid"/>
          </a:ln>
        </p:spPr>
        <p:txBody>
          <a:bodyPr/>
          <a:lstStyle/>
          <a:p>
            <a:endParaRPr lang="es-CO"/>
          </a:p>
        </p:txBody>
      </p:sp>
      <p:sp>
        <p:nvSpPr>
          <p:cNvPr id="18" name="Shape 14"/>
          <p:cNvSpPr/>
          <p:nvPr/>
        </p:nvSpPr>
        <p:spPr>
          <a:xfrm>
            <a:off x="822960" y="4206240"/>
            <a:ext cx="685800" cy="685800"/>
          </a:xfrm>
          <a:prstGeom prst="ellipse">
            <a:avLst/>
          </a:prstGeom>
          <a:solidFill>
            <a:srgbClr val="E07A1F"/>
          </a:solidFill>
          <a:ln w="12700">
            <a:solidFill>
              <a:srgbClr val="E07A1F"/>
            </a:solidFill>
            <a:prstDash val="solid"/>
          </a:ln>
        </p:spPr>
        <p:txBody>
          <a:bodyPr/>
          <a:lstStyle/>
          <a:p>
            <a:endParaRPr lang="es-CO"/>
          </a:p>
        </p:txBody>
      </p:sp>
      <p:pic>
        <p:nvPicPr>
          <p:cNvPr id="19" name="Image 2" descr="preencoded.png"/>
          <p:cNvPicPr>
            <a:picLocks noChangeAspect="1"/>
          </p:cNvPicPr>
          <p:nvPr/>
        </p:nvPicPr>
        <p:blipFill>
          <a:blip r:embed="rId5"/>
          <a:stretch>
            <a:fillRect/>
          </a:stretch>
        </p:blipFill>
        <p:spPr>
          <a:xfrm>
            <a:off x="1001268" y="4384548"/>
            <a:ext cx="329184" cy="329184"/>
          </a:xfrm>
          <a:prstGeom prst="rect">
            <a:avLst/>
          </a:prstGeom>
        </p:spPr>
      </p:pic>
      <p:sp>
        <p:nvSpPr>
          <p:cNvPr id="20" name="Text 15"/>
          <p:cNvSpPr txBox="1"/>
          <p:nvPr/>
        </p:nvSpPr>
        <p:spPr>
          <a:xfrm>
            <a:off x="1691640" y="4206240"/>
            <a:ext cx="4023360" cy="685800"/>
          </a:xfrm>
          <a:prstGeom prst="rect">
            <a:avLst/>
          </a:prstGeom>
          <a:noFill/>
          <a:ln/>
        </p:spPr>
        <p:txBody>
          <a:bodyPr wrap="square" lIns="0" tIns="0" rIns="0" bIns="0" rtlCol="0" anchor="ctr"/>
          <a:lstStyle/>
          <a:p>
            <a:pPr marL="0" indent="0">
              <a:buNone/>
            </a:pPr>
            <a:r>
              <a:rPr lang="en-US" sz="1800" b="1" dirty="0">
                <a:solidFill>
                  <a:schemeClr val="tx2"/>
                </a:solidFill>
              </a:rPr>
              <a:t>Secundaria 2 · temporadas</a:t>
            </a:r>
            <a:endParaRPr lang="en-US" sz="1800" dirty="0"/>
          </a:p>
        </p:txBody>
      </p:sp>
      <p:sp>
        <p:nvSpPr>
          <p:cNvPr id="21" name="Text 16"/>
          <p:cNvSpPr txBox="1"/>
          <p:nvPr/>
        </p:nvSpPr>
        <p:spPr>
          <a:xfrm>
            <a:off x="822960" y="5029200"/>
            <a:ext cx="4892040" cy="1005840"/>
          </a:xfrm>
          <a:prstGeom prst="rect">
            <a:avLst/>
          </a:prstGeom>
          <a:noFill/>
          <a:ln/>
        </p:spPr>
        <p:txBody>
          <a:bodyPr wrap="square" lIns="0" tIns="0" rIns="0" bIns="0" rtlCol="0" anchor="t"/>
          <a:lstStyle/>
          <a:p>
            <a:pPr marL="0" indent="0">
              <a:buNone/>
            </a:pPr>
            <a:r>
              <a:rPr lang="en-US" sz="1500" dirty="0">
                <a:solidFill>
                  <a:schemeClr val="tx1"/>
                </a:solidFill>
              </a:rPr>
              <a:t>¿Cambian la calibración y el sesgo entre 2022/23, 2023/24 y 2024/25, con cualquier método?</a:t>
            </a:r>
            <a:endParaRPr lang="en-US" sz="1500" dirty="0"/>
          </a:p>
        </p:txBody>
      </p:sp>
      <p:sp>
        <p:nvSpPr>
          <p:cNvPr id="22" name="Shape 17"/>
          <p:cNvSpPr/>
          <p:nvPr/>
        </p:nvSpPr>
        <p:spPr>
          <a:xfrm>
            <a:off x="6263640" y="3931920"/>
            <a:ext cx="5394960" cy="2240280"/>
          </a:xfrm>
          <a:prstGeom prst="roundRect">
            <a:avLst>
              <a:gd name="adj" fmla="val 7347"/>
            </a:avLst>
          </a:prstGeom>
          <a:solidFill>
            <a:srgbClr val="EEF3F0"/>
          </a:solidFill>
          <a:ln w="12700">
            <a:solidFill>
              <a:srgbClr val="EEF3F0"/>
            </a:solidFill>
            <a:prstDash val="solid"/>
          </a:ln>
        </p:spPr>
        <p:txBody>
          <a:bodyPr/>
          <a:lstStyle/>
          <a:p>
            <a:endParaRPr lang="es-CO"/>
          </a:p>
        </p:txBody>
      </p:sp>
      <p:sp>
        <p:nvSpPr>
          <p:cNvPr id="23" name="Shape 18"/>
          <p:cNvSpPr/>
          <p:nvPr/>
        </p:nvSpPr>
        <p:spPr>
          <a:xfrm>
            <a:off x="6537960" y="4206240"/>
            <a:ext cx="685800" cy="685800"/>
          </a:xfrm>
          <a:prstGeom prst="ellipse">
            <a:avLst/>
          </a:prstGeom>
          <a:solidFill>
            <a:srgbClr val="D64545"/>
          </a:solidFill>
          <a:ln w="12700">
            <a:solidFill>
              <a:srgbClr val="D64545"/>
            </a:solidFill>
            <a:prstDash val="solid"/>
          </a:ln>
        </p:spPr>
        <p:txBody>
          <a:bodyPr/>
          <a:lstStyle/>
          <a:p>
            <a:endParaRPr lang="es-CO"/>
          </a:p>
        </p:txBody>
      </p:sp>
      <p:pic>
        <p:nvPicPr>
          <p:cNvPr id="24" name="Image 3" descr="preencoded.png"/>
          <p:cNvPicPr>
            <a:picLocks noChangeAspect="1"/>
          </p:cNvPicPr>
          <p:nvPr/>
        </p:nvPicPr>
        <p:blipFill>
          <a:blip r:embed="rId6"/>
          <a:stretch>
            <a:fillRect/>
          </a:stretch>
        </p:blipFill>
        <p:spPr>
          <a:xfrm>
            <a:off x="6716268" y="4384548"/>
            <a:ext cx="329184" cy="329184"/>
          </a:xfrm>
          <a:prstGeom prst="rect">
            <a:avLst/>
          </a:prstGeom>
        </p:spPr>
      </p:pic>
      <p:sp>
        <p:nvSpPr>
          <p:cNvPr id="25" name="Text 19"/>
          <p:cNvSpPr txBox="1"/>
          <p:nvPr/>
        </p:nvSpPr>
        <p:spPr>
          <a:xfrm>
            <a:off x="7406640" y="4206240"/>
            <a:ext cx="4023360" cy="685800"/>
          </a:xfrm>
          <a:prstGeom prst="rect">
            <a:avLst/>
          </a:prstGeom>
          <a:noFill/>
          <a:ln/>
        </p:spPr>
        <p:txBody>
          <a:bodyPr wrap="square" lIns="0" tIns="0" rIns="0" bIns="0" rtlCol="0" anchor="ctr"/>
          <a:lstStyle/>
          <a:p>
            <a:pPr marL="0" indent="0">
              <a:buNone/>
            </a:pPr>
            <a:r>
              <a:rPr lang="en-US" sz="1800" b="1" dirty="0">
                <a:solidFill>
                  <a:schemeClr val="tx2"/>
                </a:solidFill>
              </a:rPr>
              <a:t>Secundaria 3 · público local</a:t>
            </a:r>
            <a:endParaRPr lang="en-US" sz="1800" dirty="0"/>
          </a:p>
        </p:txBody>
      </p:sp>
      <p:sp>
        <p:nvSpPr>
          <p:cNvPr id="26" name="Text 20"/>
          <p:cNvSpPr txBox="1"/>
          <p:nvPr/>
        </p:nvSpPr>
        <p:spPr>
          <a:xfrm>
            <a:off x="6537960" y="5029200"/>
            <a:ext cx="4892040" cy="1005840"/>
          </a:xfrm>
          <a:prstGeom prst="rect">
            <a:avLst/>
          </a:prstGeom>
          <a:noFill/>
          <a:ln/>
        </p:spPr>
        <p:txBody>
          <a:bodyPr wrap="square" lIns="0" tIns="0" rIns="0" bIns="0" rtlCol="0" anchor="t"/>
          <a:lstStyle/>
          <a:p>
            <a:pPr marL="0" indent="0">
              <a:buNone/>
            </a:pPr>
            <a:r>
              <a:rPr lang="en-US" sz="1500" dirty="0">
                <a:solidFill>
                  <a:schemeClr val="tx1"/>
                </a:solidFill>
              </a:rPr>
              <a:t>¿Se redujo la ventaja de local cuando se jugó sin público en la pandemia? ¿Por qué canales? ¿Lo incorporó el mercado?</a:t>
            </a:r>
            <a:endParaRPr lang="en-US" sz="1500" dirty="0"/>
          </a:p>
        </p:txBody>
      </p:sp>
      <p:sp>
        <p:nvSpPr>
          <p:cNvPr id="27"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F68"/>
                </a:solidFill>
              </a:defRPr>
            </a:lvl1pPr>
          </a:lstStyle>
          <a:p>
            <a:pPr algn="r"/>
            <a:fld id="{F7021451-1387-4CA6-816F-3879F97B5CBC}" type="slidenum">
              <a:rPr lang="en-US" b="0"/>
              <a:t>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68680"/>
          </a:xfrm>
          <a:prstGeom prst="rect">
            <a:avLst/>
          </a:prstGeom>
          <a:noFill/>
          <a:ln/>
        </p:spPr>
        <p:txBody>
          <a:bodyPr wrap="square" lIns="0" tIns="0" rIns="0" bIns="0" rtlCol="0" anchor="ctr"/>
          <a:lstStyle/>
          <a:p>
            <a:pPr marL="0" indent="0" algn="l">
              <a:buNone/>
            </a:pPr>
            <a:r>
              <a:rPr lang="en-US" sz="3400" b="1" dirty="0">
                <a:solidFill>
                  <a:schemeClr val="tx2"/>
                </a:solidFill>
              </a:rPr>
              <a:t>Los datos: Football-Data, cuotas de cierre</a:t>
            </a:r>
            <a:endParaRPr lang="en-US" sz="3400" dirty="0"/>
          </a:p>
        </p:txBody>
      </p:sp>
      <p:sp>
        <p:nvSpPr>
          <p:cNvPr id="3" name="Shape 1"/>
          <p:cNvSpPr/>
          <p:nvPr/>
        </p:nvSpPr>
        <p:spPr>
          <a:xfrm>
            <a:off x="548640" y="128016"/>
            <a:ext cx="969264" cy="274320"/>
          </a:xfrm>
          <a:prstGeom prst="roundRect">
            <a:avLst>
              <a:gd name="adj" fmla="val 50000"/>
            </a:avLst>
          </a:prstGeom>
          <a:solidFill>
            <a:srgbClr val="5E6F68"/>
          </a:solidFill>
          <a:ln w="12700">
            <a:solidFill>
              <a:srgbClr val="5E6F68"/>
            </a:solidFill>
            <a:prstDash val="solid"/>
          </a:ln>
        </p:spPr>
        <p:txBody>
          <a:bodyPr/>
          <a:lstStyle/>
          <a:p>
            <a:endParaRPr lang="es-CO"/>
          </a:p>
        </p:txBody>
      </p:sp>
      <p:sp>
        <p:nvSpPr>
          <p:cNvPr id="4" name="Text 2"/>
          <p:cNvSpPr txBox="1"/>
          <p:nvPr/>
        </p:nvSpPr>
        <p:spPr>
          <a:xfrm>
            <a:off x="548640" y="128016"/>
            <a:ext cx="969264" cy="274320"/>
          </a:xfrm>
          <a:prstGeom prst="rect">
            <a:avLst/>
          </a:prstGeom>
          <a:noFill/>
          <a:ln/>
        </p:spPr>
        <p:txBody>
          <a:bodyPr wrap="square" lIns="0" tIns="0" rIns="0" bIns="0" rtlCol="0" anchor="ctr"/>
          <a:lstStyle/>
          <a:p>
            <a:pPr marL="0" indent="0" algn="ctr">
              <a:buNone/>
            </a:pPr>
            <a:r>
              <a:rPr lang="en-US" sz="1050" b="1" kern="0" spc="100" dirty="0">
                <a:solidFill>
                  <a:schemeClr val="bg1"/>
                </a:solidFill>
              </a:rPr>
              <a:t>CONTEXTO</a:t>
            </a:r>
            <a:endParaRPr lang="en-US" sz="1050" dirty="0"/>
          </a:p>
        </p:txBody>
      </p:sp>
      <p:sp>
        <p:nvSpPr>
          <p:cNvPr id="5" name="!!panel"/>
          <p:cNvSpPr/>
          <p:nvPr/>
        </p:nvSpPr>
        <p:spPr>
          <a:xfrm>
            <a:off x="548640" y="1463040"/>
            <a:ext cx="11064240" cy="2148840"/>
          </a:xfrm>
          <a:prstGeom prst="roundRect">
            <a:avLst>
              <a:gd name="adj" fmla="val 7660"/>
            </a:avLst>
          </a:prstGeom>
          <a:solidFill>
            <a:srgbClr val="0C2B22"/>
          </a:solidFill>
          <a:ln w="12700">
            <a:solidFill>
              <a:srgbClr val="0C2B22"/>
            </a:solidFill>
            <a:prstDash val="solid"/>
          </a:ln>
        </p:spPr>
        <p:txBody>
          <a:bodyPr/>
          <a:lstStyle/>
          <a:p>
            <a:endParaRPr lang="es-CO"/>
          </a:p>
        </p:txBody>
      </p:sp>
      <p:sp>
        <p:nvSpPr>
          <p:cNvPr id="6" name="!!ring"/>
          <p:cNvSpPr/>
          <p:nvPr/>
        </p:nvSpPr>
        <p:spPr>
          <a:xfrm>
            <a:off x="10972800" y="384048"/>
            <a:ext cx="731520" cy="731520"/>
          </a:xfrm>
          <a:prstGeom prst="ellipse">
            <a:avLst/>
          </a:prstGeom>
          <a:solidFill>
            <a:srgbClr val="FFFFFF">
              <a:alpha val="0"/>
            </a:srgbClr>
          </a:solidFill>
          <a:ln w="31750">
            <a:solidFill>
              <a:srgbClr val="1F8A5B"/>
            </a:solidFill>
            <a:prstDash val="solid"/>
          </a:ln>
        </p:spPr>
        <p:txBody>
          <a:bodyPr/>
          <a:lstStyle/>
          <a:p>
            <a:endParaRPr lang="es-CO"/>
          </a:p>
        </p:txBody>
      </p:sp>
      <p:sp>
        <p:nvSpPr>
          <p:cNvPr id="7" name="!!ball"/>
          <p:cNvSpPr/>
          <p:nvPr/>
        </p:nvSpPr>
        <p:spPr>
          <a:xfrm>
            <a:off x="11256264" y="667512"/>
            <a:ext cx="164592" cy="164592"/>
          </a:xfrm>
          <a:prstGeom prst="ellipse">
            <a:avLst/>
          </a:prstGeom>
          <a:solidFill>
            <a:srgbClr val="F2B705"/>
          </a:solidFill>
          <a:ln w="12700">
            <a:solidFill>
              <a:srgbClr val="F2B705"/>
            </a:solidFill>
            <a:prstDash val="solid"/>
          </a:ln>
        </p:spPr>
        <p:txBody>
          <a:bodyPr/>
          <a:lstStyle/>
          <a:p>
            <a:endParaRPr lang="es-CO"/>
          </a:p>
        </p:txBody>
      </p:sp>
      <p:sp>
        <p:nvSpPr>
          <p:cNvPr id="8" name="Text 6"/>
          <p:cNvSpPr txBox="1"/>
          <p:nvPr/>
        </p:nvSpPr>
        <p:spPr>
          <a:xfrm>
            <a:off x="914400" y="1600200"/>
            <a:ext cx="2560320" cy="868680"/>
          </a:xfrm>
          <a:prstGeom prst="rect">
            <a:avLst/>
          </a:prstGeom>
          <a:noFill/>
          <a:ln/>
        </p:spPr>
        <p:txBody>
          <a:bodyPr wrap="square" lIns="0" tIns="0" rIns="0" bIns="0" rtlCol="0" anchor="b"/>
          <a:lstStyle/>
          <a:p>
            <a:pPr marL="0" indent="0">
              <a:buNone/>
            </a:pPr>
            <a:r>
              <a:rPr lang="en-US" sz="4400" b="1" dirty="0">
                <a:solidFill>
                  <a:schemeClr val="bg1"/>
                </a:solidFill>
                <a:latin typeface="Arial" pitchFamily="34" charset="0"/>
                <a:ea typeface="Arial" pitchFamily="34" charset="-122"/>
                <a:cs typeface="Arial" pitchFamily="34" charset="-120"/>
              </a:rPr>
              <a:t>2.280</a:t>
            </a:r>
            <a:endParaRPr lang="en-US" sz="4400" dirty="0"/>
          </a:p>
        </p:txBody>
      </p:sp>
      <p:sp>
        <p:nvSpPr>
          <p:cNvPr id="9" name="Text 7"/>
          <p:cNvSpPr txBox="1"/>
          <p:nvPr/>
        </p:nvSpPr>
        <p:spPr>
          <a:xfrm>
            <a:off x="914400" y="2514600"/>
            <a:ext cx="2560320" cy="685800"/>
          </a:xfrm>
          <a:prstGeom prst="rect">
            <a:avLst/>
          </a:prstGeom>
          <a:noFill/>
          <a:ln/>
        </p:spPr>
        <p:txBody>
          <a:bodyPr wrap="square" lIns="0" tIns="0" rIns="0" bIns="0" rtlCol="0" anchor="t"/>
          <a:lstStyle/>
          <a:p>
            <a:pPr marL="0" indent="0">
              <a:buNone/>
            </a:pPr>
            <a:r>
              <a:rPr lang="en-US" sz="1400" dirty="0">
                <a:solidFill>
                  <a:schemeClr val="bg2"/>
                </a:solidFill>
              </a:rPr>
              <a:t>partidos para la calibración (2022/23–2024/25)</a:t>
            </a:r>
            <a:endParaRPr lang="en-US" sz="1400" dirty="0"/>
          </a:p>
        </p:txBody>
      </p:sp>
      <p:sp>
        <p:nvSpPr>
          <p:cNvPr id="10" name="Text 8"/>
          <p:cNvSpPr txBox="1"/>
          <p:nvPr/>
        </p:nvSpPr>
        <p:spPr>
          <a:xfrm>
            <a:off x="3657600" y="1600200"/>
            <a:ext cx="2560320" cy="868680"/>
          </a:xfrm>
          <a:prstGeom prst="rect">
            <a:avLst/>
          </a:prstGeom>
          <a:noFill/>
          <a:ln/>
        </p:spPr>
        <p:txBody>
          <a:bodyPr wrap="square" lIns="0" tIns="0" rIns="0" bIns="0" rtlCol="0" anchor="b"/>
          <a:lstStyle/>
          <a:p>
            <a:pPr marL="0" indent="0">
              <a:buNone/>
            </a:pPr>
            <a:r>
              <a:rPr lang="en-US" sz="4400" b="1" dirty="0">
                <a:solidFill>
                  <a:schemeClr val="accent2"/>
                </a:solidFill>
                <a:latin typeface="Arial" pitchFamily="34" charset="0"/>
                <a:ea typeface="Arial" pitchFamily="34" charset="-122"/>
                <a:cs typeface="Arial" pitchFamily="34" charset="-120"/>
              </a:rPr>
              <a:t>6.080</a:t>
            </a:r>
            <a:endParaRPr lang="en-US" sz="4400" dirty="0"/>
          </a:p>
        </p:txBody>
      </p:sp>
      <p:sp>
        <p:nvSpPr>
          <p:cNvPr id="11" name="Text 9"/>
          <p:cNvSpPr txBox="1"/>
          <p:nvPr/>
        </p:nvSpPr>
        <p:spPr>
          <a:xfrm>
            <a:off x="3657600" y="2514600"/>
            <a:ext cx="2560320" cy="685800"/>
          </a:xfrm>
          <a:prstGeom prst="rect">
            <a:avLst/>
          </a:prstGeom>
          <a:noFill/>
          <a:ln/>
        </p:spPr>
        <p:txBody>
          <a:bodyPr wrap="square" lIns="0" tIns="0" rIns="0" bIns="0" rtlCol="0" anchor="t"/>
          <a:lstStyle/>
          <a:p>
            <a:pPr marL="0" indent="0">
              <a:buNone/>
            </a:pPr>
            <a:r>
              <a:rPr lang="en-US" sz="1400" dirty="0">
                <a:solidFill>
                  <a:schemeClr val="bg2"/>
                </a:solidFill>
              </a:rPr>
              <a:t>partidos para el público local (2017/18–2024/25)</a:t>
            </a:r>
            <a:endParaRPr lang="en-US" sz="1400" dirty="0"/>
          </a:p>
        </p:txBody>
      </p:sp>
      <p:sp>
        <p:nvSpPr>
          <p:cNvPr id="12" name="Text 10"/>
          <p:cNvSpPr txBox="1"/>
          <p:nvPr/>
        </p:nvSpPr>
        <p:spPr>
          <a:xfrm>
            <a:off x="6400800" y="1600200"/>
            <a:ext cx="2377440" cy="868680"/>
          </a:xfrm>
          <a:prstGeom prst="rect">
            <a:avLst/>
          </a:prstGeom>
          <a:noFill/>
          <a:ln/>
        </p:spPr>
        <p:txBody>
          <a:bodyPr wrap="square" lIns="0" tIns="0" rIns="0" bIns="0" rtlCol="0" anchor="b"/>
          <a:lstStyle/>
          <a:p>
            <a:pPr marL="0" indent="0">
              <a:buNone/>
            </a:pPr>
            <a:r>
              <a:rPr lang="en-US" sz="4400" b="1" dirty="0">
                <a:solidFill>
                  <a:schemeClr val="bg1"/>
                </a:solidFill>
                <a:latin typeface="Arial" pitchFamily="34" charset="0"/>
                <a:ea typeface="Arial" pitchFamily="34" charset="-122"/>
                <a:cs typeface="Arial" pitchFamily="34" charset="-120"/>
              </a:rPr>
              <a:t>100 %</a:t>
            </a:r>
            <a:endParaRPr lang="en-US" sz="4400" dirty="0"/>
          </a:p>
        </p:txBody>
      </p:sp>
      <p:sp>
        <p:nvSpPr>
          <p:cNvPr id="13" name="Text 11"/>
          <p:cNvSpPr txBox="1"/>
          <p:nvPr/>
        </p:nvSpPr>
        <p:spPr>
          <a:xfrm>
            <a:off x="6400800" y="2514600"/>
            <a:ext cx="2377440" cy="685800"/>
          </a:xfrm>
          <a:prstGeom prst="rect">
            <a:avLst/>
          </a:prstGeom>
          <a:noFill/>
          <a:ln/>
        </p:spPr>
        <p:txBody>
          <a:bodyPr wrap="square" lIns="0" tIns="0" rIns="0" bIns="0" rtlCol="0" anchor="t"/>
          <a:lstStyle/>
          <a:p>
            <a:pPr marL="0" indent="0">
              <a:buNone/>
            </a:pPr>
            <a:r>
              <a:rPr lang="en-US" sz="1400" dirty="0">
                <a:solidFill>
                  <a:schemeClr val="bg2"/>
                </a:solidFill>
              </a:rPr>
              <a:t>cobertura común de Bet365 y Pinnacle</a:t>
            </a:r>
            <a:endParaRPr lang="en-US" sz="1400" dirty="0"/>
          </a:p>
        </p:txBody>
      </p:sp>
      <p:sp>
        <p:nvSpPr>
          <p:cNvPr id="14" name="Text 12"/>
          <p:cNvSpPr txBox="1"/>
          <p:nvPr/>
        </p:nvSpPr>
        <p:spPr>
          <a:xfrm>
            <a:off x="8961120" y="1600200"/>
            <a:ext cx="2377440" cy="868680"/>
          </a:xfrm>
          <a:prstGeom prst="rect">
            <a:avLst/>
          </a:prstGeom>
          <a:noFill/>
          <a:ln/>
        </p:spPr>
        <p:txBody>
          <a:bodyPr wrap="square" lIns="0" tIns="0" rIns="0" bIns="0" rtlCol="0" anchor="b"/>
          <a:lstStyle/>
          <a:p>
            <a:pPr marL="0" indent="0">
              <a:buNone/>
            </a:pPr>
            <a:r>
              <a:rPr lang="en-US" sz="4400" b="1" dirty="0">
                <a:solidFill>
                  <a:schemeClr val="bg1"/>
                </a:solidFill>
                <a:latin typeface="Arial" pitchFamily="34" charset="0"/>
                <a:ea typeface="Arial" pitchFamily="34" charset="-122"/>
                <a:cs typeface="Arial" pitchFamily="34" charset="-120"/>
              </a:rPr>
              <a:t>0</a:t>
            </a:r>
            <a:endParaRPr lang="en-US" sz="4400" dirty="0"/>
          </a:p>
        </p:txBody>
      </p:sp>
      <p:sp>
        <p:nvSpPr>
          <p:cNvPr id="15" name="Text 13"/>
          <p:cNvSpPr txBox="1"/>
          <p:nvPr/>
        </p:nvSpPr>
        <p:spPr>
          <a:xfrm>
            <a:off x="8961120" y="2514600"/>
            <a:ext cx="2377440" cy="685800"/>
          </a:xfrm>
          <a:prstGeom prst="rect">
            <a:avLst/>
          </a:prstGeom>
          <a:noFill/>
          <a:ln/>
        </p:spPr>
        <p:txBody>
          <a:bodyPr wrap="square" lIns="0" tIns="0" rIns="0" bIns="0" rtlCol="0" anchor="t"/>
          <a:lstStyle/>
          <a:p>
            <a:pPr marL="0" indent="0">
              <a:buNone/>
            </a:pPr>
            <a:r>
              <a:rPr lang="en-US" sz="1400" dirty="0">
                <a:solidFill>
                  <a:schemeClr val="bg2"/>
                </a:solidFill>
              </a:rPr>
              <a:t>partidos excluidos en la muestra principal</a:t>
            </a:r>
            <a:endParaRPr lang="en-US" sz="1400" dirty="0"/>
          </a:p>
        </p:txBody>
      </p:sp>
      <p:sp>
        <p:nvSpPr>
          <p:cNvPr id="16" name="Shape 14"/>
          <p:cNvSpPr/>
          <p:nvPr/>
        </p:nvSpPr>
        <p:spPr>
          <a:xfrm>
            <a:off x="548640" y="3931920"/>
            <a:ext cx="502920" cy="502920"/>
          </a:xfrm>
          <a:prstGeom prst="ellipse">
            <a:avLst/>
          </a:prstGeom>
          <a:solidFill>
            <a:srgbClr val="1F8A5B"/>
          </a:solidFill>
          <a:ln w="12700">
            <a:solidFill>
              <a:srgbClr val="1F8A5B"/>
            </a:solidFill>
            <a:prstDash val="solid"/>
          </a:ln>
        </p:spPr>
        <p:txBody>
          <a:bodyPr/>
          <a:lstStyle/>
          <a:p>
            <a:endParaRPr lang="es-CO"/>
          </a:p>
        </p:txBody>
      </p:sp>
      <p:pic>
        <p:nvPicPr>
          <p:cNvPr id="17" name="Image 0" descr="preencoded.png"/>
          <p:cNvPicPr>
            <a:picLocks noChangeAspect="1"/>
          </p:cNvPicPr>
          <p:nvPr/>
        </p:nvPicPr>
        <p:blipFill>
          <a:blip r:embed="rId3"/>
          <a:stretch>
            <a:fillRect/>
          </a:stretch>
        </p:blipFill>
        <p:spPr>
          <a:xfrm>
            <a:off x="679399" y="4062679"/>
            <a:ext cx="241402" cy="241402"/>
          </a:xfrm>
          <a:prstGeom prst="rect">
            <a:avLst/>
          </a:prstGeom>
        </p:spPr>
      </p:pic>
      <p:sp>
        <p:nvSpPr>
          <p:cNvPr id="18" name="Text 15"/>
          <p:cNvSpPr txBox="1"/>
          <p:nvPr/>
        </p:nvSpPr>
        <p:spPr>
          <a:xfrm>
            <a:off x="1234440" y="3931920"/>
            <a:ext cx="5669280" cy="502920"/>
          </a:xfrm>
          <a:prstGeom prst="rect">
            <a:avLst/>
          </a:prstGeom>
          <a:noFill/>
          <a:ln/>
        </p:spPr>
        <p:txBody>
          <a:bodyPr wrap="square" lIns="0" tIns="0" rIns="0" bIns="0" rtlCol="0" anchor="ctr"/>
          <a:lstStyle/>
          <a:p>
            <a:pPr marL="0" indent="0">
              <a:spcAft>
                <a:spcPts val="600"/>
              </a:spcAft>
              <a:buNone/>
            </a:pPr>
            <a:r>
              <a:rPr lang="en-US" sz="1450" dirty="0">
                <a:solidFill>
                  <a:schemeClr val="tx1"/>
                </a:solidFill>
              </a:rPr>
              <a:t>Fechas leídas como dd/mm/aaaa; temporada julio–junio.</a:t>
            </a:r>
            <a:endParaRPr lang="en-US" sz="1450" dirty="0"/>
          </a:p>
        </p:txBody>
      </p:sp>
      <p:sp>
        <p:nvSpPr>
          <p:cNvPr id="19" name="Shape 16"/>
          <p:cNvSpPr/>
          <p:nvPr/>
        </p:nvSpPr>
        <p:spPr>
          <a:xfrm>
            <a:off x="548640" y="4617720"/>
            <a:ext cx="502920" cy="502920"/>
          </a:xfrm>
          <a:prstGeom prst="ellipse">
            <a:avLst/>
          </a:prstGeom>
          <a:solidFill>
            <a:srgbClr val="1F8A5B"/>
          </a:solidFill>
          <a:ln w="12700">
            <a:solidFill>
              <a:srgbClr val="1F8A5B"/>
            </a:solidFill>
            <a:prstDash val="solid"/>
          </a:ln>
        </p:spPr>
        <p:txBody>
          <a:bodyPr/>
          <a:lstStyle/>
          <a:p>
            <a:endParaRPr lang="es-CO"/>
          </a:p>
        </p:txBody>
      </p:sp>
      <p:pic>
        <p:nvPicPr>
          <p:cNvPr id="20" name="Image 1" descr="preencoded.png"/>
          <p:cNvPicPr>
            <a:picLocks noChangeAspect="1"/>
          </p:cNvPicPr>
          <p:nvPr/>
        </p:nvPicPr>
        <p:blipFill>
          <a:blip r:embed="rId4"/>
          <a:stretch>
            <a:fillRect/>
          </a:stretch>
        </p:blipFill>
        <p:spPr>
          <a:xfrm>
            <a:off x="679399" y="4748479"/>
            <a:ext cx="241402" cy="241402"/>
          </a:xfrm>
          <a:prstGeom prst="rect">
            <a:avLst/>
          </a:prstGeom>
        </p:spPr>
      </p:pic>
      <p:sp>
        <p:nvSpPr>
          <p:cNvPr id="21" name="Text 17"/>
          <p:cNvSpPr txBox="1"/>
          <p:nvPr/>
        </p:nvSpPr>
        <p:spPr>
          <a:xfrm>
            <a:off x="1234440" y="4617720"/>
            <a:ext cx="5669280" cy="502920"/>
          </a:xfrm>
          <a:prstGeom prst="rect">
            <a:avLst/>
          </a:prstGeom>
          <a:noFill/>
          <a:ln/>
        </p:spPr>
        <p:txBody>
          <a:bodyPr wrap="square" lIns="0" tIns="0" rIns="0" bIns="0" rtlCol="0" anchor="ctr"/>
          <a:lstStyle/>
          <a:p>
            <a:pPr marL="0" indent="0">
              <a:spcAft>
                <a:spcPts val="600"/>
              </a:spcAft>
              <a:buNone/>
            </a:pPr>
            <a:r>
              <a:rPr lang="en-US" sz="1450" dirty="0">
                <a:solidFill>
                  <a:schemeClr val="tx1"/>
                </a:solidFill>
              </a:rPr>
              <a:t>Resultado coherente con los goles; 380 partidos, 20 equipos y 38 apariciones por temporada.</a:t>
            </a:r>
            <a:endParaRPr lang="en-US" sz="1450" dirty="0"/>
          </a:p>
        </p:txBody>
      </p:sp>
      <p:sp>
        <p:nvSpPr>
          <p:cNvPr id="22" name="Shape 18"/>
          <p:cNvSpPr/>
          <p:nvPr/>
        </p:nvSpPr>
        <p:spPr>
          <a:xfrm>
            <a:off x="548640" y="5303520"/>
            <a:ext cx="502920" cy="502920"/>
          </a:xfrm>
          <a:prstGeom prst="ellipse">
            <a:avLst/>
          </a:prstGeom>
          <a:solidFill>
            <a:srgbClr val="1F8A5B"/>
          </a:solidFill>
          <a:ln w="12700">
            <a:solidFill>
              <a:srgbClr val="1F8A5B"/>
            </a:solidFill>
            <a:prstDash val="solid"/>
          </a:ln>
        </p:spPr>
        <p:txBody>
          <a:bodyPr/>
          <a:lstStyle/>
          <a:p>
            <a:endParaRPr lang="es-CO"/>
          </a:p>
        </p:txBody>
      </p:sp>
      <p:pic>
        <p:nvPicPr>
          <p:cNvPr id="23" name="Image 2" descr="preencoded.png"/>
          <p:cNvPicPr>
            <a:picLocks noChangeAspect="1"/>
          </p:cNvPicPr>
          <p:nvPr/>
        </p:nvPicPr>
        <p:blipFill>
          <a:blip r:embed="rId5"/>
          <a:stretch>
            <a:fillRect/>
          </a:stretch>
        </p:blipFill>
        <p:spPr>
          <a:xfrm>
            <a:off x="679399" y="5434279"/>
            <a:ext cx="241402" cy="241402"/>
          </a:xfrm>
          <a:prstGeom prst="rect">
            <a:avLst/>
          </a:prstGeom>
        </p:spPr>
      </p:pic>
      <p:sp>
        <p:nvSpPr>
          <p:cNvPr id="24" name="Text 19"/>
          <p:cNvSpPr txBox="1"/>
          <p:nvPr/>
        </p:nvSpPr>
        <p:spPr>
          <a:xfrm>
            <a:off x="1234440" y="5303520"/>
            <a:ext cx="5669280" cy="502920"/>
          </a:xfrm>
          <a:prstGeom prst="rect">
            <a:avLst/>
          </a:prstGeom>
          <a:noFill/>
          <a:ln/>
        </p:spPr>
        <p:txBody>
          <a:bodyPr wrap="square" lIns="0" tIns="0" rIns="0" bIns="0" rtlCol="0" anchor="ctr"/>
          <a:lstStyle/>
          <a:p>
            <a:pPr marL="0" indent="0">
              <a:spcAft>
                <a:spcPts val="600"/>
              </a:spcAft>
              <a:buNone/>
            </a:pPr>
            <a:r>
              <a:rPr lang="en-US" sz="1450" dirty="0">
                <a:solidFill>
                  <a:schemeClr val="tx1"/>
                </a:solidFill>
              </a:rPr>
              <a:t>Cuotas &gt; 1 y margen entre 0 y 20 pp; nada se imputa.</a:t>
            </a:r>
            <a:endParaRPr lang="en-US" sz="1450" dirty="0"/>
          </a:p>
        </p:txBody>
      </p:sp>
      <p:sp>
        <p:nvSpPr>
          <p:cNvPr id="25" name="Shape 20"/>
          <p:cNvSpPr/>
          <p:nvPr/>
        </p:nvSpPr>
        <p:spPr>
          <a:xfrm>
            <a:off x="7223760" y="3931920"/>
            <a:ext cx="4389120" cy="1965960"/>
          </a:xfrm>
          <a:prstGeom prst="roundRect">
            <a:avLst>
              <a:gd name="adj" fmla="val 6977"/>
            </a:avLst>
          </a:prstGeom>
          <a:solidFill>
            <a:srgbClr val="FDF3D0"/>
          </a:solidFill>
          <a:ln w="12700">
            <a:solidFill>
              <a:srgbClr val="FDF3D0"/>
            </a:solidFill>
            <a:prstDash val="solid"/>
          </a:ln>
        </p:spPr>
        <p:txBody>
          <a:bodyPr/>
          <a:lstStyle/>
          <a:p>
            <a:endParaRPr lang="es-CO"/>
          </a:p>
        </p:txBody>
      </p:sp>
      <p:sp>
        <p:nvSpPr>
          <p:cNvPr id="26" name="Shape 21"/>
          <p:cNvSpPr/>
          <p:nvPr/>
        </p:nvSpPr>
        <p:spPr>
          <a:xfrm>
            <a:off x="7452360" y="4114800"/>
            <a:ext cx="548640" cy="548640"/>
          </a:xfrm>
          <a:prstGeom prst="ellipse">
            <a:avLst/>
          </a:prstGeom>
          <a:solidFill>
            <a:srgbClr val="F2B705"/>
          </a:solidFill>
          <a:ln w="12700">
            <a:solidFill>
              <a:srgbClr val="F2B705"/>
            </a:solidFill>
            <a:prstDash val="solid"/>
          </a:ln>
        </p:spPr>
        <p:txBody>
          <a:bodyPr/>
          <a:lstStyle/>
          <a:p>
            <a:endParaRPr lang="es-CO"/>
          </a:p>
        </p:txBody>
      </p:sp>
      <p:pic>
        <p:nvPicPr>
          <p:cNvPr id="27" name="Image 3" descr="preencoded.png"/>
          <p:cNvPicPr>
            <a:picLocks noChangeAspect="1"/>
          </p:cNvPicPr>
          <p:nvPr/>
        </p:nvPicPr>
        <p:blipFill>
          <a:blip r:embed="rId6"/>
          <a:stretch>
            <a:fillRect/>
          </a:stretch>
        </p:blipFill>
        <p:spPr>
          <a:xfrm>
            <a:off x="7595006" y="4257446"/>
            <a:ext cx="263347" cy="263347"/>
          </a:xfrm>
          <a:prstGeom prst="rect">
            <a:avLst/>
          </a:prstGeom>
        </p:spPr>
      </p:pic>
      <p:sp>
        <p:nvSpPr>
          <p:cNvPr id="28" name="Text 22"/>
          <p:cNvSpPr txBox="1"/>
          <p:nvPr/>
        </p:nvSpPr>
        <p:spPr>
          <a:xfrm>
            <a:off x="8183880" y="4114800"/>
            <a:ext cx="3291840" cy="548640"/>
          </a:xfrm>
          <a:prstGeom prst="rect">
            <a:avLst/>
          </a:prstGeom>
          <a:noFill/>
          <a:ln/>
        </p:spPr>
        <p:txBody>
          <a:bodyPr wrap="square" lIns="0" tIns="0" rIns="0" bIns="0" rtlCol="0" anchor="ctr"/>
          <a:lstStyle/>
          <a:p>
            <a:pPr marL="0" indent="0">
              <a:buNone/>
            </a:pPr>
            <a:r>
              <a:rPr lang="en-US" sz="1500" b="1" dirty="0">
                <a:solidFill>
                  <a:schemeClr val="tx1"/>
                </a:solidFill>
              </a:rPr>
              <a:t>Advertencia de la fuente</a:t>
            </a:r>
            <a:endParaRPr lang="en-US" sz="1500" dirty="0"/>
          </a:p>
        </p:txBody>
      </p:sp>
      <p:sp>
        <p:nvSpPr>
          <p:cNvPr id="29" name="Text 23"/>
          <p:cNvSpPr txBox="1"/>
          <p:nvPr/>
        </p:nvSpPr>
        <p:spPr>
          <a:xfrm>
            <a:off x="7452360" y="4800600"/>
            <a:ext cx="3977640" cy="1005840"/>
          </a:xfrm>
          <a:prstGeom prst="rect">
            <a:avLst/>
          </a:prstGeom>
          <a:noFill/>
          <a:ln/>
        </p:spPr>
        <p:txBody>
          <a:bodyPr wrap="square" lIns="0" tIns="0" rIns="0" bIns="0" rtlCol="0" anchor="t"/>
          <a:lstStyle/>
          <a:p>
            <a:pPr marL="0" indent="0">
              <a:spcAft>
                <a:spcPts val="600"/>
              </a:spcAft>
              <a:buNone/>
            </a:pPr>
            <a:r>
              <a:rPr lang="en-US" sz="1350" dirty="0">
                <a:solidFill>
                  <a:schemeClr val="tx1"/>
                </a:solidFill>
              </a:rPr>
              <a:t>Las cuotas de Pinnacle son poco confiables desde el 23/07/2025. Por eso el periodo termina en 2024/25.</a:t>
            </a:r>
            <a:endParaRPr lang="en-US" sz="1350" dirty="0"/>
          </a:p>
        </p:txBody>
      </p:sp>
      <p:sp>
        <p:nvSpPr>
          <p:cNvPr id="30"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F68"/>
                </a:solidFill>
              </a:defRPr>
            </a:lvl1pPr>
          </a:lstStyle>
          <a:p>
            <a:pPr algn="r"/>
            <a:fld id="{F7021451-1387-4CA6-816F-3879F97B5CBC}" type="slidenum">
              <a:rPr lang="en-US" b="0"/>
              <a:t>4</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anel"/>
          <p:cNvSpPr/>
          <p:nvPr/>
        </p:nvSpPr>
        <p:spPr>
          <a:xfrm>
            <a:off x="0" y="0"/>
            <a:ext cx="12191695" cy="6858000"/>
          </a:xfrm>
          <a:prstGeom prst="roundRect">
            <a:avLst/>
          </a:prstGeom>
          <a:solidFill>
            <a:srgbClr val="0C2B22"/>
          </a:solidFill>
          <a:ln w="12700">
            <a:solidFill>
              <a:srgbClr val="0C2B22"/>
            </a:solidFill>
            <a:prstDash val="solid"/>
          </a:ln>
        </p:spPr>
        <p:txBody>
          <a:bodyPr/>
          <a:lstStyle/>
          <a:p>
            <a:endParaRPr lang="es-CO"/>
          </a:p>
        </p:txBody>
      </p:sp>
      <p:sp>
        <p:nvSpPr>
          <p:cNvPr id="3" name="!!ring"/>
          <p:cNvSpPr/>
          <p:nvPr/>
        </p:nvSpPr>
        <p:spPr>
          <a:xfrm>
            <a:off x="7726680" y="960120"/>
            <a:ext cx="4754880" cy="4754880"/>
          </a:xfrm>
          <a:prstGeom prst="ellipse">
            <a:avLst/>
          </a:prstGeom>
          <a:solidFill>
            <a:srgbClr val="FFFFFF">
              <a:alpha val="0"/>
            </a:srgbClr>
          </a:solidFill>
          <a:ln w="38100">
            <a:solidFill>
              <a:srgbClr val="1F8A5B"/>
            </a:solidFill>
            <a:prstDash val="solid"/>
          </a:ln>
        </p:spPr>
        <p:txBody>
          <a:bodyPr/>
          <a:lstStyle/>
          <a:p>
            <a:endParaRPr lang="es-CO"/>
          </a:p>
        </p:txBody>
      </p:sp>
      <p:sp>
        <p:nvSpPr>
          <p:cNvPr id="4" name="!!ball"/>
          <p:cNvSpPr/>
          <p:nvPr/>
        </p:nvSpPr>
        <p:spPr>
          <a:xfrm>
            <a:off x="9921240" y="3154680"/>
            <a:ext cx="365760" cy="365760"/>
          </a:xfrm>
          <a:prstGeom prst="ellipse">
            <a:avLst/>
          </a:prstGeom>
          <a:solidFill>
            <a:srgbClr val="F2B705"/>
          </a:solidFill>
          <a:ln w="12700">
            <a:solidFill>
              <a:srgbClr val="F2B705"/>
            </a:solidFill>
            <a:prstDash val="solid"/>
          </a:ln>
        </p:spPr>
        <p:txBody>
          <a:bodyPr/>
          <a:lstStyle/>
          <a:p>
            <a:endParaRPr lang="es-CO"/>
          </a:p>
        </p:txBody>
      </p:sp>
      <p:sp>
        <p:nvSpPr>
          <p:cNvPr id="5" name="Text 3"/>
          <p:cNvSpPr txBox="1"/>
          <p:nvPr/>
        </p:nvSpPr>
        <p:spPr>
          <a:xfrm>
            <a:off x="731520" y="1463040"/>
            <a:ext cx="6766560" cy="411480"/>
          </a:xfrm>
          <a:prstGeom prst="rect">
            <a:avLst/>
          </a:prstGeom>
          <a:noFill/>
          <a:ln/>
        </p:spPr>
        <p:txBody>
          <a:bodyPr wrap="square" lIns="0" tIns="0" rIns="0" bIns="0" rtlCol="0" anchor="ctr"/>
          <a:lstStyle/>
          <a:p>
            <a:pPr marL="0" indent="0">
              <a:buNone/>
            </a:pPr>
            <a:r>
              <a:rPr lang="en-US" sz="1500" b="1" kern="0" spc="200" dirty="0">
                <a:solidFill>
                  <a:schemeClr val="accent2"/>
                </a:solidFill>
              </a:rPr>
              <a:t>PREGUNTA PRINCIPAL</a:t>
            </a:r>
            <a:endParaRPr lang="en-US" sz="1500" dirty="0"/>
          </a:p>
        </p:txBody>
      </p:sp>
      <p:sp>
        <p:nvSpPr>
          <p:cNvPr id="6" name="Shape 4"/>
          <p:cNvSpPr/>
          <p:nvPr/>
        </p:nvSpPr>
        <p:spPr>
          <a:xfrm>
            <a:off x="731520" y="1920240"/>
            <a:ext cx="822960" cy="109728"/>
          </a:xfrm>
          <a:prstGeom prst="roundRect">
            <a:avLst>
              <a:gd name="adj" fmla="val 50000"/>
            </a:avLst>
          </a:prstGeom>
          <a:solidFill>
            <a:srgbClr val="1F8A5B"/>
          </a:solidFill>
          <a:ln w="12700">
            <a:solidFill>
              <a:srgbClr val="1F8A5B"/>
            </a:solidFill>
            <a:prstDash val="solid"/>
          </a:ln>
        </p:spPr>
        <p:txBody>
          <a:bodyPr/>
          <a:lstStyle/>
          <a:p>
            <a:endParaRPr lang="es-CO"/>
          </a:p>
        </p:txBody>
      </p:sp>
      <p:sp>
        <p:nvSpPr>
          <p:cNvPr id="7" name="Text 0"/>
          <p:cNvSpPr>
            <a:spLocks noGrp="1"/>
          </p:cNvSpPr>
          <p:nvPr>
            <p:ph type="title" idx="100" hasCustomPrompt="1"/>
          </p:nvPr>
        </p:nvSpPr>
        <p:spPr>
          <a:xfrm>
            <a:off x="731520" y="2377440"/>
            <a:ext cx="6766560" cy="1371600"/>
          </a:xfrm>
          <a:prstGeom prst="rect">
            <a:avLst/>
          </a:prstGeom>
          <a:noFill/>
          <a:ln/>
        </p:spPr>
        <p:txBody>
          <a:bodyPr wrap="square" lIns="0" tIns="0" rIns="0" bIns="0" rtlCol="0" anchor="b"/>
          <a:lstStyle/>
          <a:p>
            <a:pPr marL="0" indent="0" algn="l">
              <a:buNone/>
            </a:pPr>
            <a:r>
              <a:rPr lang="en-US" sz="4400" b="1" dirty="0">
                <a:solidFill>
                  <a:schemeClr val="bg1"/>
                </a:solidFill>
              </a:rPr>
              <a:t>¿Están bien calibradas las cuotas?</a:t>
            </a:r>
            <a:endParaRPr lang="en-US" sz="4400" dirty="0"/>
          </a:p>
        </p:txBody>
      </p:sp>
      <p:sp>
        <p:nvSpPr>
          <p:cNvPr id="8" name="Text 0"/>
          <p:cNvSpPr>
            <a:spLocks noGrp="1"/>
          </p:cNvSpPr>
          <p:nvPr>
            <p:ph type="body" idx="101" hasCustomPrompt="1"/>
          </p:nvPr>
        </p:nvSpPr>
        <p:spPr>
          <a:xfrm>
            <a:off x="731520" y="3931920"/>
            <a:ext cx="6583680" cy="1600200"/>
          </a:xfrm>
          <a:prstGeom prst="rect">
            <a:avLst/>
          </a:prstGeom>
          <a:noFill/>
          <a:ln/>
        </p:spPr>
        <p:txBody>
          <a:bodyPr wrap="square" lIns="0" tIns="0" rIns="0" bIns="0" rtlCol="0" anchor="t"/>
          <a:lstStyle/>
          <a:p>
            <a:pPr marL="0" indent="0" algn="l">
              <a:buNone/>
            </a:pPr>
            <a:r>
              <a:rPr lang="en-US" sz="1900" dirty="0">
                <a:solidFill>
                  <a:schemeClr val="bg2"/>
                </a:solidFill>
              </a:rPr>
              <a:t>Local, empate y visitante en Bet365 y Pinnacle, Premier y LaLiga 2022/23–2024/25. ¿Cuánto depende el sesgo favorito–longshot del método para quitar el margen?</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5</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68680"/>
          </a:xfrm>
          <a:prstGeom prst="rect">
            <a:avLst/>
          </a:prstGeom>
          <a:noFill/>
          <a:ln/>
        </p:spPr>
        <p:txBody>
          <a:bodyPr wrap="square" lIns="0" tIns="0" rIns="0" bIns="0" rtlCol="0" anchor="ctr"/>
          <a:lstStyle/>
          <a:p>
            <a:pPr marL="0" indent="0" algn="l">
              <a:buNone/>
            </a:pPr>
            <a:r>
              <a:rPr lang="en-US" sz="3400" b="1" dirty="0">
                <a:solidFill>
                  <a:schemeClr val="tx2"/>
                </a:solidFill>
              </a:rPr>
              <a:t>Una cuota es una probabilidad… inflada</a:t>
            </a:r>
            <a:endParaRPr lang="en-US" sz="3400" dirty="0"/>
          </a:p>
        </p:txBody>
      </p:sp>
      <p:sp>
        <p:nvSpPr>
          <p:cNvPr id="3" name="Shape 1"/>
          <p:cNvSpPr/>
          <p:nvPr/>
        </p:nvSpPr>
        <p:spPr>
          <a:xfrm>
            <a:off x="548640" y="128016"/>
            <a:ext cx="2619756" cy="274320"/>
          </a:xfrm>
          <a:prstGeom prst="roundRect">
            <a:avLst>
              <a:gd name="adj" fmla="val 50000"/>
            </a:avLst>
          </a:prstGeom>
          <a:solidFill>
            <a:srgbClr val="1F8A5B"/>
          </a:solidFill>
          <a:ln w="12700">
            <a:solidFill>
              <a:srgbClr val="1F8A5B"/>
            </a:solidFill>
            <a:prstDash val="solid"/>
          </a:ln>
        </p:spPr>
        <p:txBody>
          <a:bodyPr/>
          <a:lstStyle/>
          <a:p>
            <a:endParaRPr lang="es-CO"/>
          </a:p>
        </p:txBody>
      </p:sp>
      <p:sp>
        <p:nvSpPr>
          <p:cNvPr id="4" name="Text 2"/>
          <p:cNvSpPr txBox="1"/>
          <p:nvPr/>
        </p:nvSpPr>
        <p:spPr>
          <a:xfrm>
            <a:off x="548640" y="128016"/>
            <a:ext cx="2619756" cy="274320"/>
          </a:xfrm>
          <a:prstGeom prst="rect">
            <a:avLst/>
          </a:prstGeom>
          <a:noFill/>
          <a:ln/>
        </p:spPr>
        <p:txBody>
          <a:bodyPr wrap="square" lIns="0" tIns="0" rIns="0" bIns="0" rtlCol="0" anchor="ctr"/>
          <a:lstStyle/>
          <a:p>
            <a:pPr marL="0" indent="0" algn="ctr">
              <a:buNone/>
            </a:pPr>
            <a:r>
              <a:rPr lang="en-US" sz="1050" b="1" kern="0" spc="100" dirty="0">
                <a:solidFill>
                  <a:schemeClr val="bg1"/>
                </a:solidFill>
              </a:rPr>
              <a:t>PREGUNTA PRINCIPAL · MÉTODO</a:t>
            </a:r>
            <a:endParaRPr lang="en-US" sz="1050" dirty="0"/>
          </a:p>
        </p:txBody>
      </p:sp>
      <p:sp>
        <p:nvSpPr>
          <p:cNvPr id="5" name="!!panel"/>
          <p:cNvSpPr/>
          <p:nvPr/>
        </p:nvSpPr>
        <p:spPr>
          <a:xfrm>
            <a:off x="548640" y="4160520"/>
            <a:ext cx="11064240" cy="1783080"/>
          </a:xfrm>
          <a:prstGeom prst="roundRect">
            <a:avLst>
              <a:gd name="adj" fmla="val 9231"/>
            </a:avLst>
          </a:prstGeom>
          <a:solidFill>
            <a:srgbClr val="0C2B22"/>
          </a:solidFill>
          <a:ln w="12700">
            <a:solidFill>
              <a:srgbClr val="0C2B22"/>
            </a:solidFill>
            <a:prstDash val="solid"/>
          </a:ln>
        </p:spPr>
        <p:txBody>
          <a:bodyPr/>
          <a:lstStyle/>
          <a:p>
            <a:endParaRPr lang="es-CO"/>
          </a:p>
        </p:txBody>
      </p:sp>
      <p:sp>
        <p:nvSpPr>
          <p:cNvPr id="6" name="!!ring"/>
          <p:cNvSpPr/>
          <p:nvPr/>
        </p:nvSpPr>
        <p:spPr>
          <a:xfrm>
            <a:off x="10972800" y="384048"/>
            <a:ext cx="731520" cy="731520"/>
          </a:xfrm>
          <a:prstGeom prst="ellipse">
            <a:avLst/>
          </a:prstGeom>
          <a:solidFill>
            <a:srgbClr val="FFFFFF">
              <a:alpha val="0"/>
            </a:srgbClr>
          </a:solidFill>
          <a:ln w="31750">
            <a:solidFill>
              <a:srgbClr val="1F8A5B"/>
            </a:solidFill>
            <a:prstDash val="solid"/>
          </a:ln>
        </p:spPr>
        <p:txBody>
          <a:bodyPr/>
          <a:lstStyle/>
          <a:p>
            <a:endParaRPr lang="es-CO"/>
          </a:p>
        </p:txBody>
      </p:sp>
      <p:sp>
        <p:nvSpPr>
          <p:cNvPr id="7" name="!!ball"/>
          <p:cNvSpPr/>
          <p:nvPr/>
        </p:nvSpPr>
        <p:spPr>
          <a:xfrm>
            <a:off x="11256264" y="667512"/>
            <a:ext cx="164592" cy="164592"/>
          </a:xfrm>
          <a:prstGeom prst="ellipse">
            <a:avLst/>
          </a:prstGeom>
          <a:solidFill>
            <a:srgbClr val="F2B705"/>
          </a:solidFill>
          <a:ln w="12700">
            <a:solidFill>
              <a:srgbClr val="F2B705"/>
            </a:solidFill>
            <a:prstDash val="solid"/>
          </a:ln>
        </p:spPr>
        <p:txBody>
          <a:bodyPr/>
          <a:lstStyle/>
          <a:p>
            <a:endParaRPr lang="es-CO"/>
          </a:p>
        </p:txBody>
      </p:sp>
      <p:sp>
        <p:nvSpPr>
          <p:cNvPr id="8" name="Text 6"/>
          <p:cNvSpPr txBox="1"/>
          <p:nvPr/>
        </p:nvSpPr>
        <p:spPr>
          <a:xfrm>
            <a:off x="548640" y="1417320"/>
            <a:ext cx="10972800" cy="777240"/>
          </a:xfrm>
          <a:prstGeom prst="rect">
            <a:avLst/>
          </a:prstGeom>
          <a:noFill/>
          <a:ln/>
        </p:spPr>
        <p:txBody>
          <a:bodyPr wrap="square" lIns="0" tIns="0" rIns="0" bIns="0" rtlCol="0" anchor="t"/>
          <a:lstStyle/>
          <a:p>
            <a:pPr marL="0" indent="0">
              <a:spcAft>
                <a:spcPts val="600"/>
              </a:spcAft>
              <a:buNone/>
            </a:pPr>
            <a:r>
              <a:rPr lang="en-US" sz="1800" b="1" dirty="0">
                <a:solidFill>
                  <a:schemeClr val="tx1"/>
                </a:solidFill>
              </a:rPr>
              <a:t>Probabilidad implícita = 1 / cuota</a:t>
            </a:r>
            <a:endParaRPr lang="en-US" sz="1800" dirty="0"/>
          </a:p>
          <a:p>
            <a:pPr marL="0" indent="0">
              <a:spcAft>
                <a:spcPts val="600"/>
              </a:spcAft>
              <a:buNone/>
            </a:pPr>
            <a:r>
              <a:rPr lang="en-US" sz="1800" dirty="0">
                <a:solidFill>
                  <a:schemeClr val="tx1"/>
                </a:solidFill>
              </a:rPr>
              <a:t>Ejemplo con cuotas 2,10 · 3,40 · 3,75 (local · empate · visitante):</a:t>
            </a:r>
            <a:endParaRPr lang="en-US" sz="1800" dirty="0"/>
          </a:p>
        </p:txBody>
      </p:sp>
      <p:sp>
        <p:nvSpPr>
          <p:cNvPr id="9" name="Shape 7"/>
          <p:cNvSpPr/>
          <p:nvPr/>
        </p:nvSpPr>
        <p:spPr>
          <a:xfrm>
            <a:off x="822960" y="2377440"/>
            <a:ext cx="4542739" cy="868680"/>
          </a:xfrm>
          <a:prstGeom prst="rect">
            <a:avLst/>
          </a:prstGeom>
          <a:solidFill>
            <a:srgbClr val="1F8A5B"/>
          </a:solidFill>
          <a:ln w="12700">
            <a:solidFill>
              <a:srgbClr val="1F8A5B"/>
            </a:solidFill>
            <a:prstDash val="solid"/>
          </a:ln>
        </p:spPr>
        <p:txBody>
          <a:bodyPr/>
          <a:lstStyle/>
          <a:p>
            <a:endParaRPr lang="es-CO"/>
          </a:p>
        </p:txBody>
      </p:sp>
      <p:sp>
        <p:nvSpPr>
          <p:cNvPr id="10" name="Text 8"/>
          <p:cNvSpPr txBox="1"/>
          <p:nvPr/>
        </p:nvSpPr>
        <p:spPr>
          <a:xfrm>
            <a:off x="822960" y="2377440"/>
            <a:ext cx="4542739" cy="868680"/>
          </a:xfrm>
          <a:prstGeom prst="rect">
            <a:avLst/>
          </a:prstGeom>
          <a:noFill/>
          <a:ln/>
        </p:spPr>
        <p:txBody>
          <a:bodyPr wrap="square" lIns="0" tIns="0" rIns="0" bIns="0" rtlCol="0" anchor="ctr"/>
          <a:lstStyle/>
          <a:p>
            <a:pPr marL="0" indent="0" algn="ctr">
              <a:buNone/>
            </a:pPr>
            <a:r>
              <a:rPr lang="en-US" sz="1500" b="1" dirty="0">
                <a:solidFill>
                  <a:schemeClr val="bg1"/>
                </a:solidFill>
              </a:rPr>
              <a:t>Local 47,6 %</a:t>
            </a:r>
            <a:endParaRPr lang="en-US" sz="1500" dirty="0"/>
          </a:p>
        </p:txBody>
      </p:sp>
      <p:sp>
        <p:nvSpPr>
          <p:cNvPr id="11" name="Shape 9"/>
          <p:cNvSpPr/>
          <p:nvPr/>
        </p:nvSpPr>
        <p:spPr>
          <a:xfrm>
            <a:off x="5393131" y="2377440"/>
            <a:ext cx="2795321" cy="868680"/>
          </a:xfrm>
          <a:prstGeom prst="rect">
            <a:avLst/>
          </a:prstGeom>
          <a:solidFill>
            <a:srgbClr val="8AA399"/>
          </a:solidFill>
          <a:ln w="12700">
            <a:solidFill>
              <a:srgbClr val="8AA399"/>
            </a:solidFill>
            <a:prstDash val="solid"/>
          </a:ln>
        </p:spPr>
        <p:txBody>
          <a:bodyPr/>
          <a:lstStyle/>
          <a:p>
            <a:endParaRPr lang="es-CO"/>
          </a:p>
        </p:txBody>
      </p:sp>
      <p:sp>
        <p:nvSpPr>
          <p:cNvPr id="12" name="Text 10"/>
          <p:cNvSpPr txBox="1"/>
          <p:nvPr/>
        </p:nvSpPr>
        <p:spPr>
          <a:xfrm>
            <a:off x="5393131" y="2377440"/>
            <a:ext cx="2795321" cy="868680"/>
          </a:xfrm>
          <a:prstGeom prst="rect">
            <a:avLst/>
          </a:prstGeom>
          <a:noFill/>
          <a:ln/>
        </p:spPr>
        <p:txBody>
          <a:bodyPr wrap="square" lIns="0" tIns="0" rIns="0" bIns="0" rtlCol="0" anchor="ctr"/>
          <a:lstStyle/>
          <a:p>
            <a:pPr marL="0" indent="0" algn="ctr">
              <a:buNone/>
            </a:pPr>
            <a:r>
              <a:rPr lang="en-US" sz="1500" b="1" dirty="0">
                <a:solidFill>
                  <a:schemeClr val="bg1"/>
                </a:solidFill>
              </a:rPr>
              <a:t>Empate 29,4 %</a:t>
            </a:r>
            <a:endParaRPr lang="en-US" sz="1500" dirty="0"/>
          </a:p>
        </p:txBody>
      </p:sp>
      <p:sp>
        <p:nvSpPr>
          <p:cNvPr id="13" name="Shape 11"/>
          <p:cNvSpPr/>
          <p:nvPr/>
        </p:nvSpPr>
        <p:spPr>
          <a:xfrm>
            <a:off x="8215884" y="2377440"/>
            <a:ext cx="2536088" cy="868680"/>
          </a:xfrm>
          <a:prstGeom prst="rect">
            <a:avLst/>
          </a:prstGeom>
          <a:solidFill>
            <a:srgbClr val="2F6FB2"/>
          </a:solidFill>
          <a:ln w="12700">
            <a:solidFill>
              <a:srgbClr val="2F6FB2"/>
            </a:solidFill>
            <a:prstDash val="solid"/>
          </a:ln>
        </p:spPr>
        <p:txBody>
          <a:bodyPr/>
          <a:lstStyle/>
          <a:p>
            <a:endParaRPr lang="es-CO"/>
          </a:p>
        </p:txBody>
      </p:sp>
      <p:sp>
        <p:nvSpPr>
          <p:cNvPr id="14" name="Text 12"/>
          <p:cNvSpPr txBox="1"/>
          <p:nvPr/>
        </p:nvSpPr>
        <p:spPr>
          <a:xfrm>
            <a:off x="8215884" y="2377440"/>
            <a:ext cx="2536088" cy="868680"/>
          </a:xfrm>
          <a:prstGeom prst="rect">
            <a:avLst/>
          </a:prstGeom>
          <a:noFill/>
          <a:ln/>
        </p:spPr>
        <p:txBody>
          <a:bodyPr wrap="square" lIns="0" tIns="0" rIns="0" bIns="0" rtlCol="0" anchor="ctr"/>
          <a:lstStyle/>
          <a:p>
            <a:pPr marL="0" indent="0" algn="ctr">
              <a:buNone/>
            </a:pPr>
            <a:r>
              <a:rPr lang="en-US" sz="1500" b="1" dirty="0">
                <a:solidFill>
                  <a:schemeClr val="bg1"/>
                </a:solidFill>
              </a:rPr>
              <a:t>Visitante 26,7 %</a:t>
            </a:r>
            <a:endParaRPr lang="en-US" sz="1500" dirty="0"/>
          </a:p>
        </p:txBody>
      </p:sp>
      <p:sp>
        <p:nvSpPr>
          <p:cNvPr id="15" name="Shape 13"/>
          <p:cNvSpPr/>
          <p:nvPr/>
        </p:nvSpPr>
        <p:spPr>
          <a:xfrm>
            <a:off x="10424160" y="2057400"/>
            <a:ext cx="0" cy="1508760"/>
          </a:xfrm>
          <a:prstGeom prst="line">
            <a:avLst/>
          </a:prstGeom>
          <a:noFill/>
          <a:ln w="31750">
            <a:solidFill>
              <a:srgbClr val="D64545"/>
            </a:solidFill>
            <a:prstDash val="dash"/>
          </a:ln>
        </p:spPr>
        <p:txBody>
          <a:bodyPr/>
          <a:lstStyle/>
          <a:p>
            <a:endParaRPr lang="es-CO"/>
          </a:p>
        </p:txBody>
      </p:sp>
      <p:sp>
        <p:nvSpPr>
          <p:cNvPr id="16" name="Text 14"/>
          <p:cNvSpPr txBox="1"/>
          <p:nvPr/>
        </p:nvSpPr>
        <p:spPr>
          <a:xfrm>
            <a:off x="9875520" y="1737360"/>
            <a:ext cx="1097280" cy="292608"/>
          </a:xfrm>
          <a:prstGeom prst="rect">
            <a:avLst/>
          </a:prstGeom>
          <a:noFill/>
          <a:ln/>
        </p:spPr>
        <p:txBody>
          <a:bodyPr wrap="square" lIns="0" tIns="0" rIns="0" bIns="0" rtlCol="0" anchor="ctr"/>
          <a:lstStyle/>
          <a:p>
            <a:pPr marL="0" indent="0" algn="ctr">
              <a:buNone/>
            </a:pPr>
            <a:r>
              <a:rPr lang="en-US" sz="1300" b="1" dirty="0">
                <a:solidFill>
                  <a:schemeClr val="accent3"/>
                </a:solidFill>
              </a:rPr>
              <a:t>100 %</a:t>
            </a:r>
            <a:endParaRPr lang="en-US" sz="1300" dirty="0"/>
          </a:p>
        </p:txBody>
      </p:sp>
      <p:sp>
        <p:nvSpPr>
          <p:cNvPr id="17" name="Text 15"/>
          <p:cNvSpPr txBox="1"/>
          <p:nvPr/>
        </p:nvSpPr>
        <p:spPr>
          <a:xfrm>
            <a:off x="822960" y="3383280"/>
            <a:ext cx="8229600" cy="365760"/>
          </a:xfrm>
          <a:prstGeom prst="rect">
            <a:avLst/>
          </a:prstGeom>
          <a:noFill/>
          <a:ln/>
        </p:spPr>
        <p:txBody>
          <a:bodyPr wrap="square" lIns="0" tIns="0" rIns="0" bIns="0" rtlCol="0" anchor="ctr"/>
          <a:lstStyle/>
          <a:p>
            <a:pPr marL="0" indent="0" algn="l">
              <a:buNone/>
            </a:pPr>
            <a:r>
              <a:rPr lang="en-US" sz="1500" b="1" dirty="0">
                <a:solidFill>
                  <a:schemeClr val="tx2"/>
                </a:solidFill>
              </a:rPr>
              <a:t>Suma: 47,6 + 29,4 + 26,7 = 103,7 %  (más de 100 %)</a:t>
            </a:r>
            <a:endParaRPr lang="en-US" sz="1500" dirty="0"/>
          </a:p>
        </p:txBody>
      </p:sp>
      <p:sp>
        <p:nvSpPr>
          <p:cNvPr id="18" name="Text 16"/>
          <p:cNvSpPr txBox="1"/>
          <p:nvPr/>
        </p:nvSpPr>
        <p:spPr>
          <a:xfrm>
            <a:off x="914400" y="4224528"/>
            <a:ext cx="2743200" cy="868680"/>
          </a:xfrm>
          <a:prstGeom prst="rect">
            <a:avLst/>
          </a:prstGeom>
          <a:noFill/>
          <a:ln/>
        </p:spPr>
        <p:txBody>
          <a:bodyPr wrap="square" lIns="0" tIns="0" rIns="0" bIns="0" rtlCol="0" anchor="b"/>
          <a:lstStyle/>
          <a:p>
            <a:pPr marL="0" indent="0">
              <a:buNone/>
            </a:pPr>
            <a:r>
              <a:rPr lang="en-US" sz="4000" b="1" dirty="0">
                <a:solidFill>
                  <a:schemeClr val="accent2"/>
                </a:solidFill>
                <a:latin typeface="Arial" pitchFamily="34" charset="0"/>
                <a:ea typeface="Arial" pitchFamily="34" charset="-122"/>
                <a:cs typeface="Arial" pitchFamily="34" charset="-120"/>
              </a:rPr>
              <a:t>3,7 pp</a:t>
            </a:r>
            <a:endParaRPr lang="en-US" sz="4000" dirty="0"/>
          </a:p>
        </p:txBody>
      </p:sp>
      <p:sp>
        <p:nvSpPr>
          <p:cNvPr id="19" name="Text 17"/>
          <p:cNvSpPr txBox="1"/>
          <p:nvPr/>
        </p:nvSpPr>
        <p:spPr>
          <a:xfrm>
            <a:off x="914400" y="5138928"/>
            <a:ext cx="2743200" cy="685800"/>
          </a:xfrm>
          <a:prstGeom prst="rect">
            <a:avLst/>
          </a:prstGeom>
          <a:noFill/>
          <a:ln/>
        </p:spPr>
        <p:txBody>
          <a:bodyPr wrap="square" lIns="0" tIns="0" rIns="0" bIns="0" rtlCol="0" anchor="t"/>
          <a:lstStyle/>
          <a:p>
            <a:pPr marL="0" indent="0">
              <a:buNone/>
            </a:pPr>
            <a:r>
              <a:rPr lang="en-US" sz="1400" dirty="0">
                <a:solidFill>
                  <a:schemeClr val="bg2"/>
                </a:solidFill>
              </a:rPr>
              <a:t>es el margen de este partido: lo que cobra la casa</a:t>
            </a:r>
            <a:endParaRPr lang="en-US" sz="1400" dirty="0"/>
          </a:p>
        </p:txBody>
      </p:sp>
      <p:sp>
        <p:nvSpPr>
          <p:cNvPr id="20" name="Text 18"/>
          <p:cNvSpPr txBox="1"/>
          <p:nvPr/>
        </p:nvSpPr>
        <p:spPr>
          <a:xfrm>
            <a:off x="4206240" y="4343400"/>
            <a:ext cx="7040880" cy="1417320"/>
          </a:xfrm>
          <a:prstGeom prst="rect">
            <a:avLst/>
          </a:prstGeom>
          <a:noFill/>
          <a:ln/>
        </p:spPr>
        <p:txBody>
          <a:bodyPr wrap="square" lIns="0" tIns="0" rIns="0" bIns="0" rtlCol="0" anchor="ctr"/>
          <a:lstStyle/>
          <a:p>
            <a:pPr marL="0" indent="0">
              <a:spcAft>
                <a:spcPts val="600"/>
              </a:spcAft>
              <a:buNone/>
            </a:pPr>
            <a:r>
              <a:rPr lang="en-US" sz="1600" dirty="0">
                <a:solidFill>
                  <a:schemeClr val="bg1"/>
                </a:solidFill>
              </a:rPr>
              <a:t>Comparar probabilidades brutas con frecuencias reales es un error: suman más de 100 % y siempre parecen sobrestimar. Primero hay que quitar el margen.</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F68"/>
                </a:solidFill>
              </a:defRPr>
            </a:lvl1pPr>
          </a:lstStyle>
          <a:p>
            <a:pPr algn="r"/>
            <a:fld id="{F7021451-1387-4CA6-816F-3879F97B5CBC}" type="slidenum">
              <a:rPr lang="en-US" b="0"/>
              <a:t>6</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68680"/>
          </a:xfrm>
          <a:prstGeom prst="rect">
            <a:avLst/>
          </a:prstGeom>
          <a:noFill/>
          <a:ln/>
        </p:spPr>
        <p:txBody>
          <a:bodyPr wrap="square" lIns="0" tIns="0" rIns="0" bIns="0" rtlCol="0" anchor="ctr"/>
          <a:lstStyle/>
          <a:p>
            <a:pPr marL="0" indent="0" algn="l">
              <a:buNone/>
            </a:pPr>
            <a:r>
              <a:rPr lang="en-US" sz="3400" b="1" dirty="0">
                <a:solidFill>
                  <a:schemeClr val="tx2"/>
                </a:solidFill>
              </a:rPr>
              <a:t>¿Cuánto cobra cada casa?</a:t>
            </a:r>
            <a:endParaRPr lang="en-US" sz="3400" dirty="0"/>
          </a:p>
        </p:txBody>
      </p:sp>
      <p:sp>
        <p:nvSpPr>
          <p:cNvPr id="3" name="Shape 1"/>
          <p:cNvSpPr/>
          <p:nvPr/>
        </p:nvSpPr>
        <p:spPr>
          <a:xfrm>
            <a:off x="548640" y="128016"/>
            <a:ext cx="2619756" cy="274320"/>
          </a:xfrm>
          <a:prstGeom prst="roundRect">
            <a:avLst>
              <a:gd name="adj" fmla="val 50000"/>
            </a:avLst>
          </a:prstGeom>
          <a:solidFill>
            <a:srgbClr val="1F8A5B"/>
          </a:solidFill>
          <a:ln w="12700">
            <a:solidFill>
              <a:srgbClr val="1F8A5B"/>
            </a:solidFill>
            <a:prstDash val="solid"/>
          </a:ln>
        </p:spPr>
        <p:txBody>
          <a:bodyPr/>
          <a:lstStyle/>
          <a:p>
            <a:endParaRPr lang="es-CO"/>
          </a:p>
        </p:txBody>
      </p:sp>
      <p:sp>
        <p:nvSpPr>
          <p:cNvPr id="4" name="Text 2"/>
          <p:cNvSpPr txBox="1"/>
          <p:nvPr/>
        </p:nvSpPr>
        <p:spPr>
          <a:xfrm>
            <a:off x="548640" y="128016"/>
            <a:ext cx="2619756" cy="274320"/>
          </a:xfrm>
          <a:prstGeom prst="rect">
            <a:avLst/>
          </a:prstGeom>
          <a:noFill/>
          <a:ln/>
        </p:spPr>
        <p:txBody>
          <a:bodyPr wrap="square" lIns="0" tIns="0" rIns="0" bIns="0" rtlCol="0" anchor="ctr"/>
          <a:lstStyle/>
          <a:p>
            <a:pPr marL="0" indent="0" algn="ctr">
              <a:buNone/>
            </a:pPr>
            <a:r>
              <a:rPr lang="en-US" sz="1050" b="1" kern="0" spc="100" dirty="0">
                <a:solidFill>
                  <a:schemeClr val="bg1"/>
                </a:solidFill>
              </a:rPr>
              <a:t>PREGUNTA PRINCIPAL · MÉTODO</a:t>
            </a:r>
            <a:endParaRPr lang="en-US" sz="1050" dirty="0"/>
          </a:p>
        </p:txBody>
      </p:sp>
      <p:sp>
        <p:nvSpPr>
          <p:cNvPr id="5" name="!!panel"/>
          <p:cNvSpPr/>
          <p:nvPr/>
        </p:nvSpPr>
        <p:spPr>
          <a:xfrm>
            <a:off x="7863840" y="1463040"/>
            <a:ext cx="3749040" cy="4526280"/>
          </a:xfrm>
          <a:prstGeom prst="roundRect">
            <a:avLst>
              <a:gd name="adj" fmla="val 4390"/>
            </a:avLst>
          </a:prstGeom>
          <a:solidFill>
            <a:srgbClr val="0C2B22"/>
          </a:solidFill>
          <a:ln w="12700">
            <a:solidFill>
              <a:srgbClr val="0C2B22"/>
            </a:solidFill>
            <a:prstDash val="solid"/>
          </a:ln>
        </p:spPr>
        <p:txBody>
          <a:bodyPr/>
          <a:lstStyle/>
          <a:p>
            <a:endParaRPr lang="es-CO"/>
          </a:p>
        </p:txBody>
      </p:sp>
      <p:sp>
        <p:nvSpPr>
          <p:cNvPr id="6" name="!!ring"/>
          <p:cNvSpPr/>
          <p:nvPr/>
        </p:nvSpPr>
        <p:spPr>
          <a:xfrm>
            <a:off x="10972800" y="384048"/>
            <a:ext cx="731520" cy="731520"/>
          </a:xfrm>
          <a:prstGeom prst="ellipse">
            <a:avLst/>
          </a:prstGeom>
          <a:solidFill>
            <a:srgbClr val="FFFFFF">
              <a:alpha val="0"/>
            </a:srgbClr>
          </a:solidFill>
          <a:ln w="31750">
            <a:solidFill>
              <a:srgbClr val="1F8A5B"/>
            </a:solidFill>
            <a:prstDash val="solid"/>
          </a:ln>
        </p:spPr>
        <p:txBody>
          <a:bodyPr/>
          <a:lstStyle/>
          <a:p>
            <a:endParaRPr lang="es-CO"/>
          </a:p>
        </p:txBody>
      </p:sp>
      <p:sp>
        <p:nvSpPr>
          <p:cNvPr id="7" name="!!ball"/>
          <p:cNvSpPr/>
          <p:nvPr/>
        </p:nvSpPr>
        <p:spPr>
          <a:xfrm>
            <a:off x="11256264" y="667512"/>
            <a:ext cx="164592" cy="164592"/>
          </a:xfrm>
          <a:prstGeom prst="ellipse">
            <a:avLst/>
          </a:prstGeom>
          <a:solidFill>
            <a:srgbClr val="F2B705"/>
          </a:solidFill>
          <a:ln w="12700">
            <a:solidFill>
              <a:srgbClr val="F2B705"/>
            </a:solidFill>
            <a:prstDash val="solid"/>
          </a:ln>
        </p:spPr>
        <p:txBody>
          <a:bodyPr/>
          <a:lstStyle/>
          <a:p>
            <a:endParaRPr lang="es-CO"/>
          </a:p>
        </p:txBody>
      </p:sp>
      <p:graphicFrame>
        <p:nvGraphicFramePr>
          <p:cNvPr id="8" name="Chart 0"/>
          <p:cNvGraphicFramePr/>
          <p:nvPr>
            <p:extLst>
              <p:ext uri="{D42A27DB-BD31-4B8C-83A1-F6EECF244321}">
                <p14:modId xmlns:p14="http://schemas.microsoft.com/office/powerpoint/2010/main" val="1318769358"/>
              </p:ext>
            </p:extLst>
          </p:nvPr>
        </p:nvGraphicFramePr>
        <p:xfrm>
          <a:off x="548640" y="1417320"/>
          <a:ext cx="69494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8183880" y="1783080"/>
            <a:ext cx="3154680" cy="3931920"/>
          </a:xfrm>
          <a:prstGeom prst="rect">
            <a:avLst/>
          </a:prstGeom>
          <a:noFill/>
          <a:ln/>
        </p:spPr>
        <p:txBody>
          <a:bodyPr wrap="square" lIns="0" tIns="0" rIns="0" bIns="0" rtlCol="0" anchor="t"/>
          <a:lstStyle/>
          <a:p>
            <a:pPr marL="0" indent="0">
              <a:spcAft>
                <a:spcPts val="600"/>
              </a:spcAft>
              <a:buNone/>
            </a:pPr>
            <a:r>
              <a:rPr lang="en-US" sz="1700" b="1" dirty="0">
                <a:solidFill>
                  <a:schemeClr val="accent2"/>
                </a:solidFill>
              </a:rPr>
              <a:t>Bet365 cobra el doble que Pinnacle</a:t>
            </a:r>
            <a:endParaRPr lang="en-US" sz="1700" dirty="0"/>
          </a:p>
          <a:p>
            <a:pPr marL="0" indent="0">
              <a:spcAft>
                <a:spcPts val="600"/>
              </a:spcAft>
              <a:buNone/>
            </a:pPr>
            <a:r>
              <a:rPr lang="en-US" sz="1700" dirty="0">
                <a:solidFill>
                  <a:schemeClr val="bg1"/>
                </a:solidFill>
              </a:rPr>
              <a:t>y es casi igual en las dos ligas. El de Pinnacle subió de 2,4 a 3,0 pp entre 2022/23 y 2024/25.</a:t>
            </a:r>
            <a:endParaRPr lang="en-US" sz="1700" dirty="0"/>
          </a:p>
          <a:p>
            <a:pPr marL="0" indent="0">
              <a:spcAft>
                <a:spcPts val="600"/>
              </a:spcAft>
              <a:buNone/>
            </a:pPr>
            <a:r>
              <a:rPr lang="en-US" sz="1700" dirty="0">
                <a:solidFill>
                  <a:schemeClr val="bg1"/>
                </a:solidFill>
              </a:rPr>
              <a:t> </a:t>
            </a:r>
            <a:endParaRPr lang="en-US" sz="1700" dirty="0"/>
          </a:p>
          <a:p>
            <a:pPr marL="0" indent="0">
              <a:spcAft>
                <a:spcPts val="600"/>
              </a:spcAft>
              <a:buNone/>
            </a:pPr>
            <a:r>
              <a:rPr lang="en-US" sz="1700" dirty="0">
                <a:solidFill>
                  <a:schemeClr val="bg1"/>
                </a:solidFill>
              </a:rPr>
              <a:t>El margen se describe aparte: no mide la calidad del pronóstico.</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F68"/>
                </a:solidFill>
              </a:defRPr>
            </a:lvl1pPr>
          </a:lstStyle>
          <a:p>
            <a:pPr algn="r"/>
            <a:fld id="{F7021451-1387-4CA6-816F-3879F97B5CBC}" type="slidenum">
              <a:rPr lang="en-US" b="0"/>
              <a:t>7</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68680"/>
          </a:xfrm>
          <a:prstGeom prst="rect">
            <a:avLst/>
          </a:prstGeom>
          <a:noFill/>
          <a:ln/>
        </p:spPr>
        <p:txBody>
          <a:bodyPr wrap="square" lIns="0" tIns="0" rIns="0" bIns="0" rtlCol="0" anchor="ctr"/>
          <a:lstStyle/>
          <a:p>
            <a:pPr marL="0" indent="0" algn="l">
              <a:buNone/>
            </a:pPr>
            <a:r>
              <a:rPr lang="en-US" sz="3400" b="1" dirty="0">
                <a:solidFill>
                  <a:schemeClr val="tx2"/>
                </a:solidFill>
              </a:rPr>
              <a:t>¿A quién se le quita el margen?</a:t>
            </a:r>
            <a:endParaRPr lang="en-US" sz="3400" dirty="0"/>
          </a:p>
        </p:txBody>
      </p:sp>
      <p:sp>
        <p:nvSpPr>
          <p:cNvPr id="3" name="Shape 1"/>
          <p:cNvSpPr/>
          <p:nvPr/>
        </p:nvSpPr>
        <p:spPr>
          <a:xfrm>
            <a:off x="548640" y="128016"/>
            <a:ext cx="2619756" cy="274320"/>
          </a:xfrm>
          <a:prstGeom prst="roundRect">
            <a:avLst>
              <a:gd name="adj" fmla="val 50000"/>
            </a:avLst>
          </a:prstGeom>
          <a:solidFill>
            <a:srgbClr val="1F8A5B"/>
          </a:solidFill>
          <a:ln w="12700">
            <a:solidFill>
              <a:srgbClr val="1F8A5B"/>
            </a:solidFill>
            <a:prstDash val="solid"/>
          </a:ln>
        </p:spPr>
        <p:txBody>
          <a:bodyPr/>
          <a:lstStyle/>
          <a:p>
            <a:endParaRPr lang="es-CO"/>
          </a:p>
        </p:txBody>
      </p:sp>
      <p:sp>
        <p:nvSpPr>
          <p:cNvPr id="4" name="Text 2"/>
          <p:cNvSpPr txBox="1"/>
          <p:nvPr/>
        </p:nvSpPr>
        <p:spPr>
          <a:xfrm>
            <a:off x="548640" y="128016"/>
            <a:ext cx="2619756" cy="274320"/>
          </a:xfrm>
          <a:prstGeom prst="rect">
            <a:avLst/>
          </a:prstGeom>
          <a:noFill/>
          <a:ln/>
        </p:spPr>
        <p:txBody>
          <a:bodyPr wrap="square" lIns="0" tIns="0" rIns="0" bIns="0" rtlCol="0" anchor="ctr"/>
          <a:lstStyle/>
          <a:p>
            <a:pPr marL="0" indent="0" algn="ctr">
              <a:buNone/>
            </a:pPr>
            <a:r>
              <a:rPr lang="en-US" sz="1050" b="1" kern="0" spc="100" dirty="0">
                <a:solidFill>
                  <a:schemeClr val="bg1"/>
                </a:solidFill>
              </a:rPr>
              <a:t>PREGUNTA PRINCIPAL · MÉTODO</a:t>
            </a:r>
            <a:endParaRPr lang="en-US" sz="1050" dirty="0"/>
          </a:p>
        </p:txBody>
      </p:sp>
      <p:sp>
        <p:nvSpPr>
          <p:cNvPr id="5" name="!!panel"/>
          <p:cNvSpPr/>
          <p:nvPr/>
        </p:nvSpPr>
        <p:spPr>
          <a:xfrm>
            <a:off x="548640" y="1463040"/>
            <a:ext cx="4206240" cy="4526280"/>
          </a:xfrm>
          <a:prstGeom prst="roundRect">
            <a:avLst>
              <a:gd name="adj" fmla="val 3913"/>
            </a:avLst>
          </a:prstGeom>
          <a:solidFill>
            <a:srgbClr val="0C2B22"/>
          </a:solidFill>
          <a:ln w="12700">
            <a:solidFill>
              <a:srgbClr val="0C2B22"/>
            </a:solidFill>
            <a:prstDash val="solid"/>
          </a:ln>
        </p:spPr>
        <p:txBody>
          <a:bodyPr/>
          <a:lstStyle/>
          <a:p>
            <a:endParaRPr lang="es-CO"/>
          </a:p>
        </p:txBody>
      </p:sp>
      <p:sp>
        <p:nvSpPr>
          <p:cNvPr id="6" name="!!ring"/>
          <p:cNvSpPr/>
          <p:nvPr/>
        </p:nvSpPr>
        <p:spPr>
          <a:xfrm>
            <a:off x="10972800" y="384048"/>
            <a:ext cx="731520" cy="731520"/>
          </a:xfrm>
          <a:prstGeom prst="ellipse">
            <a:avLst/>
          </a:prstGeom>
          <a:solidFill>
            <a:srgbClr val="FFFFFF">
              <a:alpha val="0"/>
            </a:srgbClr>
          </a:solidFill>
          <a:ln w="31750">
            <a:solidFill>
              <a:srgbClr val="1F8A5B"/>
            </a:solidFill>
            <a:prstDash val="solid"/>
          </a:ln>
        </p:spPr>
        <p:txBody>
          <a:bodyPr/>
          <a:lstStyle/>
          <a:p>
            <a:endParaRPr lang="es-CO"/>
          </a:p>
        </p:txBody>
      </p:sp>
      <p:sp>
        <p:nvSpPr>
          <p:cNvPr id="7" name="!!ball"/>
          <p:cNvSpPr/>
          <p:nvPr/>
        </p:nvSpPr>
        <p:spPr>
          <a:xfrm>
            <a:off x="11256264" y="667512"/>
            <a:ext cx="164592" cy="164592"/>
          </a:xfrm>
          <a:prstGeom prst="ellipse">
            <a:avLst/>
          </a:prstGeom>
          <a:solidFill>
            <a:srgbClr val="F2B705"/>
          </a:solidFill>
          <a:ln w="12700">
            <a:solidFill>
              <a:srgbClr val="F2B705"/>
            </a:solidFill>
            <a:prstDash val="solid"/>
          </a:ln>
        </p:spPr>
        <p:txBody>
          <a:bodyPr/>
          <a:lstStyle/>
          <a:p>
            <a:endParaRPr lang="es-CO"/>
          </a:p>
        </p:txBody>
      </p:sp>
      <p:sp>
        <p:nvSpPr>
          <p:cNvPr id="8" name="Text 6"/>
          <p:cNvSpPr txBox="1"/>
          <p:nvPr/>
        </p:nvSpPr>
        <p:spPr>
          <a:xfrm>
            <a:off x="868680" y="1737360"/>
            <a:ext cx="3657600" cy="914400"/>
          </a:xfrm>
          <a:prstGeom prst="rect">
            <a:avLst/>
          </a:prstGeom>
          <a:noFill/>
          <a:ln/>
        </p:spPr>
        <p:txBody>
          <a:bodyPr wrap="square" lIns="0" tIns="0" rIns="0" bIns="0" rtlCol="0" anchor="t"/>
          <a:lstStyle/>
          <a:p>
            <a:pPr marL="0" indent="0">
              <a:buNone/>
            </a:pPr>
            <a:r>
              <a:rPr lang="en-US" sz="1500" b="1" dirty="0">
                <a:solidFill>
                  <a:schemeClr val="bg1"/>
                </a:solidFill>
              </a:rPr>
              <a:t>Proporcional</a:t>
            </a:r>
            <a:endParaRPr lang="en-US" sz="1500" dirty="0"/>
          </a:p>
          <a:p>
            <a:pPr marL="0" indent="0">
              <a:buNone/>
            </a:pPr>
            <a:r>
              <a:rPr lang="en-US" sz="1500" dirty="0">
                <a:solidFill>
                  <a:schemeClr val="bg2"/>
                </a:solidFill>
              </a:rPr>
              <a:t>Mismo porcentaje a todos: más puntos al favorito.</a:t>
            </a:r>
            <a:endParaRPr lang="en-US" sz="1500" dirty="0"/>
          </a:p>
        </p:txBody>
      </p:sp>
      <p:sp>
        <p:nvSpPr>
          <p:cNvPr id="9" name="Text 7"/>
          <p:cNvSpPr txBox="1"/>
          <p:nvPr/>
        </p:nvSpPr>
        <p:spPr>
          <a:xfrm>
            <a:off x="868680" y="2761488"/>
            <a:ext cx="3657600" cy="914400"/>
          </a:xfrm>
          <a:prstGeom prst="rect">
            <a:avLst/>
          </a:prstGeom>
          <a:noFill/>
          <a:ln/>
        </p:spPr>
        <p:txBody>
          <a:bodyPr wrap="square" lIns="0" tIns="0" rIns="0" bIns="0" rtlCol="0" anchor="t"/>
          <a:lstStyle/>
          <a:p>
            <a:pPr marL="0" indent="0">
              <a:buNone/>
            </a:pPr>
            <a:r>
              <a:rPr lang="en-US" sz="1500" b="1" dirty="0">
                <a:solidFill>
                  <a:schemeClr val="accent2"/>
                </a:solidFill>
              </a:rPr>
              <a:t>Potencia (logarítmico)</a:t>
            </a:r>
            <a:endParaRPr lang="en-US" sz="1500" dirty="0"/>
          </a:p>
          <a:p>
            <a:pPr marL="0" indent="0">
              <a:buNone/>
            </a:pPr>
            <a:r>
              <a:rPr lang="en-US" sz="1500" dirty="0">
                <a:solidFill>
                  <a:schemeClr val="bg2"/>
                </a:solidFill>
              </a:rPr>
              <a:t>q = p^k: proporcionalmente más al improbable.</a:t>
            </a:r>
            <a:endParaRPr lang="en-US" sz="1500" dirty="0"/>
          </a:p>
        </p:txBody>
      </p:sp>
      <p:sp>
        <p:nvSpPr>
          <p:cNvPr id="10" name="Text 8"/>
          <p:cNvSpPr txBox="1"/>
          <p:nvPr/>
        </p:nvSpPr>
        <p:spPr>
          <a:xfrm>
            <a:off x="868680" y="3785616"/>
            <a:ext cx="3657600" cy="914400"/>
          </a:xfrm>
          <a:prstGeom prst="rect">
            <a:avLst/>
          </a:prstGeom>
          <a:noFill/>
          <a:ln/>
        </p:spPr>
        <p:txBody>
          <a:bodyPr wrap="square" lIns="0" tIns="0" rIns="0" bIns="0" rtlCol="0" anchor="t"/>
          <a:lstStyle/>
          <a:p>
            <a:pPr marL="0" indent="0">
              <a:buNone/>
            </a:pPr>
            <a:r>
              <a:rPr lang="en-US" sz="1500" b="1" dirty="0">
                <a:solidFill>
                  <a:schemeClr val="bg1"/>
                </a:solidFill>
              </a:rPr>
              <a:t>Aditivo</a:t>
            </a:r>
            <a:endParaRPr lang="en-US" sz="1500" dirty="0"/>
          </a:p>
          <a:p>
            <a:pPr marL="0" indent="0">
              <a:buNone/>
            </a:pPr>
            <a:r>
              <a:rPr lang="en-US" sz="1500" dirty="0">
                <a:solidFill>
                  <a:schemeClr val="bg2"/>
                </a:solidFill>
              </a:rPr>
              <a:t>Mismos puntos a cada resultado.</a:t>
            </a:r>
            <a:endParaRPr lang="en-US" sz="1500" dirty="0"/>
          </a:p>
        </p:txBody>
      </p:sp>
      <p:sp>
        <p:nvSpPr>
          <p:cNvPr id="11" name="Text 9"/>
          <p:cNvSpPr txBox="1"/>
          <p:nvPr/>
        </p:nvSpPr>
        <p:spPr>
          <a:xfrm>
            <a:off x="868680" y="4809744"/>
            <a:ext cx="3657600" cy="914400"/>
          </a:xfrm>
          <a:prstGeom prst="rect">
            <a:avLst/>
          </a:prstGeom>
          <a:noFill/>
          <a:ln/>
        </p:spPr>
        <p:txBody>
          <a:bodyPr wrap="square" lIns="0" tIns="0" rIns="0" bIns="0" rtlCol="0" anchor="t"/>
          <a:lstStyle/>
          <a:p>
            <a:pPr marL="0" indent="0">
              <a:buNone/>
            </a:pPr>
            <a:r>
              <a:rPr lang="en-US" sz="1500" b="1" dirty="0">
                <a:solidFill>
                  <a:schemeClr val="bg1"/>
                </a:solidFill>
              </a:rPr>
              <a:t>Shin</a:t>
            </a:r>
            <a:endParaRPr lang="en-US" sz="1500" dirty="0"/>
          </a:p>
          <a:p>
            <a:pPr marL="0" indent="0">
              <a:buNone/>
            </a:pPr>
            <a:r>
              <a:rPr lang="en-US" sz="1500" dirty="0">
                <a:solidFill>
                  <a:schemeClr val="bg2"/>
                </a:solidFill>
              </a:rPr>
              <a:t>Supone apostadores informados; carga los longshots.</a:t>
            </a:r>
            <a:endParaRPr lang="en-US" sz="1500" dirty="0"/>
          </a:p>
        </p:txBody>
      </p:sp>
      <p:graphicFrame>
        <p:nvGraphicFramePr>
          <p:cNvPr id="12" name="Chart 0"/>
          <p:cNvGraphicFramePr/>
          <p:nvPr/>
        </p:nvGraphicFramePr>
        <p:xfrm>
          <a:off x="5120640" y="1417320"/>
          <a:ext cx="64922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F68"/>
                </a:solidFill>
              </a:defRPr>
            </a:lvl1pPr>
          </a:lstStyle>
          <a:p>
            <a:pPr algn="r"/>
            <a:fld id="{F7021451-1387-4CA6-816F-3879F97B5CBC}" type="slidenum">
              <a:rPr lang="en-US" b="0"/>
              <a:t>8</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68680"/>
          </a:xfrm>
          <a:prstGeom prst="rect">
            <a:avLst/>
          </a:prstGeom>
          <a:noFill/>
          <a:ln/>
        </p:spPr>
        <p:txBody>
          <a:bodyPr wrap="square" lIns="0" tIns="0" rIns="0" bIns="0" rtlCol="0" anchor="ctr"/>
          <a:lstStyle/>
          <a:p>
            <a:pPr marL="0" indent="0" algn="l">
              <a:buNone/>
            </a:pPr>
            <a:r>
              <a:rPr lang="en-US" sz="3400" b="1" dirty="0">
                <a:solidFill>
                  <a:schemeClr val="tx2"/>
                </a:solidFill>
              </a:rPr>
              <a:t>Método: de la cuota a la evaluación</a:t>
            </a:r>
            <a:endParaRPr lang="en-US" sz="3400" dirty="0"/>
          </a:p>
        </p:txBody>
      </p:sp>
      <p:sp>
        <p:nvSpPr>
          <p:cNvPr id="3" name="Shape 1"/>
          <p:cNvSpPr/>
          <p:nvPr/>
        </p:nvSpPr>
        <p:spPr>
          <a:xfrm>
            <a:off x="548640" y="128016"/>
            <a:ext cx="2619756" cy="274320"/>
          </a:xfrm>
          <a:prstGeom prst="roundRect">
            <a:avLst>
              <a:gd name="adj" fmla="val 50000"/>
            </a:avLst>
          </a:prstGeom>
          <a:solidFill>
            <a:srgbClr val="1F8A5B"/>
          </a:solidFill>
          <a:ln w="12700">
            <a:solidFill>
              <a:srgbClr val="1F8A5B"/>
            </a:solidFill>
            <a:prstDash val="solid"/>
          </a:ln>
        </p:spPr>
        <p:txBody>
          <a:bodyPr/>
          <a:lstStyle/>
          <a:p>
            <a:endParaRPr lang="es-CO"/>
          </a:p>
        </p:txBody>
      </p:sp>
      <p:sp>
        <p:nvSpPr>
          <p:cNvPr id="4" name="Text 2"/>
          <p:cNvSpPr txBox="1"/>
          <p:nvPr/>
        </p:nvSpPr>
        <p:spPr>
          <a:xfrm>
            <a:off x="548640" y="128016"/>
            <a:ext cx="2619756" cy="274320"/>
          </a:xfrm>
          <a:prstGeom prst="rect">
            <a:avLst/>
          </a:prstGeom>
          <a:noFill/>
          <a:ln/>
        </p:spPr>
        <p:txBody>
          <a:bodyPr wrap="square" lIns="0" tIns="0" rIns="0" bIns="0" rtlCol="0" anchor="ctr"/>
          <a:lstStyle/>
          <a:p>
            <a:pPr marL="0" indent="0" algn="ctr">
              <a:buNone/>
            </a:pPr>
            <a:r>
              <a:rPr lang="en-US" sz="1050" b="1" kern="0" spc="100" dirty="0">
                <a:solidFill>
                  <a:schemeClr val="bg1"/>
                </a:solidFill>
              </a:rPr>
              <a:t>PREGUNTA PRINCIPAL · MÉTODO</a:t>
            </a:r>
            <a:endParaRPr lang="en-US" sz="1050" dirty="0"/>
          </a:p>
        </p:txBody>
      </p:sp>
      <p:sp>
        <p:nvSpPr>
          <p:cNvPr id="5" name="!!panel"/>
          <p:cNvSpPr/>
          <p:nvPr/>
        </p:nvSpPr>
        <p:spPr>
          <a:xfrm>
            <a:off x="548640" y="4709160"/>
            <a:ext cx="11064240" cy="1325880"/>
          </a:xfrm>
          <a:prstGeom prst="roundRect">
            <a:avLst>
              <a:gd name="adj" fmla="val 12414"/>
            </a:avLst>
          </a:prstGeom>
          <a:solidFill>
            <a:srgbClr val="0C2B22"/>
          </a:solidFill>
          <a:ln w="12700">
            <a:solidFill>
              <a:srgbClr val="0C2B22"/>
            </a:solidFill>
            <a:prstDash val="solid"/>
          </a:ln>
        </p:spPr>
        <p:txBody>
          <a:bodyPr/>
          <a:lstStyle/>
          <a:p>
            <a:endParaRPr lang="es-CO"/>
          </a:p>
        </p:txBody>
      </p:sp>
      <p:sp>
        <p:nvSpPr>
          <p:cNvPr id="6" name="!!ring"/>
          <p:cNvSpPr/>
          <p:nvPr/>
        </p:nvSpPr>
        <p:spPr>
          <a:xfrm>
            <a:off x="10972800" y="384048"/>
            <a:ext cx="731520" cy="731520"/>
          </a:xfrm>
          <a:prstGeom prst="ellipse">
            <a:avLst/>
          </a:prstGeom>
          <a:solidFill>
            <a:srgbClr val="FFFFFF">
              <a:alpha val="0"/>
            </a:srgbClr>
          </a:solidFill>
          <a:ln w="31750">
            <a:solidFill>
              <a:srgbClr val="1F8A5B"/>
            </a:solidFill>
            <a:prstDash val="solid"/>
          </a:ln>
        </p:spPr>
        <p:txBody>
          <a:bodyPr/>
          <a:lstStyle/>
          <a:p>
            <a:endParaRPr lang="es-CO"/>
          </a:p>
        </p:txBody>
      </p:sp>
      <p:sp>
        <p:nvSpPr>
          <p:cNvPr id="7" name="!!ball"/>
          <p:cNvSpPr/>
          <p:nvPr/>
        </p:nvSpPr>
        <p:spPr>
          <a:xfrm>
            <a:off x="11256264" y="667512"/>
            <a:ext cx="164592" cy="164592"/>
          </a:xfrm>
          <a:prstGeom prst="ellipse">
            <a:avLst/>
          </a:prstGeom>
          <a:solidFill>
            <a:srgbClr val="F2B705"/>
          </a:solidFill>
          <a:ln w="12700">
            <a:solidFill>
              <a:srgbClr val="F2B705"/>
            </a:solidFill>
            <a:prstDash val="solid"/>
          </a:ln>
        </p:spPr>
        <p:txBody>
          <a:bodyPr/>
          <a:lstStyle/>
          <a:p>
            <a:endParaRPr lang="es-CO"/>
          </a:p>
        </p:txBody>
      </p:sp>
      <p:sp>
        <p:nvSpPr>
          <p:cNvPr id="8" name="Text 6"/>
          <p:cNvSpPr txBox="1"/>
          <p:nvPr/>
        </p:nvSpPr>
        <p:spPr>
          <a:xfrm>
            <a:off x="548640" y="1417320"/>
            <a:ext cx="548640" cy="548640"/>
          </a:xfrm>
          <a:prstGeom prst="rect">
            <a:avLst/>
          </a:prstGeom>
          <a:noFill/>
          <a:ln/>
        </p:spPr>
        <p:txBody>
          <a:bodyPr wrap="square" lIns="0" tIns="0" rIns="0" bIns="0" rtlCol="0" anchor="ctr"/>
          <a:lstStyle/>
          <a:p>
            <a:pPr marL="0" indent="0">
              <a:buNone/>
            </a:pPr>
            <a:r>
              <a:rPr lang="en-US" sz="3000" b="1" dirty="0">
                <a:solidFill>
                  <a:schemeClr val="accent1"/>
                </a:solidFill>
                <a:latin typeface="Arial" pitchFamily="34" charset="0"/>
                <a:ea typeface="Arial" pitchFamily="34" charset="-122"/>
                <a:cs typeface="Arial" pitchFamily="34" charset="-120"/>
              </a:rPr>
              <a:t>1</a:t>
            </a:r>
            <a:endParaRPr lang="en-US" sz="3000" dirty="0"/>
          </a:p>
        </p:txBody>
      </p:sp>
      <p:sp>
        <p:nvSpPr>
          <p:cNvPr id="9" name="Shape 7"/>
          <p:cNvSpPr/>
          <p:nvPr/>
        </p:nvSpPr>
        <p:spPr>
          <a:xfrm>
            <a:off x="1188720" y="1417320"/>
            <a:ext cx="548640" cy="548640"/>
          </a:xfrm>
          <a:prstGeom prst="ellipse">
            <a:avLst/>
          </a:prstGeom>
          <a:solidFill>
            <a:srgbClr val="1F8A5B"/>
          </a:solidFill>
          <a:ln w="12700">
            <a:solidFill>
              <a:srgbClr val="1F8A5B"/>
            </a:solidFill>
            <a:prstDash val="solid"/>
          </a:ln>
        </p:spPr>
        <p:txBody>
          <a:bodyPr/>
          <a:lstStyle/>
          <a:p>
            <a:endParaRPr lang="es-CO"/>
          </a:p>
        </p:txBody>
      </p:sp>
      <p:pic>
        <p:nvPicPr>
          <p:cNvPr id="10" name="Image 0" descr="preencoded.png"/>
          <p:cNvPicPr>
            <a:picLocks noChangeAspect="1"/>
          </p:cNvPicPr>
          <p:nvPr/>
        </p:nvPicPr>
        <p:blipFill>
          <a:blip r:embed="rId3"/>
          <a:stretch>
            <a:fillRect/>
          </a:stretch>
        </p:blipFill>
        <p:spPr>
          <a:xfrm>
            <a:off x="1331366" y="1559966"/>
            <a:ext cx="263347" cy="263347"/>
          </a:xfrm>
          <a:prstGeom prst="rect">
            <a:avLst/>
          </a:prstGeom>
        </p:spPr>
      </p:pic>
      <p:sp>
        <p:nvSpPr>
          <p:cNvPr id="11" name="Shape 8"/>
          <p:cNvSpPr/>
          <p:nvPr/>
        </p:nvSpPr>
        <p:spPr>
          <a:xfrm>
            <a:off x="1874520" y="1691640"/>
            <a:ext cx="777240" cy="0"/>
          </a:xfrm>
          <a:prstGeom prst="line">
            <a:avLst/>
          </a:prstGeom>
          <a:noFill/>
          <a:ln w="25400">
            <a:solidFill>
              <a:srgbClr val="8AA399"/>
            </a:solidFill>
            <a:prstDash val="solid"/>
            <a:tailEnd type="triangle"/>
          </a:ln>
        </p:spPr>
        <p:txBody>
          <a:bodyPr/>
          <a:lstStyle/>
          <a:p>
            <a:endParaRPr lang="es-CO"/>
          </a:p>
        </p:txBody>
      </p:sp>
      <p:sp>
        <p:nvSpPr>
          <p:cNvPr id="12" name="Text 9"/>
          <p:cNvSpPr txBox="1"/>
          <p:nvPr/>
        </p:nvSpPr>
        <p:spPr>
          <a:xfrm>
            <a:off x="548640" y="2148840"/>
            <a:ext cx="2057400" cy="594360"/>
          </a:xfrm>
          <a:prstGeom prst="rect">
            <a:avLst/>
          </a:prstGeom>
          <a:noFill/>
          <a:ln/>
        </p:spPr>
        <p:txBody>
          <a:bodyPr wrap="square" lIns="0" tIns="0" rIns="0" bIns="0" rtlCol="0" anchor="t"/>
          <a:lstStyle/>
          <a:p>
            <a:pPr marL="0" indent="0">
              <a:buNone/>
            </a:pPr>
            <a:r>
              <a:rPr lang="en-US" sz="1600" b="1" dirty="0">
                <a:solidFill>
                  <a:schemeClr val="tx2"/>
                </a:solidFill>
              </a:rPr>
              <a:t>Probabilidad bruta</a:t>
            </a:r>
            <a:endParaRPr lang="en-US" sz="1600" dirty="0"/>
          </a:p>
        </p:txBody>
      </p:sp>
      <p:sp>
        <p:nvSpPr>
          <p:cNvPr id="13" name="Text 10"/>
          <p:cNvSpPr txBox="1"/>
          <p:nvPr/>
        </p:nvSpPr>
        <p:spPr>
          <a:xfrm>
            <a:off x="548640" y="2743200"/>
            <a:ext cx="2057400" cy="1874520"/>
          </a:xfrm>
          <a:prstGeom prst="rect">
            <a:avLst/>
          </a:prstGeom>
          <a:noFill/>
          <a:ln/>
        </p:spPr>
        <p:txBody>
          <a:bodyPr wrap="square" lIns="0" tIns="0" rIns="0" bIns="0" rtlCol="0" anchor="t"/>
          <a:lstStyle/>
          <a:p>
            <a:pPr marL="0" indent="0">
              <a:buNone/>
            </a:pPr>
            <a:r>
              <a:rPr lang="en-US" sz="1450" dirty="0">
                <a:solidFill>
                  <a:schemeClr val="tx1"/>
                </a:solidFill>
              </a:rPr>
              <a:t>p = 1 / cuota con las cuotas de cierre de Bet365 y Pinnacle (H, D, A). Suman más de 1.</a:t>
            </a:r>
            <a:endParaRPr lang="en-US" sz="1450" dirty="0"/>
          </a:p>
        </p:txBody>
      </p:sp>
      <p:sp>
        <p:nvSpPr>
          <p:cNvPr id="14" name="Text 11"/>
          <p:cNvSpPr txBox="1"/>
          <p:nvPr/>
        </p:nvSpPr>
        <p:spPr>
          <a:xfrm>
            <a:off x="2798064" y="1417320"/>
            <a:ext cx="548640" cy="548640"/>
          </a:xfrm>
          <a:prstGeom prst="rect">
            <a:avLst/>
          </a:prstGeom>
          <a:noFill/>
          <a:ln/>
        </p:spPr>
        <p:txBody>
          <a:bodyPr wrap="square" lIns="0" tIns="0" rIns="0" bIns="0" rtlCol="0" anchor="ctr"/>
          <a:lstStyle/>
          <a:p>
            <a:pPr marL="0" indent="0">
              <a:buNone/>
            </a:pPr>
            <a:r>
              <a:rPr lang="en-US" sz="3000" b="1" dirty="0">
                <a:solidFill>
                  <a:schemeClr val="accent1"/>
                </a:solidFill>
                <a:latin typeface="Arial" pitchFamily="34" charset="0"/>
                <a:ea typeface="Arial" pitchFamily="34" charset="-122"/>
                <a:cs typeface="Arial" pitchFamily="34" charset="-120"/>
              </a:rPr>
              <a:t>2</a:t>
            </a:r>
            <a:endParaRPr lang="en-US" sz="3000" dirty="0"/>
          </a:p>
        </p:txBody>
      </p:sp>
      <p:sp>
        <p:nvSpPr>
          <p:cNvPr id="15" name="Shape 12"/>
          <p:cNvSpPr/>
          <p:nvPr/>
        </p:nvSpPr>
        <p:spPr>
          <a:xfrm>
            <a:off x="3438144" y="1417320"/>
            <a:ext cx="548640" cy="548640"/>
          </a:xfrm>
          <a:prstGeom prst="ellipse">
            <a:avLst/>
          </a:prstGeom>
          <a:solidFill>
            <a:srgbClr val="1F8A5B"/>
          </a:solidFill>
          <a:ln w="12700">
            <a:solidFill>
              <a:srgbClr val="1F8A5B"/>
            </a:solidFill>
            <a:prstDash val="solid"/>
          </a:ln>
        </p:spPr>
        <p:txBody>
          <a:bodyPr/>
          <a:lstStyle/>
          <a:p>
            <a:endParaRPr lang="es-CO"/>
          </a:p>
        </p:txBody>
      </p:sp>
      <p:pic>
        <p:nvPicPr>
          <p:cNvPr id="16" name="Image 1" descr="preencoded.png"/>
          <p:cNvPicPr>
            <a:picLocks noChangeAspect="1"/>
          </p:cNvPicPr>
          <p:nvPr/>
        </p:nvPicPr>
        <p:blipFill>
          <a:blip r:embed="rId4"/>
          <a:stretch>
            <a:fillRect/>
          </a:stretch>
        </p:blipFill>
        <p:spPr>
          <a:xfrm>
            <a:off x="3580790" y="1559966"/>
            <a:ext cx="263347" cy="263347"/>
          </a:xfrm>
          <a:prstGeom prst="rect">
            <a:avLst/>
          </a:prstGeom>
        </p:spPr>
      </p:pic>
      <p:sp>
        <p:nvSpPr>
          <p:cNvPr id="17" name="Shape 13"/>
          <p:cNvSpPr/>
          <p:nvPr/>
        </p:nvSpPr>
        <p:spPr>
          <a:xfrm>
            <a:off x="4123944" y="1691640"/>
            <a:ext cx="777240" cy="0"/>
          </a:xfrm>
          <a:prstGeom prst="line">
            <a:avLst/>
          </a:prstGeom>
          <a:noFill/>
          <a:ln w="25400">
            <a:solidFill>
              <a:srgbClr val="8AA399"/>
            </a:solidFill>
            <a:prstDash val="solid"/>
            <a:tailEnd type="triangle"/>
          </a:ln>
        </p:spPr>
        <p:txBody>
          <a:bodyPr/>
          <a:lstStyle/>
          <a:p>
            <a:endParaRPr lang="es-CO"/>
          </a:p>
        </p:txBody>
      </p:sp>
      <p:sp>
        <p:nvSpPr>
          <p:cNvPr id="18" name="Text 14"/>
          <p:cNvSpPr txBox="1"/>
          <p:nvPr/>
        </p:nvSpPr>
        <p:spPr>
          <a:xfrm>
            <a:off x="2798064" y="2148840"/>
            <a:ext cx="2057400" cy="594360"/>
          </a:xfrm>
          <a:prstGeom prst="rect">
            <a:avLst/>
          </a:prstGeom>
          <a:noFill/>
          <a:ln/>
        </p:spPr>
        <p:txBody>
          <a:bodyPr wrap="square" lIns="0" tIns="0" rIns="0" bIns="0" rtlCol="0" anchor="t"/>
          <a:lstStyle/>
          <a:p>
            <a:pPr marL="0" indent="0">
              <a:buNone/>
            </a:pPr>
            <a:r>
              <a:rPr lang="en-US" sz="1600" b="1" dirty="0">
                <a:solidFill>
                  <a:schemeClr val="tx2"/>
                </a:solidFill>
              </a:rPr>
              <a:t>Quitar el margen</a:t>
            </a:r>
            <a:endParaRPr lang="en-US" sz="1600" dirty="0"/>
          </a:p>
        </p:txBody>
      </p:sp>
      <p:sp>
        <p:nvSpPr>
          <p:cNvPr id="19" name="Text 15"/>
          <p:cNvSpPr txBox="1"/>
          <p:nvPr/>
        </p:nvSpPr>
        <p:spPr>
          <a:xfrm>
            <a:off x="2798064" y="2743200"/>
            <a:ext cx="2057400" cy="1874520"/>
          </a:xfrm>
          <a:prstGeom prst="rect">
            <a:avLst/>
          </a:prstGeom>
          <a:noFill/>
          <a:ln/>
        </p:spPr>
        <p:txBody>
          <a:bodyPr wrap="square" lIns="0" tIns="0" rIns="0" bIns="0" rtlCol="0" anchor="t"/>
          <a:lstStyle/>
          <a:p>
            <a:pPr marL="0" indent="0">
              <a:buNone/>
            </a:pPr>
            <a:r>
              <a:rPr lang="en-US" sz="1450" dirty="0">
                <a:solidFill>
                  <a:schemeClr val="tx1"/>
                </a:solidFill>
              </a:rPr>
              <a:t>Cuatro métodos: proporcional, potencia (principal), aditivo y Shin. Cada uno da q que suma 1.</a:t>
            </a:r>
            <a:endParaRPr lang="en-US" sz="1450" dirty="0"/>
          </a:p>
        </p:txBody>
      </p:sp>
      <p:sp>
        <p:nvSpPr>
          <p:cNvPr id="20" name="Text 16"/>
          <p:cNvSpPr txBox="1"/>
          <p:nvPr/>
        </p:nvSpPr>
        <p:spPr>
          <a:xfrm>
            <a:off x="5047488" y="1417320"/>
            <a:ext cx="548640" cy="548640"/>
          </a:xfrm>
          <a:prstGeom prst="rect">
            <a:avLst/>
          </a:prstGeom>
          <a:noFill/>
          <a:ln/>
        </p:spPr>
        <p:txBody>
          <a:bodyPr wrap="square" lIns="0" tIns="0" rIns="0" bIns="0" rtlCol="0" anchor="ctr"/>
          <a:lstStyle/>
          <a:p>
            <a:pPr marL="0" indent="0">
              <a:buNone/>
            </a:pPr>
            <a:r>
              <a:rPr lang="en-US" sz="3000" b="1" dirty="0">
                <a:solidFill>
                  <a:schemeClr val="accent1"/>
                </a:solidFill>
                <a:latin typeface="Arial" pitchFamily="34" charset="0"/>
                <a:ea typeface="Arial" pitchFamily="34" charset="-122"/>
                <a:cs typeface="Arial" pitchFamily="34" charset="-120"/>
              </a:rPr>
              <a:t>3</a:t>
            </a:r>
            <a:endParaRPr lang="en-US" sz="3000" dirty="0"/>
          </a:p>
        </p:txBody>
      </p:sp>
      <p:sp>
        <p:nvSpPr>
          <p:cNvPr id="21" name="Shape 17"/>
          <p:cNvSpPr/>
          <p:nvPr/>
        </p:nvSpPr>
        <p:spPr>
          <a:xfrm>
            <a:off x="5687568" y="1417320"/>
            <a:ext cx="548640" cy="548640"/>
          </a:xfrm>
          <a:prstGeom prst="ellipse">
            <a:avLst/>
          </a:prstGeom>
          <a:solidFill>
            <a:srgbClr val="1F8A5B"/>
          </a:solidFill>
          <a:ln w="12700">
            <a:solidFill>
              <a:srgbClr val="1F8A5B"/>
            </a:solidFill>
            <a:prstDash val="solid"/>
          </a:ln>
        </p:spPr>
        <p:txBody>
          <a:bodyPr/>
          <a:lstStyle/>
          <a:p>
            <a:endParaRPr lang="es-CO"/>
          </a:p>
        </p:txBody>
      </p:sp>
      <p:pic>
        <p:nvPicPr>
          <p:cNvPr id="22" name="Image 2" descr="preencoded.png"/>
          <p:cNvPicPr>
            <a:picLocks noChangeAspect="1"/>
          </p:cNvPicPr>
          <p:nvPr/>
        </p:nvPicPr>
        <p:blipFill>
          <a:blip r:embed="rId5"/>
          <a:stretch>
            <a:fillRect/>
          </a:stretch>
        </p:blipFill>
        <p:spPr>
          <a:xfrm>
            <a:off x="5830214" y="1559966"/>
            <a:ext cx="263347" cy="263347"/>
          </a:xfrm>
          <a:prstGeom prst="rect">
            <a:avLst/>
          </a:prstGeom>
        </p:spPr>
      </p:pic>
      <p:sp>
        <p:nvSpPr>
          <p:cNvPr id="23" name="Shape 18"/>
          <p:cNvSpPr/>
          <p:nvPr/>
        </p:nvSpPr>
        <p:spPr>
          <a:xfrm>
            <a:off x="6373368" y="1691640"/>
            <a:ext cx="777240" cy="0"/>
          </a:xfrm>
          <a:prstGeom prst="line">
            <a:avLst/>
          </a:prstGeom>
          <a:noFill/>
          <a:ln w="25400">
            <a:solidFill>
              <a:srgbClr val="8AA399"/>
            </a:solidFill>
            <a:prstDash val="solid"/>
            <a:tailEnd type="triangle"/>
          </a:ln>
        </p:spPr>
        <p:txBody>
          <a:bodyPr/>
          <a:lstStyle/>
          <a:p>
            <a:endParaRPr lang="es-CO"/>
          </a:p>
        </p:txBody>
      </p:sp>
      <p:sp>
        <p:nvSpPr>
          <p:cNvPr id="24" name="Text 19"/>
          <p:cNvSpPr txBox="1"/>
          <p:nvPr/>
        </p:nvSpPr>
        <p:spPr>
          <a:xfrm>
            <a:off x="5047488" y="2148840"/>
            <a:ext cx="2057400" cy="594360"/>
          </a:xfrm>
          <a:prstGeom prst="rect">
            <a:avLst/>
          </a:prstGeom>
          <a:noFill/>
          <a:ln/>
        </p:spPr>
        <p:txBody>
          <a:bodyPr wrap="square" lIns="0" tIns="0" rIns="0" bIns="0" rtlCol="0" anchor="t"/>
          <a:lstStyle/>
          <a:p>
            <a:pPr marL="0" indent="0">
              <a:buNone/>
            </a:pPr>
            <a:r>
              <a:rPr lang="en-US" sz="1600" b="1" dirty="0">
                <a:solidFill>
                  <a:schemeClr val="tx2"/>
                </a:solidFill>
              </a:rPr>
              <a:t>Calibración</a:t>
            </a:r>
            <a:endParaRPr lang="en-US" sz="1600" dirty="0"/>
          </a:p>
        </p:txBody>
      </p:sp>
      <p:sp>
        <p:nvSpPr>
          <p:cNvPr id="25" name="Text 20"/>
          <p:cNvSpPr txBox="1"/>
          <p:nvPr/>
        </p:nvSpPr>
        <p:spPr>
          <a:xfrm>
            <a:off x="5047488" y="2743200"/>
            <a:ext cx="2057400" cy="1874520"/>
          </a:xfrm>
          <a:prstGeom prst="rect">
            <a:avLst/>
          </a:prstGeom>
          <a:noFill/>
          <a:ln/>
        </p:spPr>
        <p:txBody>
          <a:bodyPr wrap="square" lIns="0" tIns="0" rIns="0" bIns="0" rtlCol="0" anchor="t"/>
          <a:lstStyle/>
          <a:p>
            <a:pPr marL="0" indent="0">
              <a:buNone/>
            </a:pPr>
            <a:r>
              <a:rPr lang="en-US" sz="1450" dirty="0">
                <a:solidFill>
                  <a:schemeClr val="tx1"/>
                </a:solidFill>
              </a:rPr>
              <a:t>Curvas por resultado con 10 grupos de igual frecuencia; ECE = desviación media |observado − pronosticado|.</a:t>
            </a:r>
            <a:endParaRPr lang="en-US" sz="1450" dirty="0"/>
          </a:p>
        </p:txBody>
      </p:sp>
      <p:sp>
        <p:nvSpPr>
          <p:cNvPr id="26" name="Text 21"/>
          <p:cNvSpPr txBox="1"/>
          <p:nvPr/>
        </p:nvSpPr>
        <p:spPr>
          <a:xfrm>
            <a:off x="7296912" y="1417320"/>
            <a:ext cx="548640" cy="548640"/>
          </a:xfrm>
          <a:prstGeom prst="rect">
            <a:avLst/>
          </a:prstGeom>
          <a:noFill/>
          <a:ln/>
        </p:spPr>
        <p:txBody>
          <a:bodyPr wrap="square" lIns="0" tIns="0" rIns="0" bIns="0" rtlCol="0" anchor="ctr"/>
          <a:lstStyle/>
          <a:p>
            <a:pPr marL="0" indent="0">
              <a:buNone/>
            </a:pPr>
            <a:r>
              <a:rPr lang="en-US" sz="3000" b="1" dirty="0">
                <a:solidFill>
                  <a:schemeClr val="accent1"/>
                </a:solidFill>
                <a:latin typeface="Arial" pitchFamily="34" charset="0"/>
                <a:ea typeface="Arial" pitchFamily="34" charset="-122"/>
                <a:cs typeface="Arial" pitchFamily="34" charset="-120"/>
              </a:rPr>
              <a:t>4</a:t>
            </a:r>
            <a:endParaRPr lang="en-US" sz="3000" dirty="0"/>
          </a:p>
        </p:txBody>
      </p:sp>
      <p:sp>
        <p:nvSpPr>
          <p:cNvPr id="27" name="Shape 22"/>
          <p:cNvSpPr/>
          <p:nvPr/>
        </p:nvSpPr>
        <p:spPr>
          <a:xfrm>
            <a:off x="7936992" y="1417320"/>
            <a:ext cx="548640" cy="548640"/>
          </a:xfrm>
          <a:prstGeom prst="ellipse">
            <a:avLst/>
          </a:prstGeom>
          <a:solidFill>
            <a:srgbClr val="1F8A5B"/>
          </a:solidFill>
          <a:ln w="12700">
            <a:solidFill>
              <a:srgbClr val="1F8A5B"/>
            </a:solidFill>
            <a:prstDash val="solid"/>
          </a:ln>
        </p:spPr>
        <p:txBody>
          <a:bodyPr/>
          <a:lstStyle/>
          <a:p>
            <a:endParaRPr lang="es-CO"/>
          </a:p>
        </p:txBody>
      </p:sp>
      <p:pic>
        <p:nvPicPr>
          <p:cNvPr id="28" name="Image 3" descr="preencoded.png"/>
          <p:cNvPicPr>
            <a:picLocks noChangeAspect="1"/>
          </p:cNvPicPr>
          <p:nvPr/>
        </p:nvPicPr>
        <p:blipFill>
          <a:blip r:embed="rId6"/>
          <a:stretch>
            <a:fillRect/>
          </a:stretch>
        </p:blipFill>
        <p:spPr>
          <a:xfrm>
            <a:off x="8079638" y="1559966"/>
            <a:ext cx="263347" cy="263347"/>
          </a:xfrm>
          <a:prstGeom prst="rect">
            <a:avLst/>
          </a:prstGeom>
        </p:spPr>
      </p:pic>
      <p:sp>
        <p:nvSpPr>
          <p:cNvPr id="29" name="Shape 23"/>
          <p:cNvSpPr/>
          <p:nvPr/>
        </p:nvSpPr>
        <p:spPr>
          <a:xfrm>
            <a:off x="8622792" y="1691640"/>
            <a:ext cx="777240" cy="0"/>
          </a:xfrm>
          <a:prstGeom prst="line">
            <a:avLst/>
          </a:prstGeom>
          <a:noFill/>
          <a:ln w="25400">
            <a:solidFill>
              <a:srgbClr val="8AA399"/>
            </a:solidFill>
            <a:prstDash val="solid"/>
            <a:tailEnd type="triangle"/>
          </a:ln>
        </p:spPr>
        <p:txBody>
          <a:bodyPr/>
          <a:lstStyle/>
          <a:p>
            <a:endParaRPr lang="es-CO"/>
          </a:p>
        </p:txBody>
      </p:sp>
      <p:sp>
        <p:nvSpPr>
          <p:cNvPr id="30" name="Text 24"/>
          <p:cNvSpPr txBox="1"/>
          <p:nvPr/>
        </p:nvSpPr>
        <p:spPr>
          <a:xfrm>
            <a:off x="7296912" y="2148840"/>
            <a:ext cx="2057400" cy="594360"/>
          </a:xfrm>
          <a:prstGeom prst="rect">
            <a:avLst/>
          </a:prstGeom>
          <a:noFill/>
          <a:ln/>
        </p:spPr>
        <p:txBody>
          <a:bodyPr wrap="square" lIns="0" tIns="0" rIns="0" bIns="0" rtlCol="0" anchor="t"/>
          <a:lstStyle/>
          <a:p>
            <a:pPr marL="0" indent="0">
              <a:buNone/>
            </a:pPr>
            <a:r>
              <a:rPr lang="en-US" sz="1600" b="1" dirty="0">
                <a:solidFill>
                  <a:schemeClr val="tx2"/>
                </a:solidFill>
              </a:rPr>
              <a:t>Precisión</a:t>
            </a:r>
            <a:endParaRPr lang="en-US" sz="1600" dirty="0"/>
          </a:p>
        </p:txBody>
      </p:sp>
      <p:sp>
        <p:nvSpPr>
          <p:cNvPr id="31" name="Text 25"/>
          <p:cNvSpPr txBox="1"/>
          <p:nvPr/>
        </p:nvSpPr>
        <p:spPr>
          <a:xfrm>
            <a:off x="7296912" y="2743200"/>
            <a:ext cx="2057400" cy="1874520"/>
          </a:xfrm>
          <a:prstGeom prst="rect">
            <a:avLst/>
          </a:prstGeom>
          <a:noFill/>
          <a:ln/>
        </p:spPr>
        <p:txBody>
          <a:bodyPr wrap="square" lIns="0" tIns="0" rIns="0" bIns="0" rtlCol="0" anchor="t"/>
          <a:lstStyle/>
          <a:p>
            <a:pPr marL="0" indent="0">
              <a:buNone/>
            </a:pPr>
            <a:r>
              <a:rPr lang="en-US" sz="1450" dirty="0">
                <a:solidFill>
                  <a:schemeClr val="tx1"/>
                </a:solidFill>
              </a:rPr>
              <a:t>Brier, RPS y log loss frente a dos referencias: uniforme (1/3) y frecuencia histórica de otra temporada.</a:t>
            </a:r>
            <a:endParaRPr lang="en-US" sz="1450" dirty="0"/>
          </a:p>
        </p:txBody>
      </p:sp>
      <p:sp>
        <p:nvSpPr>
          <p:cNvPr id="32" name="Text 26"/>
          <p:cNvSpPr txBox="1"/>
          <p:nvPr/>
        </p:nvSpPr>
        <p:spPr>
          <a:xfrm>
            <a:off x="9546336" y="1417320"/>
            <a:ext cx="548640" cy="548640"/>
          </a:xfrm>
          <a:prstGeom prst="rect">
            <a:avLst/>
          </a:prstGeom>
          <a:noFill/>
          <a:ln/>
        </p:spPr>
        <p:txBody>
          <a:bodyPr wrap="square" lIns="0" tIns="0" rIns="0" bIns="0" rtlCol="0" anchor="ctr"/>
          <a:lstStyle/>
          <a:p>
            <a:pPr marL="0" indent="0">
              <a:buNone/>
            </a:pPr>
            <a:r>
              <a:rPr lang="en-US" sz="3000" b="1" dirty="0">
                <a:solidFill>
                  <a:schemeClr val="accent1"/>
                </a:solidFill>
                <a:latin typeface="Arial" pitchFamily="34" charset="0"/>
                <a:ea typeface="Arial" pitchFamily="34" charset="-122"/>
                <a:cs typeface="Arial" pitchFamily="34" charset="-120"/>
              </a:rPr>
              <a:t>5</a:t>
            </a:r>
            <a:endParaRPr lang="en-US" sz="3000" dirty="0"/>
          </a:p>
        </p:txBody>
      </p:sp>
      <p:sp>
        <p:nvSpPr>
          <p:cNvPr id="33" name="Shape 27"/>
          <p:cNvSpPr/>
          <p:nvPr/>
        </p:nvSpPr>
        <p:spPr>
          <a:xfrm>
            <a:off x="10186416" y="1417320"/>
            <a:ext cx="548640" cy="548640"/>
          </a:xfrm>
          <a:prstGeom prst="ellipse">
            <a:avLst/>
          </a:prstGeom>
          <a:solidFill>
            <a:srgbClr val="1F8A5B"/>
          </a:solidFill>
          <a:ln w="12700">
            <a:solidFill>
              <a:srgbClr val="1F8A5B"/>
            </a:solidFill>
            <a:prstDash val="solid"/>
          </a:ln>
        </p:spPr>
        <p:txBody>
          <a:bodyPr/>
          <a:lstStyle/>
          <a:p>
            <a:endParaRPr lang="es-CO"/>
          </a:p>
        </p:txBody>
      </p:sp>
      <p:pic>
        <p:nvPicPr>
          <p:cNvPr id="34" name="Image 4" descr="preencoded.png"/>
          <p:cNvPicPr>
            <a:picLocks noChangeAspect="1"/>
          </p:cNvPicPr>
          <p:nvPr/>
        </p:nvPicPr>
        <p:blipFill>
          <a:blip r:embed="rId7"/>
          <a:stretch>
            <a:fillRect/>
          </a:stretch>
        </p:blipFill>
        <p:spPr>
          <a:xfrm>
            <a:off x="10329062" y="1559966"/>
            <a:ext cx="263347" cy="263347"/>
          </a:xfrm>
          <a:prstGeom prst="rect">
            <a:avLst/>
          </a:prstGeom>
        </p:spPr>
      </p:pic>
      <p:sp>
        <p:nvSpPr>
          <p:cNvPr id="35" name="Text 28"/>
          <p:cNvSpPr txBox="1"/>
          <p:nvPr/>
        </p:nvSpPr>
        <p:spPr>
          <a:xfrm>
            <a:off x="9546336" y="2148840"/>
            <a:ext cx="2057400" cy="594360"/>
          </a:xfrm>
          <a:prstGeom prst="rect">
            <a:avLst/>
          </a:prstGeom>
          <a:noFill/>
          <a:ln/>
        </p:spPr>
        <p:txBody>
          <a:bodyPr wrap="square" lIns="0" tIns="0" rIns="0" bIns="0" rtlCol="0" anchor="t"/>
          <a:lstStyle/>
          <a:p>
            <a:pPr marL="0" indent="0">
              <a:buNone/>
            </a:pPr>
            <a:r>
              <a:rPr lang="en-US" sz="1600" b="1" dirty="0">
                <a:solidFill>
                  <a:schemeClr val="tx2"/>
                </a:solidFill>
              </a:rPr>
              <a:t>Sesgo favorito–longshot</a:t>
            </a:r>
            <a:endParaRPr lang="en-US" sz="1600" dirty="0"/>
          </a:p>
        </p:txBody>
      </p:sp>
      <p:sp>
        <p:nvSpPr>
          <p:cNvPr id="36" name="Text 29"/>
          <p:cNvSpPr txBox="1"/>
          <p:nvPr/>
        </p:nvSpPr>
        <p:spPr>
          <a:xfrm>
            <a:off x="9546336" y="2743200"/>
            <a:ext cx="2057400" cy="1874520"/>
          </a:xfrm>
          <a:prstGeom prst="rect">
            <a:avLst/>
          </a:prstGeom>
          <a:noFill/>
          <a:ln/>
        </p:spPr>
        <p:txBody>
          <a:bodyPr wrap="square" lIns="0" tIns="0" rIns="0" bIns="0" rtlCol="0" anchor="t"/>
          <a:lstStyle/>
          <a:p>
            <a:pPr marL="0" indent="0">
              <a:buNone/>
            </a:pPr>
            <a:r>
              <a:rPr lang="en-US" sz="1450" dirty="0">
                <a:solidFill>
                  <a:schemeClr val="tx1"/>
                </a:solidFill>
              </a:rPr>
              <a:t>Pendiente del error y contraste favoritos (&gt; 60 %) − improbables (&lt; 20 %).</a:t>
            </a:r>
            <a:endParaRPr lang="en-US" sz="1450" dirty="0"/>
          </a:p>
        </p:txBody>
      </p:sp>
      <p:sp>
        <p:nvSpPr>
          <p:cNvPr id="37" name="Text 30"/>
          <p:cNvSpPr txBox="1"/>
          <p:nvPr/>
        </p:nvSpPr>
        <p:spPr>
          <a:xfrm>
            <a:off x="868680" y="4800600"/>
            <a:ext cx="10424160" cy="1143000"/>
          </a:xfrm>
          <a:prstGeom prst="rect">
            <a:avLst/>
          </a:prstGeom>
          <a:noFill/>
          <a:ln/>
        </p:spPr>
        <p:txBody>
          <a:bodyPr wrap="square" lIns="0" tIns="0" rIns="0" bIns="0" rtlCol="0" anchor="ctr"/>
          <a:lstStyle/>
          <a:p>
            <a:pPr marL="0" indent="0">
              <a:buNone/>
            </a:pPr>
            <a:r>
              <a:rPr lang="en-US" sz="1400" b="1" dirty="0">
                <a:solidFill>
                  <a:schemeClr val="accent2"/>
                </a:solidFill>
              </a:rPr>
              <a:t>Fórmulas clave   </a:t>
            </a:r>
            <a:r>
              <a:rPr lang="en-US" sz="1400" dirty="0">
                <a:solidFill>
                  <a:schemeClr val="bg1"/>
                </a:solidFill>
              </a:rPr>
              <a:t>Potencia: q = pᵏ con k tal que Σq = 1.   RPS = ½ Σ (acumulado pronosticado − acumulado observado)².   Pendiente del error: 100·(y − q) sobre 10·q, en pp por cada 10 pp.</a:t>
            </a:r>
            <a:endParaRPr lang="en-US" sz="1400" dirty="0"/>
          </a:p>
        </p:txBody>
      </p:sp>
      <p:sp>
        <p:nvSpPr>
          <p:cNvPr id="38"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F68"/>
                </a:solidFill>
              </a:defRPr>
            </a:lvl1pPr>
          </a:lstStyle>
          <a:p>
            <a:pPr algn="r"/>
            <a:fld id="{F7021451-1387-4CA6-816F-3879F97B5CBC}" type="slidenum">
              <a:rPr lang="en-US" b="0"/>
              <a:t>9</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68680"/>
          </a:xfrm>
          <a:prstGeom prst="rect">
            <a:avLst/>
          </a:prstGeom>
          <a:noFill/>
          <a:ln/>
        </p:spPr>
        <p:txBody>
          <a:bodyPr wrap="square" lIns="0" tIns="0" rIns="0" bIns="0" rtlCol="0" anchor="ctr"/>
          <a:lstStyle/>
          <a:p>
            <a:pPr marL="0" indent="0" algn="l">
              <a:buNone/>
            </a:pPr>
            <a:r>
              <a:rPr lang="en-US" sz="3400" b="1" dirty="0">
                <a:solidFill>
                  <a:schemeClr val="tx2"/>
                </a:solidFill>
              </a:rPr>
              <a:t>Método: cómo decidimos si una diferencia es real</a:t>
            </a:r>
            <a:endParaRPr lang="en-US" sz="3400" dirty="0"/>
          </a:p>
        </p:txBody>
      </p:sp>
      <p:sp>
        <p:nvSpPr>
          <p:cNvPr id="3" name="Shape 1"/>
          <p:cNvSpPr/>
          <p:nvPr/>
        </p:nvSpPr>
        <p:spPr>
          <a:xfrm>
            <a:off x="548640" y="128016"/>
            <a:ext cx="2619756" cy="274320"/>
          </a:xfrm>
          <a:prstGeom prst="roundRect">
            <a:avLst>
              <a:gd name="adj" fmla="val 50000"/>
            </a:avLst>
          </a:prstGeom>
          <a:solidFill>
            <a:srgbClr val="1F8A5B"/>
          </a:solidFill>
          <a:ln w="12700">
            <a:solidFill>
              <a:srgbClr val="1F8A5B"/>
            </a:solidFill>
            <a:prstDash val="solid"/>
          </a:ln>
        </p:spPr>
        <p:txBody>
          <a:bodyPr/>
          <a:lstStyle/>
          <a:p>
            <a:endParaRPr lang="es-CO"/>
          </a:p>
        </p:txBody>
      </p:sp>
      <p:sp>
        <p:nvSpPr>
          <p:cNvPr id="4" name="Text 2"/>
          <p:cNvSpPr txBox="1"/>
          <p:nvPr/>
        </p:nvSpPr>
        <p:spPr>
          <a:xfrm>
            <a:off x="548640" y="128016"/>
            <a:ext cx="2619756" cy="274320"/>
          </a:xfrm>
          <a:prstGeom prst="rect">
            <a:avLst/>
          </a:prstGeom>
          <a:noFill/>
          <a:ln/>
        </p:spPr>
        <p:txBody>
          <a:bodyPr wrap="square" lIns="0" tIns="0" rIns="0" bIns="0" rtlCol="0" anchor="ctr"/>
          <a:lstStyle/>
          <a:p>
            <a:pPr marL="0" indent="0" algn="ctr">
              <a:buNone/>
            </a:pPr>
            <a:r>
              <a:rPr lang="en-US" sz="1050" b="1" kern="0" spc="100" dirty="0">
                <a:solidFill>
                  <a:schemeClr val="bg1"/>
                </a:solidFill>
              </a:rPr>
              <a:t>PREGUNTA PRINCIPAL · MÉTODO</a:t>
            </a:r>
            <a:endParaRPr lang="en-US" sz="1050" dirty="0"/>
          </a:p>
        </p:txBody>
      </p:sp>
      <p:sp>
        <p:nvSpPr>
          <p:cNvPr id="5" name="!!panel"/>
          <p:cNvSpPr/>
          <p:nvPr/>
        </p:nvSpPr>
        <p:spPr>
          <a:xfrm>
            <a:off x="548640" y="1463040"/>
            <a:ext cx="5120640" cy="4526280"/>
          </a:xfrm>
          <a:prstGeom prst="roundRect">
            <a:avLst>
              <a:gd name="adj" fmla="val 3636"/>
            </a:avLst>
          </a:prstGeom>
          <a:solidFill>
            <a:srgbClr val="0C2B22"/>
          </a:solidFill>
          <a:ln w="12700">
            <a:solidFill>
              <a:srgbClr val="0C2B22"/>
            </a:solidFill>
            <a:prstDash val="solid"/>
          </a:ln>
        </p:spPr>
        <p:txBody>
          <a:bodyPr/>
          <a:lstStyle/>
          <a:p>
            <a:endParaRPr lang="es-CO"/>
          </a:p>
        </p:txBody>
      </p:sp>
      <p:sp>
        <p:nvSpPr>
          <p:cNvPr id="6" name="!!ring"/>
          <p:cNvSpPr/>
          <p:nvPr/>
        </p:nvSpPr>
        <p:spPr>
          <a:xfrm>
            <a:off x="10972800" y="384048"/>
            <a:ext cx="731520" cy="731520"/>
          </a:xfrm>
          <a:prstGeom prst="ellipse">
            <a:avLst/>
          </a:prstGeom>
          <a:solidFill>
            <a:srgbClr val="FFFFFF">
              <a:alpha val="0"/>
            </a:srgbClr>
          </a:solidFill>
          <a:ln w="31750">
            <a:solidFill>
              <a:srgbClr val="1F8A5B"/>
            </a:solidFill>
            <a:prstDash val="solid"/>
          </a:ln>
        </p:spPr>
        <p:txBody>
          <a:bodyPr/>
          <a:lstStyle/>
          <a:p>
            <a:endParaRPr lang="es-CO"/>
          </a:p>
        </p:txBody>
      </p:sp>
      <p:sp>
        <p:nvSpPr>
          <p:cNvPr id="7" name="!!ball"/>
          <p:cNvSpPr/>
          <p:nvPr/>
        </p:nvSpPr>
        <p:spPr>
          <a:xfrm>
            <a:off x="11256264" y="667512"/>
            <a:ext cx="164592" cy="164592"/>
          </a:xfrm>
          <a:prstGeom prst="ellipse">
            <a:avLst/>
          </a:prstGeom>
          <a:solidFill>
            <a:srgbClr val="F2B705"/>
          </a:solidFill>
          <a:ln w="12700">
            <a:solidFill>
              <a:srgbClr val="F2B705"/>
            </a:solidFill>
            <a:prstDash val="solid"/>
          </a:ln>
        </p:spPr>
        <p:txBody>
          <a:bodyPr/>
          <a:lstStyle/>
          <a:p>
            <a:endParaRPr lang="es-CO"/>
          </a:p>
        </p:txBody>
      </p:sp>
      <p:sp>
        <p:nvSpPr>
          <p:cNvPr id="8" name="Text 6"/>
          <p:cNvSpPr txBox="1"/>
          <p:nvPr/>
        </p:nvSpPr>
        <p:spPr>
          <a:xfrm>
            <a:off x="868680" y="1691640"/>
            <a:ext cx="4572000" cy="457200"/>
          </a:xfrm>
          <a:prstGeom prst="rect">
            <a:avLst/>
          </a:prstGeom>
          <a:noFill/>
          <a:ln/>
        </p:spPr>
        <p:txBody>
          <a:bodyPr wrap="square" lIns="0" tIns="0" rIns="0" bIns="0" rtlCol="0" anchor="ctr"/>
          <a:lstStyle/>
          <a:p>
            <a:pPr marL="0" indent="0">
              <a:buNone/>
            </a:pPr>
            <a:r>
              <a:rPr lang="en-US" sz="2000" b="1" dirty="0">
                <a:solidFill>
                  <a:schemeClr val="accent2"/>
                </a:solidFill>
              </a:rPr>
              <a:t>Inferencia principal</a:t>
            </a:r>
            <a:endParaRPr lang="en-US" sz="2000" dirty="0"/>
          </a:p>
        </p:txBody>
      </p:sp>
      <p:sp>
        <p:nvSpPr>
          <p:cNvPr id="9" name="Text 7"/>
          <p:cNvSpPr txBox="1"/>
          <p:nvPr/>
        </p:nvSpPr>
        <p:spPr>
          <a:xfrm>
            <a:off x="868680" y="2240280"/>
            <a:ext cx="4480560" cy="3566160"/>
          </a:xfrm>
          <a:prstGeom prst="rect">
            <a:avLst/>
          </a:prstGeom>
          <a:noFill/>
          <a:ln/>
        </p:spPr>
        <p:txBody>
          <a:bodyPr wrap="square" lIns="0" tIns="0" rIns="0" bIns="0" rtlCol="0" anchor="t"/>
          <a:lstStyle/>
          <a:p>
            <a:pPr marL="0" indent="0">
              <a:spcAft>
                <a:spcPts val="600"/>
              </a:spcAft>
              <a:buNone/>
            </a:pPr>
            <a:r>
              <a:rPr lang="en-US" sz="1550" dirty="0">
                <a:solidFill>
                  <a:schemeClr val="bg1"/>
                </a:solidFill>
              </a:rPr>
              <a:t>Bootstrap circular de bloques: 20 partidos seguidos, remuestreados dentro de cada liga y temporada, 2.000 réplicas.</a:t>
            </a:r>
            <a:endParaRPr lang="en-US" sz="1550" dirty="0"/>
          </a:p>
          <a:p>
            <a:pPr marL="0" indent="0">
              <a:spcAft>
                <a:spcPts val="600"/>
              </a:spcAft>
              <a:buNone/>
            </a:pPr>
            <a:r>
              <a:rPr lang="en-US" sz="1550" dirty="0">
                <a:solidFill>
                  <a:schemeClr val="bg1"/>
                </a:solidFill>
              </a:rPr>
              <a:t>Intervalos de confianza al 95 % por percentiles.</a:t>
            </a:r>
            <a:endParaRPr lang="en-US" sz="1550" dirty="0"/>
          </a:p>
          <a:p>
            <a:pPr marL="0" indent="0">
              <a:spcAft>
                <a:spcPts val="600"/>
              </a:spcAft>
              <a:buNone/>
            </a:pPr>
            <a:r>
              <a:rPr lang="en-US" sz="1550" dirty="0">
                <a:solidFill>
                  <a:schemeClr val="bg1"/>
                </a:solidFill>
              </a:rPr>
              <a:t>Bloque de 20 justificado con datos: autocorrelación nula y bloque óptimo de Politis–White de 1–2 partidos (20 es conservador).</a:t>
            </a:r>
            <a:endParaRPr lang="en-US" sz="1550" dirty="0"/>
          </a:p>
          <a:p>
            <a:pPr marL="0" indent="0">
              <a:spcAft>
                <a:spcPts val="600"/>
              </a:spcAft>
              <a:buNone/>
            </a:pPr>
            <a:r>
              <a:rPr lang="en-US" sz="1550" dirty="0">
                <a:solidFill>
                  <a:schemeClr val="bg1"/>
                </a:solidFill>
              </a:rPr>
              <a:t>Holm por familias definidas por la pregunta (988 hipótesis en 50 familias).</a:t>
            </a:r>
            <a:endParaRPr lang="en-US" sz="1550" dirty="0"/>
          </a:p>
          <a:p>
            <a:pPr marL="0" indent="0">
              <a:spcAft>
                <a:spcPts val="600"/>
              </a:spcAft>
              <a:buNone/>
            </a:pPr>
            <a:r>
              <a:rPr lang="en-US" sz="1550" dirty="0">
                <a:solidFill>
                  <a:schemeClr val="bg1"/>
                </a:solidFill>
              </a:rPr>
              <a:t>Casas comparadas sobre los mismos partidos (datos apareados).</a:t>
            </a:r>
            <a:endParaRPr lang="en-US" sz="1550" dirty="0"/>
          </a:p>
        </p:txBody>
      </p:sp>
      <p:sp>
        <p:nvSpPr>
          <p:cNvPr id="10" name="Shape 8"/>
          <p:cNvSpPr/>
          <p:nvPr/>
        </p:nvSpPr>
        <p:spPr>
          <a:xfrm>
            <a:off x="6035040" y="1508760"/>
            <a:ext cx="658368" cy="658368"/>
          </a:xfrm>
          <a:prstGeom prst="ellipse">
            <a:avLst/>
          </a:prstGeom>
          <a:solidFill>
            <a:srgbClr val="1F8A5B"/>
          </a:solidFill>
          <a:ln w="12700">
            <a:solidFill>
              <a:srgbClr val="1F8A5B"/>
            </a:solidFill>
            <a:prstDash val="solid"/>
          </a:ln>
        </p:spPr>
        <p:txBody>
          <a:bodyPr/>
          <a:lstStyle/>
          <a:p>
            <a:endParaRPr lang="es-CO"/>
          </a:p>
        </p:txBody>
      </p:sp>
      <p:pic>
        <p:nvPicPr>
          <p:cNvPr id="11" name="Image 0" descr="preencoded.png"/>
          <p:cNvPicPr>
            <a:picLocks noChangeAspect="1"/>
          </p:cNvPicPr>
          <p:nvPr/>
        </p:nvPicPr>
        <p:blipFill>
          <a:blip r:embed="rId3"/>
          <a:stretch>
            <a:fillRect/>
          </a:stretch>
        </p:blipFill>
        <p:spPr>
          <a:xfrm>
            <a:off x="6206216" y="1679936"/>
            <a:ext cx="316017" cy="316017"/>
          </a:xfrm>
          <a:prstGeom prst="rect">
            <a:avLst/>
          </a:prstGeom>
        </p:spPr>
      </p:pic>
      <p:sp>
        <p:nvSpPr>
          <p:cNvPr id="12" name="Text 9"/>
          <p:cNvSpPr txBox="1"/>
          <p:nvPr/>
        </p:nvSpPr>
        <p:spPr>
          <a:xfrm>
            <a:off x="6858000" y="1463040"/>
            <a:ext cx="4754880" cy="1005840"/>
          </a:xfrm>
          <a:prstGeom prst="rect">
            <a:avLst/>
          </a:prstGeom>
          <a:noFill/>
          <a:ln/>
        </p:spPr>
        <p:txBody>
          <a:bodyPr wrap="square" lIns="0" tIns="0" rIns="0" bIns="0" rtlCol="0" anchor="t"/>
          <a:lstStyle/>
          <a:p>
            <a:pPr marL="0" indent="0">
              <a:buNone/>
            </a:pPr>
            <a:r>
              <a:rPr lang="en-US" sz="1400" b="1" dirty="0">
                <a:solidFill>
                  <a:schemeClr val="tx2"/>
                </a:solidFill>
              </a:rPr>
              <a:t>Regresión de calibración</a:t>
            </a:r>
            <a:endParaRPr lang="en-US" sz="1400" dirty="0"/>
          </a:p>
          <a:p>
            <a:pPr marL="0" indent="0">
              <a:buNone/>
            </a:pPr>
            <a:r>
              <a:rPr lang="en-US" sz="1400" dirty="0">
                <a:solidFill>
                  <a:schemeClr val="tx1"/>
                </a:solidFill>
              </a:rPr>
              <a:t>logit P(y = 1) = α + β·logit(q). Calibración perfecta: α = 0 y β = 1.</a:t>
            </a:r>
            <a:endParaRPr lang="en-US" sz="1400" dirty="0"/>
          </a:p>
        </p:txBody>
      </p:sp>
      <p:sp>
        <p:nvSpPr>
          <p:cNvPr id="13" name="Shape 10"/>
          <p:cNvSpPr/>
          <p:nvPr/>
        </p:nvSpPr>
        <p:spPr>
          <a:xfrm>
            <a:off x="6035040" y="2624328"/>
            <a:ext cx="658368" cy="658368"/>
          </a:xfrm>
          <a:prstGeom prst="ellipse">
            <a:avLst/>
          </a:prstGeom>
          <a:solidFill>
            <a:srgbClr val="1F8A5B"/>
          </a:solidFill>
          <a:ln w="12700">
            <a:solidFill>
              <a:srgbClr val="1F8A5B"/>
            </a:solidFill>
            <a:prstDash val="solid"/>
          </a:ln>
        </p:spPr>
        <p:txBody>
          <a:bodyPr/>
          <a:lstStyle/>
          <a:p>
            <a:endParaRPr lang="es-CO"/>
          </a:p>
        </p:txBody>
      </p:sp>
      <p:pic>
        <p:nvPicPr>
          <p:cNvPr id="14" name="Image 1" descr="preencoded.png"/>
          <p:cNvPicPr>
            <a:picLocks noChangeAspect="1"/>
          </p:cNvPicPr>
          <p:nvPr/>
        </p:nvPicPr>
        <p:blipFill>
          <a:blip r:embed="rId4"/>
          <a:stretch>
            <a:fillRect/>
          </a:stretch>
        </p:blipFill>
        <p:spPr>
          <a:xfrm>
            <a:off x="6206216" y="2795504"/>
            <a:ext cx="316017" cy="316017"/>
          </a:xfrm>
          <a:prstGeom prst="rect">
            <a:avLst/>
          </a:prstGeom>
        </p:spPr>
      </p:pic>
      <p:sp>
        <p:nvSpPr>
          <p:cNvPr id="15" name="Text 11"/>
          <p:cNvSpPr txBox="1"/>
          <p:nvPr/>
        </p:nvSpPr>
        <p:spPr>
          <a:xfrm>
            <a:off x="6858000" y="2578608"/>
            <a:ext cx="4754880" cy="1005840"/>
          </a:xfrm>
          <a:prstGeom prst="rect">
            <a:avLst/>
          </a:prstGeom>
          <a:noFill/>
          <a:ln/>
        </p:spPr>
        <p:txBody>
          <a:bodyPr wrap="square" lIns="0" tIns="0" rIns="0" bIns="0" rtlCol="0" anchor="t"/>
          <a:lstStyle/>
          <a:p>
            <a:pPr marL="0" indent="0">
              <a:buNone/>
            </a:pPr>
            <a:r>
              <a:rPr lang="en-US" sz="1400" b="1" dirty="0">
                <a:solidFill>
                  <a:schemeClr val="tx2"/>
                </a:solidFill>
              </a:rPr>
              <a:t>ECE frente a calibración perfecta</a:t>
            </a:r>
            <a:endParaRPr lang="en-US" sz="1400" dirty="0"/>
          </a:p>
          <a:p>
            <a:pPr marL="0" indent="0">
              <a:buNone/>
            </a:pPr>
            <a:r>
              <a:rPr lang="en-US" sz="1400" dirty="0">
                <a:solidFill>
                  <a:schemeClr val="tx1"/>
                </a:solidFill>
              </a:rPr>
              <a:t>2.000 temporadas simuladas: ¿cuánto ECE daría un pronóstico perfecto con este n?</a:t>
            </a:r>
            <a:endParaRPr lang="en-US" sz="1400" dirty="0"/>
          </a:p>
        </p:txBody>
      </p:sp>
      <p:sp>
        <p:nvSpPr>
          <p:cNvPr id="16" name="Shape 12"/>
          <p:cNvSpPr/>
          <p:nvPr/>
        </p:nvSpPr>
        <p:spPr>
          <a:xfrm>
            <a:off x="6035040" y="3739896"/>
            <a:ext cx="658368" cy="658368"/>
          </a:xfrm>
          <a:prstGeom prst="ellipse">
            <a:avLst/>
          </a:prstGeom>
          <a:solidFill>
            <a:srgbClr val="1F8A5B"/>
          </a:solidFill>
          <a:ln w="12700">
            <a:solidFill>
              <a:srgbClr val="1F8A5B"/>
            </a:solidFill>
            <a:prstDash val="solid"/>
          </a:ln>
        </p:spPr>
        <p:txBody>
          <a:bodyPr/>
          <a:lstStyle/>
          <a:p>
            <a:endParaRPr lang="es-CO"/>
          </a:p>
        </p:txBody>
      </p:sp>
      <p:pic>
        <p:nvPicPr>
          <p:cNvPr id="17" name="Image 2" descr="preencoded.png"/>
          <p:cNvPicPr>
            <a:picLocks noChangeAspect="1"/>
          </p:cNvPicPr>
          <p:nvPr/>
        </p:nvPicPr>
        <p:blipFill>
          <a:blip r:embed="rId5"/>
          <a:stretch>
            <a:fillRect/>
          </a:stretch>
        </p:blipFill>
        <p:spPr>
          <a:xfrm>
            <a:off x="6206216" y="3911072"/>
            <a:ext cx="316017" cy="316017"/>
          </a:xfrm>
          <a:prstGeom prst="rect">
            <a:avLst/>
          </a:prstGeom>
        </p:spPr>
      </p:pic>
      <p:sp>
        <p:nvSpPr>
          <p:cNvPr id="18" name="Text 13"/>
          <p:cNvSpPr txBox="1"/>
          <p:nvPr/>
        </p:nvSpPr>
        <p:spPr>
          <a:xfrm>
            <a:off x="6858000" y="3694176"/>
            <a:ext cx="4754880" cy="1005840"/>
          </a:xfrm>
          <a:prstGeom prst="rect">
            <a:avLst/>
          </a:prstGeom>
          <a:noFill/>
          <a:ln/>
        </p:spPr>
        <p:txBody>
          <a:bodyPr wrap="square" lIns="0" tIns="0" rIns="0" bIns="0" rtlCol="0" anchor="t"/>
          <a:lstStyle/>
          <a:p>
            <a:pPr marL="0" indent="0">
              <a:buNone/>
            </a:pPr>
            <a:r>
              <a:rPr lang="en-US" sz="1400" b="1" dirty="0">
                <a:solidFill>
                  <a:schemeClr val="tx2"/>
                </a:solidFill>
              </a:rPr>
              <a:t>Sensibilidad</a:t>
            </a:r>
            <a:endParaRPr lang="en-US" sz="1400" dirty="0"/>
          </a:p>
          <a:p>
            <a:pPr marL="0" indent="0">
              <a:buNone/>
            </a:pPr>
            <a:r>
              <a:rPr lang="en-US" sz="1400" dirty="0">
                <a:solidFill>
                  <a:schemeClr val="tx1"/>
                </a:solidFill>
              </a:rPr>
              <a:t>Bloques 1/10/40 y semanas; errores por equipo; 25 pares de umbrales; grupos 5–20.</a:t>
            </a:r>
            <a:endParaRPr lang="en-US" sz="1400" dirty="0"/>
          </a:p>
        </p:txBody>
      </p:sp>
      <p:sp>
        <p:nvSpPr>
          <p:cNvPr id="19" name="Shape 14"/>
          <p:cNvSpPr/>
          <p:nvPr/>
        </p:nvSpPr>
        <p:spPr>
          <a:xfrm>
            <a:off x="6035040" y="4855464"/>
            <a:ext cx="658368" cy="658368"/>
          </a:xfrm>
          <a:prstGeom prst="ellipse">
            <a:avLst/>
          </a:prstGeom>
          <a:solidFill>
            <a:srgbClr val="1F8A5B"/>
          </a:solidFill>
          <a:ln w="12700">
            <a:solidFill>
              <a:srgbClr val="1F8A5B"/>
            </a:solidFill>
            <a:prstDash val="solid"/>
          </a:ln>
        </p:spPr>
        <p:txBody>
          <a:bodyPr/>
          <a:lstStyle/>
          <a:p>
            <a:endParaRPr lang="es-CO"/>
          </a:p>
        </p:txBody>
      </p:sp>
      <p:pic>
        <p:nvPicPr>
          <p:cNvPr id="20" name="Image 3" descr="preencoded.png"/>
          <p:cNvPicPr>
            <a:picLocks noChangeAspect="1"/>
          </p:cNvPicPr>
          <p:nvPr/>
        </p:nvPicPr>
        <p:blipFill>
          <a:blip r:embed="rId6"/>
          <a:stretch>
            <a:fillRect/>
          </a:stretch>
        </p:blipFill>
        <p:spPr>
          <a:xfrm>
            <a:off x="6206216" y="5026640"/>
            <a:ext cx="316017" cy="316017"/>
          </a:xfrm>
          <a:prstGeom prst="rect">
            <a:avLst/>
          </a:prstGeom>
        </p:spPr>
      </p:pic>
      <p:sp>
        <p:nvSpPr>
          <p:cNvPr id="21" name="Text 15"/>
          <p:cNvSpPr txBox="1"/>
          <p:nvPr/>
        </p:nvSpPr>
        <p:spPr>
          <a:xfrm>
            <a:off x="6858000" y="4809744"/>
            <a:ext cx="4754880" cy="1005840"/>
          </a:xfrm>
          <a:prstGeom prst="rect">
            <a:avLst/>
          </a:prstGeom>
          <a:noFill/>
          <a:ln/>
        </p:spPr>
        <p:txBody>
          <a:bodyPr wrap="square" lIns="0" tIns="0" rIns="0" bIns="0" rtlCol="0" anchor="t"/>
          <a:lstStyle/>
          <a:p>
            <a:pPr marL="0" indent="0">
              <a:buNone/>
            </a:pPr>
            <a:r>
              <a:rPr lang="en-US" sz="1400" b="1" dirty="0">
                <a:solidFill>
                  <a:schemeClr val="tx2"/>
                </a:solidFill>
              </a:rPr>
              <a:t>No significativo ≠ sin efecto</a:t>
            </a:r>
            <a:endParaRPr lang="en-US" sz="1400" dirty="0"/>
          </a:p>
          <a:p>
            <a:pPr marL="0" indent="0">
              <a:buNone/>
            </a:pPr>
            <a:r>
              <a:rPr lang="en-US" sz="1400" dirty="0">
                <a:solidFill>
                  <a:schemeClr val="tx1"/>
                </a:solidFill>
              </a:rPr>
              <a:t>Efecto mínimo detectable y pruebas de equivalencia (TOST) con márgenes declarados.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F68"/>
                </a:solidFill>
              </a:defRPr>
            </a:lvl1pPr>
          </a:lstStyle>
          <a:p>
            <a:pPr algn="r"/>
            <a:fld id="{F7021451-1387-4CA6-816F-3879F97B5CBC}" type="slidenum">
              <a:rPr lang="en-US" b="0"/>
              <a:t>10</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68680"/>
          </a:xfrm>
          <a:prstGeom prst="rect">
            <a:avLst/>
          </a:prstGeom>
          <a:noFill/>
          <a:ln/>
        </p:spPr>
        <p:txBody>
          <a:bodyPr wrap="square" lIns="0" tIns="0" rIns="0" bIns="0" rtlCol="0" anchor="ctr"/>
          <a:lstStyle/>
          <a:p>
            <a:pPr marL="0" indent="0" algn="l">
              <a:buNone/>
            </a:pPr>
            <a:r>
              <a:rPr lang="en-US" sz="3400" b="1" dirty="0">
                <a:solidFill>
                  <a:schemeClr val="tx2"/>
                </a:solidFill>
              </a:rPr>
              <a:t>Si dicen 40 %, ¿pasa 4 de cada 10 veces?</a:t>
            </a:r>
            <a:endParaRPr lang="en-US" sz="3400" dirty="0"/>
          </a:p>
        </p:txBody>
      </p:sp>
      <p:sp>
        <p:nvSpPr>
          <p:cNvPr id="3" name="Shape 1"/>
          <p:cNvSpPr/>
          <p:nvPr/>
        </p:nvSpPr>
        <p:spPr>
          <a:xfrm>
            <a:off x="548640" y="128016"/>
            <a:ext cx="2967228" cy="274320"/>
          </a:xfrm>
          <a:prstGeom prst="roundRect">
            <a:avLst>
              <a:gd name="adj" fmla="val 50000"/>
            </a:avLst>
          </a:prstGeom>
          <a:solidFill>
            <a:srgbClr val="1F8A5B"/>
          </a:solidFill>
          <a:ln w="12700">
            <a:solidFill>
              <a:srgbClr val="1F8A5B"/>
            </a:solidFill>
            <a:prstDash val="solid"/>
          </a:ln>
        </p:spPr>
        <p:txBody>
          <a:bodyPr/>
          <a:lstStyle/>
          <a:p>
            <a:endParaRPr lang="es-CO"/>
          </a:p>
        </p:txBody>
      </p:sp>
      <p:sp>
        <p:nvSpPr>
          <p:cNvPr id="4" name="Text 2"/>
          <p:cNvSpPr txBox="1"/>
          <p:nvPr/>
        </p:nvSpPr>
        <p:spPr>
          <a:xfrm>
            <a:off x="548640" y="128016"/>
            <a:ext cx="2967228" cy="274320"/>
          </a:xfrm>
          <a:prstGeom prst="rect">
            <a:avLst/>
          </a:prstGeom>
          <a:noFill/>
          <a:ln/>
        </p:spPr>
        <p:txBody>
          <a:bodyPr wrap="square" lIns="0" tIns="0" rIns="0" bIns="0" rtlCol="0" anchor="ctr"/>
          <a:lstStyle/>
          <a:p>
            <a:pPr marL="0" indent="0" algn="ctr">
              <a:buNone/>
            </a:pPr>
            <a:r>
              <a:rPr lang="en-US" sz="1050" b="1" kern="0" spc="100" dirty="0">
                <a:solidFill>
                  <a:schemeClr val="bg1"/>
                </a:solidFill>
              </a:rPr>
              <a:t>PREGUNTA PRINCIPAL · RESULTADOS</a:t>
            </a:r>
            <a:endParaRPr lang="en-US" sz="1050" dirty="0"/>
          </a:p>
        </p:txBody>
      </p:sp>
      <p:sp>
        <p:nvSpPr>
          <p:cNvPr id="5" name="!!panel"/>
          <p:cNvSpPr/>
          <p:nvPr/>
        </p:nvSpPr>
        <p:spPr>
          <a:xfrm>
            <a:off x="7863840" y="1463040"/>
            <a:ext cx="3749040" cy="4526280"/>
          </a:xfrm>
          <a:prstGeom prst="roundRect">
            <a:avLst>
              <a:gd name="adj" fmla="val 4390"/>
            </a:avLst>
          </a:prstGeom>
          <a:solidFill>
            <a:srgbClr val="0C2B22"/>
          </a:solidFill>
          <a:ln w="12700">
            <a:solidFill>
              <a:srgbClr val="0C2B22"/>
            </a:solidFill>
            <a:prstDash val="solid"/>
          </a:ln>
        </p:spPr>
        <p:txBody>
          <a:bodyPr/>
          <a:lstStyle/>
          <a:p>
            <a:endParaRPr lang="es-CO"/>
          </a:p>
        </p:txBody>
      </p:sp>
      <p:sp>
        <p:nvSpPr>
          <p:cNvPr id="6" name="!!ring"/>
          <p:cNvSpPr/>
          <p:nvPr/>
        </p:nvSpPr>
        <p:spPr>
          <a:xfrm>
            <a:off x="10972800" y="384048"/>
            <a:ext cx="731520" cy="731520"/>
          </a:xfrm>
          <a:prstGeom prst="ellipse">
            <a:avLst/>
          </a:prstGeom>
          <a:solidFill>
            <a:srgbClr val="FFFFFF">
              <a:alpha val="0"/>
            </a:srgbClr>
          </a:solidFill>
          <a:ln w="31750">
            <a:solidFill>
              <a:srgbClr val="1F8A5B"/>
            </a:solidFill>
            <a:prstDash val="solid"/>
          </a:ln>
        </p:spPr>
        <p:txBody>
          <a:bodyPr/>
          <a:lstStyle/>
          <a:p>
            <a:endParaRPr lang="es-CO"/>
          </a:p>
        </p:txBody>
      </p:sp>
      <p:sp>
        <p:nvSpPr>
          <p:cNvPr id="7" name="!!ball"/>
          <p:cNvSpPr/>
          <p:nvPr/>
        </p:nvSpPr>
        <p:spPr>
          <a:xfrm>
            <a:off x="11256264" y="667512"/>
            <a:ext cx="164592" cy="164592"/>
          </a:xfrm>
          <a:prstGeom prst="ellipse">
            <a:avLst/>
          </a:prstGeom>
          <a:solidFill>
            <a:srgbClr val="F2B705"/>
          </a:solidFill>
          <a:ln w="12700">
            <a:solidFill>
              <a:srgbClr val="F2B705"/>
            </a:solidFill>
            <a:prstDash val="solid"/>
          </a:ln>
        </p:spPr>
        <p:txBody>
          <a:bodyPr/>
          <a:lstStyle/>
          <a:p>
            <a:endParaRPr lang="es-CO"/>
          </a:p>
        </p:txBody>
      </p:sp>
      <p:graphicFrame>
        <p:nvGraphicFramePr>
          <p:cNvPr id="8" name="Chart 0"/>
          <p:cNvGraphicFramePr/>
          <p:nvPr/>
        </p:nvGraphicFramePr>
        <p:xfrm>
          <a:off x="548640" y="1417320"/>
          <a:ext cx="69494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8183880" y="1645920"/>
            <a:ext cx="3200400" cy="868680"/>
          </a:xfrm>
          <a:prstGeom prst="rect">
            <a:avLst/>
          </a:prstGeom>
          <a:noFill/>
          <a:ln/>
        </p:spPr>
        <p:txBody>
          <a:bodyPr wrap="square" lIns="0" tIns="0" rIns="0" bIns="0" rtlCol="0" anchor="b"/>
          <a:lstStyle/>
          <a:p>
            <a:pPr marL="0" indent="0">
              <a:buNone/>
            </a:pPr>
            <a:r>
              <a:rPr lang="en-US" sz="3400" b="1" dirty="0">
                <a:solidFill>
                  <a:schemeClr val="accent2"/>
                </a:solidFill>
                <a:latin typeface="Arial" pitchFamily="34" charset="0"/>
                <a:ea typeface="Arial" pitchFamily="34" charset="-122"/>
                <a:cs typeface="Arial" pitchFamily="34" charset="-120"/>
              </a:rPr>
              <a:t>2,6 – 3,0 pp</a:t>
            </a:r>
            <a:endParaRPr lang="en-US" sz="3400" dirty="0"/>
          </a:p>
        </p:txBody>
      </p:sp>
      <p:sp>
        <p:nvSpPr>
          <p:cNvPr id="10" name="Text 7"/>
          <p:cNvSpPr txBox="1"/>
          <p:nvPr/>
        </p:nvSpPr>
        <p:spPr>
          <a:xfrm>
            <a:off x="8183880" y="2560320"/>
            <a:ext cx="3200400" cy="914400"/>
          </a:xfrm>
          <a:prstGeom prst="rect">
            <a:avLst/>
          </a:prstGeom>
          <a:noFill/>
          <a:ln/>
        </p:spPr>
        <p:txBody>
          <a:bodyPr wrap="square" lIns="0" tIns="0" rIns="0" bIns="0" rtlCol="0" anchor="t"/>
          <a:lstStyle/>
          <a:p>
            <a:pPr marL="0" indent="0">
              <a:buNone/>
            </a:pPr>
            <a:r>
              <a:rPr lang="en-US" sz="1400" dirty="0">
                <a:solidFill>
                  <a:schemeClr val="bg2"/>
                </a:solidFill>
              </a:rPr>
              <a:t>ECE con potencia: menor que el de un pronóstico perfecto con este n (3,2–3,3 pp)</a:t>
            </a:r>
            <a:endParaRPr lang="en-US" sz="1400" dirty="0"/>
          </a:p>
        </p:txBody>
      </p:sp>
      <p:sp>
        <p:nvSpPr>
          <p:cNvPr id="11" name="Text 8"/>
          <p:cNvSpPr txBox="1"/>
          <p:nvPr/>
        </p:nvSpPr>
        <p:spPr>
          <a:xfrm>
            <a:off x="8183880" y="3611880"/>
            <a:ext cx="3200400" cy="868680"/>
          </a:xfrm>
          <a:prstGeom prst="rect">
            <a:avLst/>
          </a:prstGeom>
          <a:noFill/>
          <a:ln/>
        </p:spPr>
        <p:txBody>
          <a:bodyPr wrap="square" lIns="0" tIns="0" rIns="0" bIns="0" rtlCol="0" anchor="b"/>
          <a:lstStyle/>
          <a:p>
            <a:pPr marL="0" indent="0">
              <a:buNone/>
            </a:pPr>
            <a:r>
              <a:rPr lang="en-US" sz="3400" b="1" dirty="0">
                <a:solidFill>
                  <a:schemeClr val="bg1"/>
                </a:solidFill>
                <a:latin typeface="Arial" pitchFamily="34" charset="0"/>
                <a:ea typeface="Arial" pitchFamily="34" charset="-122"/>
                <a:cs typeface="Arial" pitchFamily="34" charset="-120"/>
              </a:rPr>
              <a:t>16 – 18 %</a:t>
            </a:r>
            <a:endParaRPr lang="en-US" sz="3400" dirty="0"/>
          </a:p>
        </p:txBody>
      </p:sp>
      <p:sp>
        <p:nvSpPr>
          <p:cNvPr id="12" name="Text 9"/>
          <p:cNvSpPr txBox="1"/>
          <p:nvPr/>
        </p:nvSpPr>
        <p:spPr>
          <a:xfrm>
            <a:off x="8183880" y="4526280"/>
            <a:ext cx="3200400" cy="685800"/>
          </a:xfrm>
          <a:prstGeom prst="rect">
            <a:avLst/>
          </a:prstGeom>
          <a:noFill/>
          <a:ln/>
        </p:spPr>
        <p:txBody>
          <a:bodyPr wrap="square" lIns="0" tIns="0" rIns="0" bIns="0" rtlCol="0" anchor="t"/>
          <a:lstStyle/>
          <a:p>
            <a:pPr marL="0" indent="0">
              <a:buNone/>
            </a:pPr>
            <a:r>
              <a:rPr lang="en-US" sz="1400" dirty="0">
                <a:solidFill>
                  <a:schemeClr val="bg2"/>
                </a:solidFill>
              </a:rPr>
              <a:t>mejor que pronosticar con la frecuencia histórica (RPS)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F68"/>
                </a:solidFill>
              </a:defRPr>
            </a:lvl1pPr>
          </a:lstStyle>
          <a:p>
            <a:pPr algn="r"/>
            <a:fld id="{F7021451-1387-4CA6-816F-3879F97B5CBC}" type="slidenum">
              <a:rPr lang="en-US" b="0"/>
              <a:t>11</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68680"/>
          </a:xfrm>
          <a:prstGeom prst="rect">
            <a:avLst/>
          </a:prstGeom>
          <a:noFill/>
          <a:ln/>
        </p:spPr>
        <p:txBody>
          <a:bodyPr wrap="square" lIns="0" tIns="0" rIns="0" bIns="0" rtlCol="0" anchor="ctr"/>
          <a:lstStyle/>
          <a:p>
            <a:pPr marL="0" indent="0" algn="l">
              <a:buNone/>
            </a:pPr>
            <a:r>
              <a:rPr lang="en-US" sz="3400" b="1" dirty="0">
                <a:solidFill>
                  <a:schemeClr val="tx2"/>
                </a:solidFill>
              </a:rPr>
              <a:t>El sesgo favorito–longshot depende del método</a:t>
            </a:r>
            <a:endParaRPr lang="en-US" sz="3400" dirty="0"/>
          </a:p>
        </p:txBody>
      </p:sp>
      <p:sp>
        <p:nvSpPr>
          <p:cNvPr id="3" name="Shape 1"/>
          <p:cNvSpPr/>
          <p:nvPr/>
        </p:nvSpPr>
        <p:spPr>
          <a:xfrm>
            <a:off x="548640" y="128016"/>
            <a:ext cx="2967228" cy="274320"/>
          </a:xfrm>
          <a:prstGeom prst="roundRect">
            <a:avLst>
              <a:gd name="adj" fmla="val 50000"/>
            </a:avLst>
          </a:prstGeom>
          <a:solidFill>
            <a:srgbClr val="1F8A5B"/>
          </a:solidFill>
          <a:ln w="12700">
            <a:solidFill>
              <a:srgbClr val="1F8A5B"/>
            </a:solidFill>
            <a:prstDash val="solid"/>
          </a:ln>
        </p:spPr>
        <p:txBody>
          <a:bodyPr/>
          <a:lstStyle/>
          <a:p>
            <a:endParaRPr lang="es-CO"/>
          </a:p>
        </p:txBody>
      </p:sp>
      <p:sp>
        <p:nvSpPr>
          <p:cNvPr id="4" name="Text 2"/>
          <p:cNvSpPr txBox="1"/>
          <p:nvPr/>
        </p:nvSpPr>
        <p:spPr>
          <a:xfrm>
            <a:off x="548640" y="128016"/>
            <a:ext cx="2967228" cy="274320"/>
          </a:xfrm>
          <a:prstGeom prst="rect">
            <a:avLst/>
          </a:prstGeom>
          <a:noFill/>
          <a:ln/>
        </p:spPr>
        <p:txBody>
          <a:bodyPr wrap="square" lIns="0" tIns="0" rIns="0" bIns="0" rtlCol="0" anchor="ctr"/>
          <a:lstStyle/>
          <a:p>
            <a:pPr marL="0" indent="0" algn="ctr">
              <a:buNone/>
            </a:pPr>
            <a:r>
              <a:rPr lang="en-US" sz="1050" b="1" kern="0" spc="100" dirty="0">
                <a:solidFill>
                  <a:schemeClr val="bg1"/>
                </a:solidFill>
              </a:rPr>
              <a:t>PREGUNTA PRINCIPAL · RESULTADOS</a:t>
            </a:r>
            <a:endParaRPr lang="en-US" sz="1050" dirty="0"/>
          </a:p>
        </p:txBody>
      </p:sp>
      <p:sp>
        <p:nvSpPr>
          <p:cNvPr id="5" name="!!panel"/>
          <p:cNvSpPr/>
          <p:nvPr/>
        </p:nvSpPr>
        <p:spPr>
          <a:xfrm>
            <a:off x="548640" y="1463040"/>
            <a:ext cx="3749040" cy="4526280"/>
          </a:xfrm>
          <a:prstGeom prst="roundRect">
            <a:avLst>
              <a:gd name="adj" fmla="val 4390"/>
            </a:avLst>
          </a:prstGeom>
          <a:solidFill>
            <a:srgbClr val="0C2B22"/>
          </a:solidFill>
          <a:ln w="12700">
            <a:solidFill>
              <a:srgbClr val="0C2B22"/>
            </a:solidFill>
            <a:prstDash val="solid"/>
          </a:ln>
        </p:spPr>
        <p:txBody>
          <a:bodyPr/>
          <a:lstStyle/>
          <a:p>
            <a:endParaRPr lang="es-CO"/>
          </a:p>
        </p:txBody>
      </p:sp>
      <p:sp>
        <p:nvSpPr>
          <p:cNvPr id="6" name="!!ring"/>
          <p:cNvSpPr/>
          <p:nvPr/>
        </p:nvSpPr>
        <p:spPr>
          <a:xfrm>
            <a:off x="10972800" y="384048"/>
            <a:ext cx="731520" cy="731520"/>
          </a:xfrm>
          <a:prstGeom prst="ellipse">
            <a:avLst/>
          </a:prstGeom>
          <a:solidFill>
            <a:srgbClr val="FFFFFF">
              <a:alpha val="0"/>
            </a:srgbClr>
          </a:solidFill>
          <a:ln w="31750">
            <a:solidFill>
              <a:srgbClr val="1F8A5B"/>
            </a:solidFill>
            <a:prstDash val="solid"/>
          </a:ln>
        </p:spPr>
        <p:txBody>
          <a:bodyPr/>
          <a:lstStyle/>
          <a:p>
            <a:endParaRPr lang="es-CO"/>
          </a:p>
        </p:txBody>
      </p:sp>
      <p:sp>
        <p:nvSpPr>
          <p:cNvPr id="7" name="!!ball"/>
          <p:cNvSpPr/>
          <p:nvPr/>
        </p:nvSpPr>
        <p:spPr>
          <a:xfrm>
            <a:off x="11256264" y="667512"/>
            <a:ext cx="164592" cy="164592"/>
          </a:xfrm>
          <a:prstGeom prst="ellipse">
            <a:avLst/>
          </a:prstGeom>
          <a:solidFill>
            <a:srgbClr val="F2B705"/>
          </a:solidFill>
          <a:ln w="12700">
            <a:solidFill>
              <a:srgbClr val="F2B705"/>
            </a:solidFill>
            <a:prstDash val="solid"/>
          </a:ln>
        </p:spPr>
        <p:txBody>
          <a:bodyPr/>
          <a:lstStyle/>
          <a:p>
            <a:endParaRPr lang="es-CO"/>
          </a:p>
        </p:txBody>
      </p:sp>
      <p:sp>
        <p:nvSpPr>
          <p:cNvPr id="8" name="Text 6"/>
          <p:cNvSpPr txBox="1"/>
          <p:nvPr/>
        </p:nvSpPr>
        <p:spPr>
          <a:xfrm>
            <a:off x="868680" y="1645920"/>
            <a:ext cx="3108960" cy="274320"/>
          </a:xfrm>
          <a:prstGeom prst="rect">
            <a:avLst/>
          </a:prstGeom>
          <a:noFill/>
          <a:ln/>
        </p:spPr>
        <p:txBody>
          <a:bodyPr wrap="square" lIns="0" tIns="0" rIns="0" bIns="0" rtlCol="0" anchor="ctr"/>
          <a:lstStyle/>
          <a:p>
            <a:pPr marL="0" indent="0">
              <a:buNone/>
            </a:pPr>
            <a:r>
              <a:rPr lang="en-US" sz="1100" b="1" kern="0" spc="200" dirty="0">
                <a:solidFill>
                  <a:schemeClr val="accent2"/>
                </a:solidFill>
              </a:rPr>
              <a:t>RESPUESTA · PRINCIPAL</a:t>
            </a:r>
            <a:endParaRPr lang="en-US" sz="1100" dirty="0"/>
          </a:p>
        </p:txBody>
      </p:sp>
      <p:sp>
        <p:nvSpPr>
          <p:cNvPr id="9" name="Text 7"/>
          <p:cNvSpPr txBox="1"/>
          <p:nvPr/>
        </p:nvSpPr>
        <p:spPr>
          <a:xfrm>
            <a:off x="868680" y="1874520"/>
            <a:ext cx="3200400" cy="868680"/>
          </a:xfrm>
          <a:prstGeom prst="rect">
            <a:avLst/>
          </a:prstGeom>
          <a:noFill/>
          <a:ln/>
        </p:spPr>
        <p:txBody>
          <a:bodyPr wrap="square" lIns="0" tIns="0" rIns="0" bIns="0" rtlCol="0" anchor="b"/>
          <a:lstStyle/>
          <a:p>
            <a:pPr marL="0" indent="0">
              <a:buNone/>
            </a:pPr>
            <a:r>
              <a:rPr lang="en-US" sz="4000" b="1" dirty="0">
                <a:solidFill>
                  <a:schemeClr val="accent2"/>
                </a:solidFill>
                <a:latin typeface="Arial" pitchFamily="34" charset="0"/>
                <a:ea typeface="Arial" pitchFamily="34" charset="-122"/>
                <a:cs typeface="Arial" pitchFamily="34" charset="-120"/>
              </a:rPr>
              <a:t>0 de 16</a:t>
            </a:r>
            <a:endParaRPr lang="en-US" sz="4000" dirty="0"/>
          </a:p>
        </p:txBody>
      </p:sp>
      <p:sp>
        <p:nvSpPr>
          <p:cNvPr id="10" name="Text 8"/>
          <p:cNvSpPr txBox="1"/>
          <p:nvPr/>
        </p:nvSpPr>
        <p:spPr>
          <a:xfrm>
            <a:off x="868680" y="2788920"/>
            <a:ext cx="3200400" cy="685800"/>
          </a:xfrm>
          <a:prstGeom prst="rect">
            <a:avLst/>
          </a:prstGeom>
          <a:noFill/>
          <a:ln/>
        </p:spPr>
        <p:txBody>
          <a:bodyPr wrap="square" lIns="0" tIns="0" rIns="0" bIns="0" rtlCol="0" anchor="t"/>
          <a:lstStyle/>
          <a:p>
            <a:pPr marL="0" indent="0">
              <a:buNone/>
            </a:pPr>
            <a:r>
              <a:rPr lang="en-US" sz="1400" dirty="0">
                <a:solidFill>
                  <a:schemeClr val="bg2"/>
                </a:solidFill>
              </a:rPr>
              <a:t>pendientes del error significativas tras el ajuste de Holm</a:t>
            </a:r>
            <a:endParaRPr lang="en-US" sz="1400" dirty="0"/>
          </a:p>
        </p:txBody>
      </p:sp>
      <p:sp>
        <p:nvSpPr>
          <p:cNvPr id="11" name="Text 9"/>
          <p:cNvSpPr txBox="1"/>
          <p:nvPr/>
        </p:nvSpPr>
        <p:spPr>
          <a:xfrm>
            <a:off x="868680" y="3657600"/>
            <a:ext cx="3154680" cy="2194560"/>
          </a:xfrm>
          <a:prstGeom prst="rect">
            <a:avLst/>
          </a:prstGeom>
          <a:noFill/>
          <a:ln/>
        </p:spPr>
        <p:txBody>
          <a:bodyPr wrap="square" lIns="0" tIns="0" rIns="0" bIns="0" rtlCol="0" anchor="t"/>
          <a:lstStyle/>
          <a:p>
            <a:pPr marL="0" indent="0">
              <a:spcAft>
                <a:spcPts val="600"/>
              </a:spcAft>
              <a:buNone/>
            </a:pPr>
            <a:r>
              <a:rPr lang="en-US" sz="1500" dirty="0">
                <a:solidFill>
                  <a:schemeClr val="bg1"/>
                </a:solidFill>
              </a:rPr>
              <a:t>El método proporcional añade 0,34–0,66 pp de pendiente en todas las combinaciones (efecto mecánico).</a:t>
            </a:r>
            <a:endParaRPr lang="en-US" sz="1500" dirty="0"/>
          </a:p>
          <a:p>
            <a:pPr marL="0" indent="0">
              <a:spcAft>
                <a:spcPts val="600"/>
              </a:spcAft>
              <a:buNone/>
            </a:pPr>
            <a:r>
              <a:rPr lang="en-US" sz="1500" dirty="0">
                <a:solidFill>
                  <a:schemeClr val="bg1"/>
                </a:solidFill>
              </a:rPr>
              <a:t>Con potencia: Premier equivalente a cero; LaLiga ≈ 1,0, no concluyente.</a:t>
            </a:r>
            <a:endParaRPr lang="en-US" sz="1500" dirty="0"/>
          </a:p>
        </p:txBody>
      </p:sp>
      <p:graphicFrame>
        <p:nvGraphicFramePr>
          <p:cNvPr id="12" name="Chart 0"/>
          <p:cNvGraphicFramePr/>
          <p:nvPr/>
        </p:nvGraphicFramePr>
        <p:xfrm>
          <a:off x="4663440" y="1417320"/>
          <a:ext cx="69494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F68"/>
                </a:solidFill>
              </a:defRPr>
            </a:lvl1pPr>
          </a:lstStyle>
          <a:p>
            <a:pPr algn="r"/>
            <a:fld id="{F7021451-1387-4CA6-816F-3879F97B5CBC}" type="slidenum">
              <a:rPr lang="en-US" b="0"/>
              <a:t>12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68680"/>
          </a:xfrm>
          <a:prstGeom prst="rect">
            <a:avLst/>
          </a:prstGeom>
          <a:noFill/>
          <a:ln/>
        </p:spPr>
        <p:txBody>
          <a:bodyPr wrap="square" lIns="0" tIns="0" rIns="0" bIns="0" rtlCol="0" anchor="ctr"/>
          <a:lstStyle/>
          <a:p>
            <a:pPr marL="0" indent="0" algn="l">
              <a:buNone/>
            </a:pPr>
            <a:r>
              <a:rPr lang="en-US" sz="3400" b="1" dirty="0">
                <a:solidFill>
                  <a:schemeClr val="tx2"/>
                </a:solidFill>
              </a:rPr>
              <a:t>LaLiga: ¿sesgo real o falta de datos?</a:t>
            </a:r>
            <a:endParaRPr lang="en-US" sz="3400" dirty="0"/>
          </a:p>
        </p:txBody>
      </p:sp>
      <p:sp>
        <p:nvSpPr>
          <p:cNvPr id="3" name="Shape 1"/>
          <p:cNvSpPr/>
          <p:nvPr/>
        </p:nvSpPr>
        <p:spPr>
          <a:xfrm>
            <a:off x="548640" y="128016"/>
            <a:ext cx="2967228" cy="274320"/>
          </a:xfrm>
          <a:prstGeom prst="roundRect">
            <a:avLst>
              <a:gd name="adj" fmla="val 50000"/>
            </a:avLst>
          </a:prstGeom>
          <a:solidFill>
            <a:srgbClr val="1F8A5B"/>
          </a:solidFill>
          <a:ln w="12700">
            <a:solidFill>
              <a:srgbClr val="1F8A5B"/>
            </a:solidFill>
            <a:prstDash val="solid"/>
          </a:ln>
        </p:spPr>
        <p:txBody>
          <a:bodyPr/>
          <a:lstStyle/>
          <a:p>
            <a:endParaRPr lang="es-CO"/>
          </a:p>
        </p:txBody>
      </p:sp>
      <p:sp>
        <p:nvSpPr>
          <p:cNvPr id="4" name="Text 2"/>
          <p:cNvSpPr txBox="1"/>
          <p:nvPr/>
        </p:nvSpPr>
        <p:spPr>
          <a:xfrm>
            <a:off x="548640" y="128016"/>
            <a:ext cx="2967228" cy="274320"/>
          </a:xfrm>
          <a:prstGeom prst="rect">
            <a:avLst/>
          </a:prstGeom>
          <a:noFill/>
          <a:ln/>
        </p:spPr>
        <p:txBody>
          <a:bodyPr wrap="square" lIns="0" tIns="0" rIns="0" bIns="0" rtlCol="0" anchor="ctr"/>
          <a:lstStyle/>
          <a:p>
            <a:pPr marL="0" indent="0" algn="ctr">
              <a:buNone/>
            </a:pPr>
            <a:r>
              <a:rPr lang="en-US" sz="1050" b="1" kern="0" spc="100" dirty="0">
                <a:solidFill>
                  <a:schemeClr val="bg1"/>
                </a:solidFill>
              </a:rPr>
              <a:t>PREGUNTA PRINCIPAL · RESULTADOS</a:t>
            </a:r>
            <a:endParaRPr lang="en-US" sz="1050" dirty="0"/>
          </a:p>
        </p:txBody>
      </p:sp>
      <p:sp>
        <p:nvSpPr>
          <p:cNvPr id="5" name="!!panel"/>
          <p:cNvSpPr/>
          <p:nvPr/>
        </p:nvSpPr>
        <p:spPr>
          <a:xfrm>
            <a:off x="548640" y="4526280"/>
            <a:ext cx="11064240" cy="1508760"/>
          </a:xfrm>
          <a:prstGeom prst="roundRect">
            <a:avLst>
              <a:gd name="adj" fmla="val 10909"/>
            </a:avLst>
          </a:prstGeom>
          <a:solidFill>
            <a:srgbClr val="0C2B22"/>
          </a:solidFill>
          <a:ln w="12700">
            <a:solidFill>
              <a:srgbClr val="0C2B22"/>
            </a:solidFill>
            <a:prstDash val="solid"/>
          </a:ln>
        </p:spPr>
        <p:txBody>
          <a:bodyPr/>
          <a:lstStyle/>
          <a:p>
            <a:endParaRPr lang="es-CO"/>
          </a:p>
        </p:txBody>
      </p:sp>
      <p:sp>
        <p:nvSpPr>
          <p:cNvPr id="6" name="!!ring"/>
          <p:cNvSpPr/>
          <p:nvPr/>
        </p:nvSpPr>
        <p:spPr>
          <a:xfrm>
            <a:off x="10972800" y="384048"/>
            <a:ext cx="731520" cy="731520"/>
          </a:xfrm>
          <a:prstGeom prst="ellipse">
            <a:avLst/>
          </a:prstGeom>
          <a:solidFill>
            <a:srgbClr val="FFFFFF">
              <a:alpha val="0"/>
            </a:srgbClr>
          </a:solidFill>
          <a:ln w="31750">
            <a:solidFill>
              <a:srgbClr val="1F8A5B"/>
            </a:solidFill>
            <a:prstDash val="solid"/>
          </a:ln>
        </p:spPr>
        <p:txBody>
          <a:bodyPr/>
          <a:lstStyle/>
          <a:p>
            <a:endParaRPr lang="es-CO"/>
          </a:p>
        </p:txBody>
      </p:sp>
      <p:sp>
        <p:nvSpPr>
          <p:cNvPr id="7" name="!!ball"/>
          <p:cNvSpPr/>
          <p:nvPr/>
        </p:nvSpPr>
        <p:spPr>
          <a:xfrm>
            <a:off x="11256264" y="667512"/>
            <a:ext cx="164592" cy="164592"/>
          </a:xfrm>
          <a:prstGeom prst="ellipse">
            <a:avLst/>
          </a:prstGeom>
          <a:solidFill>
            <a:srgbClr val="F2B705"/>
          </a:solidFill>
          <a:ln w="12700">
            <a:solidFill>
              <a:srgbClr val="F2B705"/>
            </a:solidFill>
            <a:prstDash val="solid"/>
          </a:ln>
        </p:spPr>
        <p:txBody>
          <a:bodyPr/>
          <a:lstStyle/>
          <a:p>
            <a:endParaRPr lang="es-CO"/>
          </a:p>
        </p:txBody>
      </p:sp>
      <p:pic>
        <p:nvPicPr>
          <p:cNvPr id="8" name="Image 0" descr="/home/claude/companero/betting-calibration/outputs/figures/rev_umbrales.png"/>
          <p:cNvPicPr>
            <a:picLocks noChangeAspect="1"/>
          </p:cNvPicPr>
          <p:nvPr/>
        </p:nvPicPr>
        <p:blipFill>
          <a:blip r:embed="rId3"/>
          <a:stretch>
            <a:fillRect/>
          </a:stretch>
        </p:blipFill>
        <p:spPr>
          <a:xfrm>
            <a:off x="548640" y="1325880"/>
            <a:ext cx="11064240" cy="3063240"/>
          </a:xfrm>
          <a:prstGeom prst="rect">
            <a:avLst/>
          </a:prstGeom>
        </p:spPr>
      </p:pic>
      <p:sp>
        <p:nvSpPr>
          <p:cNvPr id="9" name="Text 6"/>
          <p:cNvSpPr txBox="1"/>
          <p:nvPr/>
        </p:nvSpPr>
        <p:spPr>
          <a:xfrm>
            <a:off x="868680" y="4617720"/>
            <a:ext cx="10424160" cy="1325880"/>
          </a:xfrm>
          <a:prstGeom prst="rect">
            <a:avLst/>
          </a:prstGeom>
          <a:noFill/>
          <a:ln/>
        </p:spPr>
        <p:txBody>
          <a:bodyPr wrap="square" lIns="0" tIns="0" rIns="0" bIns="0" rtlCol="0" anchor="ctr"/>
          <a:lstStyle/>
          <a:p>
            <a:pPr marL="0" indent="0">
              <a:buNone/>
            </a:pPr>
            <a:r>
              <a:rPr lang="en-US" sz="1550" b="1" dirty="0">
                <a:solidFill>
                  <a:schemeClr val="accent2"/>
                </a:solidFill>
              </a:rPr>
              <a:t>Dirección estable, significancia no. </a:t>
            </a:r>
            <a:r>
              <a:rPr lang="en-US" sz="1550" dirty="0">
                <a:solidFill>
                  <a:schemeClr val="bg1"/>
                </a:solidFill>
              </a:rPr>
              <a:t>Con 25 pares de umbrales, el contraste en LaLiga siempre es positivo (3–11 pp), pero solo 7–9 de 25 excluyen cero y, corrigiendo por las 25, ninguno sobrevive a Holm. El estudio solo detecta pendientes ≥ 1,5; la de LaLiga es 1,0.</a:t>
            </a:r>
            <a:endParaRPr lang="en-US" sz="15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F68"/>
                </a:solidFill>
              </a:defRPr>
            </a:lvl1pPr>
          </a:lstStyle>
          <a:p>
            <a:pPr algn="r"/>
            <a:fld id="{F7021451-1387-4CA6-816F-3879F97B5CBC}" type="slidenum">
              <a:rPr lang="en-US" b="0"/>
              <a:t>13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68680"/>
          </a:xfrm>
          <a:prstGeom prst="rect">
            <a:avLst/>
          </a:prstGeom>
          <a:noFill/>
          <a:ln/>
        </p:spPr>
        <p:txBody>
          <a:bodyPr wrap="square" lIns="0" tIns="0" rIns="0" bIns="0" rtlCol="0" anchor="ctr"/>
          <a:lstStyle/>
          <a:p>
            <a:pPr marL="0" indent="0" algn="l">
              <a:buNone/>
            </a:pPr>
            <a:r>
              <a:rPr lang="en-US" sz="3400" b="1" dirty="0">
                <a:solidFill>
                  <a:schemeClr val="tx2"/>
                </a:solidFill>
              </a:rPr>
              <a:t>Un sesgo conocido desde 1949</a:t>
            </a:r>
            <a:endParaRPr lang="en-US" sz="3400" dirty="0"/>
          </a:p>
        </p:txBody>
      </p:sp>
      <p:sp>
        <p:nvSpPr>
          <p:cNvPr id="3" name="Shape 1"/>
          <p:cNvSpPr/>
          <p:nvPr/>
        </p:nvSpPr>
        <p:spPr>
          <a:xfrm>
            <a:off x="548640" y="128016"/>
            <a:ext cx="2967228" cy="274320"/>
          </a:xfrm>
          <a:prstGeom prst="roundRect">
            <a:avLst>
              <a:gd name="adj" fmla="val 50000"/>
            </a:avLst>
          </a:prstGeom>
          <a:solidFill>
            <a:srgbClr val="1F8A5B"/>
          </a:solidFill>
          <a:ln w="12700">
            <a:solidFill>
              <a:srgbClr val="1F8A5B"/>
            </a:solidFill>
            <a:prstDash val="solid"/>
          </a:ln>
        </p:spPr>
        <p:txBody>
          <a:bodyPr/>
          <a:lstStyle/>
          <a:p>
            <a:endParaRPr lang="es-CO"/>
          </a:p>
        </p:txBody>
      </p:sp>
      <p:sp>
        <p:nvSpPr>
          <p:cNvPr id="4" name="Text 2"/>
          <p:cNvSpPr txBox="1"/>
          <p:nvPr/>
        </p:nvSpPr>
        <p:spPr>
          <a:xfrm>
            <a:off x="548640" y="128016"/>
            <a:ext cx="2967228" cy="274320"/>
          </a:xfrm>
          <a:prstGeom prst="rect">
            <a:avLst/>
          </a:prstGeom>
          <a:noFill/>
          <a:ln/>
        </p:spPr>
        <p:txBody>
          <a:bodyPr wrap="square" lIns="0" tIns="0" rIns="0" bIns="0" rtlCol="0" anchor="ctr"/>
          <a:lstStyle/>
          <a:p>
            <a:pPr marL="0" indent="0" algn="ctr">
              <a:buNone/>
            </a:pPr>
            <a:r>
              <a:rPr lang="en-US" sz="1050" b="1" kern="0" spc="100" dirty="0">
                <a:solidFill>
                  <a:schemeClr val="bg1"/>
                </a:solidFill>
              </a:rPr>
              <a:t>PREGUNTA PRINCIPAL · RESULTADOS</a:t>
            </a:r>
            <a:endParaRPr lang="en-US" sz="1050" dirty="0"/>
          </a:p>
        </p:txBody>
      </p:sp>
      <p:sp>
        <p:nvSpPr>
          <p:cNvPr id="5" name="!!panel"/>
          <p:cNvSpPr/>
          <p:nvPr/>
        </p:nvSpPr>
        <p:spPr>
          <a:xfrm>
            <a:off x="548640" y="4572000"/>
            <a:ext cx="11064240" cy="1463040"/>
          </a:xfrm>
          <a:prstGeom prst="roundRect">
            <a:avLst>
              <a:gd name="adj" fmla="val 11250"/>
            </a:avLst>
          </a:prstGeom>
          <a:solidFill>
            <a:srgbClr val="0C2B22"/>
          </a:solidFill>
          <a:ln w="12700">
            <a:solidFill>
              <a:srgbClr val="0C2B22"/>
            </a:solidFill>
            <a:prstDash val="solid"/>
          </a:ln>
        </p:spPr>
        <p:txBody>
          <a:bodyPr/>
          <a:lstStyle/>
          <a:p>
            <a:endParaRPr lang="es-CO"/>
          </a:p>
        </p:txBody>
      </p:sp>
      <p:sp>
        <p:nvSpPr>
          <p:cNvPr id="6" name="!!ring"/>
          <p:cNvSpPr/>
          <p:nvPr/>
        </p:nvSpPr>
        <p:spPr>
          <a:xfrm>
            <a:off x="10972800" y="384048"/>
            <a:ext cx="731520" cy="731520"/>
          </a:xfrm>
          <a:prstGeom prst="ellipse">
            <a:avLst/>
          </a:prstGeom>
          <a:solidFill>
            <a:srgbClr val="FFFFFF">
              <a:alpha val="0"/>
            </a:srgbClr>
          </a:solidFill>
          <a:ln w="31750">
            <a:solidFill>
              <a:srgbClr val="1F8A5B"/>
            </a:solidFill>
            <a:prstDash val="solid"/>
          </a:ln>
        </p:spPr>
        <p:txBody>
          <a:bodyPr/>
          <a:lstStyle/>
          <a:p>
            <a:endParaRPr lang="es-CO"/>
          </a:p>
        </p:txBody>
      </p:sp>
      <p:sp>
        <p:nvSpPr>
          <p:cNvPr id="7" name="!!ball"/>
          <p:cNvSpPr/>
          <p:nvPr/>
        </p:nvSpPr>
        <p:spPr>
          <a:xfrm>
            <a:off x="11256264" y="667512"/>
            <a:ext cx="164592" cy="164592"/>
          </a:xfrm>
          <a:prstGeom prst="ellipse">
            <a:avLst/>
          </a:prstGeom>
          <a:solidFill>
            <a:srgbClr val="F2B705"/>
          </a:solidFill>
          <a:ln w="12700">
            <a:solidFill>
              <a:srgbClr val="F2B705"/>
            </a:solidFill>
            <a:prstDash val="solid"/>
          </a:ln>
        </p:spPr>
        <p:txBody>
          <a:bodyPr/>
          <a:lstStyle/>
          <a:p>
            <a:endParaRPr lang="es-CO"/>
          </a:p>
        </p:txBody>
      </p:sp>
      <p:sp>
        <p:nvSpPr>
          <p:cNvPr id="8" name="Shape 6"/>
          <p:cNvSpPr/>
          <p:nvPr/>
        </p:nvSpPr>
        <p:spPr>
          <a:xfrm>
            <a:off x="822960" y="1874520"/>
            <a:ext cx="10515600" cy="0"/>
          </a:xfrm>
          <a:prstGeom prst="line">
            <a:avLst/>
          </a:prstGeom>
          <a:noFill/>
          <a:ln w="25400">
            <a:solidFill>
              <a:srgbClr val="8AA399"/>
            </a:solidFill>
            <a:prstDash val="solid"/>
          </a:ln>
        </p:spPr>
        <p:txBody>
          <a:bodyPr/>
          <a:lstStyle/>
          <a:p>
            <a:endParaRPr lang="es-CO"/>
          </a:p>
        </p:txBody>
      </p:sp>
      <p:sp>
        <p:nvSpPr>
          <p:cNvPr id="9" name="Shape 7"/>
          <p:cNvSpPr/>
          <p:nvPr/>
        </p:nvSpPr>
        <p:spPr>
          <a:xfrm>
            <a:off x="731520" y="1709928"/>
            <a:ext cx="329184" cy="329184"/>
          </a:xfrm>
          <a:prstGeom prst="ellipse">
            <a:avLst/>
          </a:prstGeom>
          <a:solidFill>
            <a:srgbClr val="1F8A5B"/>
          </a:solidFill>
          <a:ln w="25400">
            <a:solidFill>
              <a:srgbClr val="FFFFFF"/>
            </a:solidFill>
            <a:prstDash val="solid"/>
          </a:ln>
        </p:spPr>
        <p:txBody>
          <a:bodyPr/>
          <a:lstStyle/>
          <a:p>
            <a:endParaRPr lang="es-CO"/>
          </a:p>
        </p:txBody>
      </p:sp>
      <p:sp>
        <p:nvSpPr>
          <p:cNvPr id="10" name="Text 8"/>
          <p:cNvSpPr txBox="1"/>
          <p:nvPr/>
        </p:nvSpPr>
        <p:spPr>
          <a:xfrm>
            <a:off x="548640" y="2148840"/>
            <a:ext cx="2606040" cy="548640"/>
          </a:xfrm>
          <a:prstGeom prst="rect">
            <a:avLst/>
          </a:prstGeom>
          <a:noFill/>
          <a:ln/>
        </p:spPr>
        <p:txBody>
          <a:bodyPr wrap="square" lIns="0" tIns="0" rIns="0" bIns="0" rtlCol="0" anchor="ctr"/>
          <a:lstStyle/>
          <a:p>
            <a:pPr marL="0" indent="0">
              <a:buNone/>
            </a:pPr>
            <a:r>
              <a:rPr lang="en-US" sz="2800" b="1" dirty="0">
                <a:solidFill>
                  <a:schemeClr val="tx2"/>
                </a:solidFill>
                <a:latin typeface="Arial" pitchFamily="34" charset="0"/>
                <a:ea typeface="Arial" pitchFamily="34" charset="-122"/>
                <a:cs typeface="Arial" pitchFamily="34" charset="-120"/>
              </a:rPr>
              <a:t>1949</a:t>
            </a:r>
            <a:endParaRPr lang="en-US" sz="2800" dirty="0"/>
          </a:p>
        </p:txBody>
      </p:sp>
      <p:sp>
        <p:nvSpPr>
          <p:cNvPr id="11" name="Text 9"/>
          <p:cNvSpPr txBox="1"/>
          <p:nvPr/>
        </p:nvSpPr>
        <p:spPr>
          <a:xfrm>
            <a:off x="548640" y="2697480"/>
            <a:ext cx="2606040" cy="365760"/>
          </a:xfrm>
          <a:prstGeom prst="rect">
            <a:avLst/>
          </a:prstGeom>
          <a:noFill/>
          <a:ln/>
        </p:spPr>
        <p:txBody>
          <a:bodyPr wrap="square" lIns="0" tIns="0" rIns="0" bIns="0" rtlCol="0" anchor="ctr"/>
          <a:lstStyle/>
          <a:p>
            <a:pPr marL="0" indent="0">
              <a:buNone/>
            </a:pPr>
            <a:r>
              <a:rPr lang="en-US" sz="1500" b="1" dirty="0">
                <a:solidFill>
                  <a:schemeClr val="accent1"/>
                </a:solidFill>
              </a:rPr>
              <a:t>Griffith</a:t>
            </a:r>
            <a:endParaRPr lang="en-US" sz="1500" dirty="0"/>
          </a:p>
        </p:txBody>
      </p:sp>
      <p:sp>
        <p:nvSpPr>
          <p:cNvPr id="12" name="Text 10"/>
          <p:cNvSpPr txBox="1"/>
          <p:nvPr/>
        </p:nvSpPr>
        <p:spPr>
          <a:xfrm>
            <a:off x="548640" y="3108960"/>
            <a:ext cx="2606040" cy="1325880"/>
          </a:xfrm>
          <a:prstGeom prst="rect">
            <a:avLst/>
          </a:prstGeom>
          <a:noFill/>
          <a:ln/>
        </p:spPr>
        <p:txBody>
          <a:bodyPr wrap="square" lIns="0" tIns="0" rIns="0" bIns="0" rtlCol="0" anchor="t"/>
          <a:lstStyle/>
          <a:p>
            <a:pPr marL="0" indent="0">
              <a:buNone/>
            </a:pPr>
            <a:r>
              <a:rPr lang="en-US" sz="1350" dirty="0">
                <a:solidFill>
                  <a:schemeClr val="tx1"/>
                </a:solidFill>
              </a:rPr>
              <a:t>En las carreras de caballos, los apostadores pagan de más por los caballos improbables y de menos por los favoritos.</a:t>
            </a:r>
            <a:endParaRPr lang="en-US" sz="1350" dirty="0"/>
          </a:p>
        </p:txBody>
      </p:sp>
      <p:sp>
        <p:nvSpPr>
          <p:cNvPr id="13" name="Shape 11"/>
          <p:cNvSpPr/>
          <p:nvPr/>
        </p:nvSpPr>
        <p:spPr>
          <a:xfrm>
            <a:off x="3547872" y="1709928"/>
            <a:ext cx="329184" cy="329184"/>
          </a:xfrm>
          <a:prstGeom prst="ellipse">
            <a:avLst/>
          </a:prstGeom>
          <a:solidFill>
            <a:srgbClr val="1F8A5B"/>
          </a:solidFill>
          <a:ln w="25400">
            <a:solidFill>
              <a:srgbClr val="FFFFFF"/>
            </a:solidFill>
            <a:prstDash val="solid"/>
          </a:ln>
        </p:spPr>
        <p:txBody>
          <a:bodyPr/>
          <a:lstStyle/>
          <a:p>
            <a:endParaRPr lang="es-CO"/>
          </a:p>
        </p:txBody>
      </p:sp>
      <p:sp>
        <p:nvSpPr>
          <p:cNvPr id="14" name="Text 12"/>
          <p:cNvSpPr txBox="1"/>
          <p:nvPr/>
        </p:nvSpPr>
        <p:spPr>
          <a:xfrm>
            <a:off x="3364992" y="2148840"/>
            <a:ext cx="2606040" cy="548640"/>
          </a:xfrm>
          <a:prstGeom prst="rect">
            <a:avLst/>
          </a:prstGeom>
          <a:noFill/>
          <a:ln/>
        </p:spPr>
        <p:txBody>
          <a:bodyPr wrap="square" lIns="0" tIns="0" rIns="0" bIns="0" rtlCol="0" anchor="ctr"/>
          <a:lstStyle/>
          <a:p>
            <a:pPr marL="0" indent="0">
              <a:buNone/>
            </a:pPr>
            <a:r>
              <a:rPr lang="en-US" sz="2800" b="1" dirty="0">
                <a:solidFill>
                  <a:schemeClr val="tx2"/>
                </a:solidFill>
                <a:latin typeface="Arial" pitchFamily="34" charset="0"/>
                <a:ea typeface="Arial" pitchFamily="34" charset="-122"/>
                <a:cs typeface="Arial" pitchFamily="34" charset="-120"/>
              </a:rPr>
              <a:t>2004</a:t>
            </a:r>
            <a:endParaRPr lang="en-US" sz="2800" dirty="0"/>
          </a:p>
        </p:txBody>
      </p:sp>
      <p:sp>
        <p:nvSpPr>
          <p:cNvPr id="15" name="Text 13"/>
          <p:cNvSpPr txBox="1"/>
          <p:nvPr/>
        </p:nvSpPr>
        <p:spPr>
          <a:xfrm>
            <a:off x="3364992" y="2697480"/>
            <a:ext cx="2606040" cy="365760"/>
          </a:xfrm>
          <a:prstGeom prst="rect">
            <a:avLst/>
          </a:prstGeom>
          <a:noFill/>
          <a:ln/>
        </p:spPr>
        <p:txBody>
          <a:bodyPr wrap="square" lIns="0" tIns="0" rIns="0" bIns="0" rtlCol="0" anchor="ctr"/>
          <a:lstStyle/>
          <a:p>
            <a:pPr marL="0" indent="0">
              <a:buNone/>
            </a:pPr>
            <a:r>
              <a:rPr lang="en-US" sz="1500" b="1" dirty="0">
                <a:solidFill>
                  <a:schemeClr val="accent1"/>
                </a:solidFill>
              </a:rPr>
              <a:t>Levitt</a:t>
            </a:r>
            <a:endParaRPr lang="en-US" sz="1500" dirty="0"/>
          </a:p>
        </p:txBody>
      </p:sp>
      <p:sp>
        <p:nvSpPr>
          <p:cNvPr id="16" name="Text 14"/>
          <p:cNvSpPr txBox="1"/>
          <p:nvPr/>
        </p:nvSpPr>
        <p:spPr>
          <a:xfrm>
            <a:off x="3364992" y="3108960"/>
            <a:ext cx="2606040" cy="1325880"/>
          </a:xfrm>
          <a:prstGeom prst="rect">
            <a:avLst/>
          </a:prstGeom>
          <a:noFill/>
          <a:ln/>
        </p:spPr>
        <p:txBody>
          <a:bodyPr wrap="square" lIns="0" tIns="0" rIns="0" bIns="0" rtlCol="0" anchor="t"/>
          <a:lstStyle/>
          <a:p>
            <a:pPr marL="0" indent="0">
              <a:buNone/>
            </a:pPr>
            <a:r>
              <a:rPr lang="en-US" sz="1350" dirty="0">
                <a:solidFill>
                  <a:schemeClr val="tx1"/>
                </a:solidFill>
              </a:rPr>
              <a:t>Las casas no se limitan a equilibrar apuestas: fijan precios y aprovechan los sesgos de los apostadores.</a:t>
            </a:r>
            <a:endParaRPr lang="en-US" sz="1350" dirty="0"/>
          </a:p>
        </p:txBody>
      </p:sp>
      <p:sp>
        <p:nvSpPr>
          <p:cNvPr id="17" name="Shape 15"/>
          <p:cNvSpPr/>
          <p:nvPr/>
        </p:nvSpPr>
        <p:spPr>
          <a:xfrm>
            <a:off x="6364224" y="1709928"/>
            <a:ext cx="329184" cy="329184"/>
          </a:xfrm>
          <a:prstGeom prst="ellipse">
            <a:avLst/>
          </a:prstGeom>
          <a:solidFill>
            <a:srgbClr val="1F8A5B"/>
          </a:solidFill>
          <a:ln w="25400">
            <a:solidFill>
              <a:srgbClr val="FFFFFF"/>
            </a:solidFill>
            <a:prstDash val="solid"/>
          </a:ln>
        </p:spPr>
        <p:txBody>
          <a:bodyPr/>
          <a:lstStyle/>
          <a:p>
            <a:endParaRPr lang="es-CO"/>
          </a:p>
        </p:txBody>
      </p:sp>
      <p:sp>
        <p:nvSpPr>
          <p:cNvPr id="18" name="Text 16"/>
          <p:cNvSpPr txBox="1"/>
          <p:nvPr/>
        </p:nvSpPr>
        <p:spPr>
          <a:xfrm>
            <a:off x="6181344" y="2148840"/>
            <a:ext cx="2606040" cy="548640"/>
          </a:xfrm>
          <a:prstGeom prst="rect">
            <a:avLst/>
          </a:prstGeom>
          <a:noFill/>
          <a:ln/>
        </p:spPr>
        <p:txBody>
          <a:bodyPr wrap="square" lIns="0" tIns="0" rIns="0" bIns="0" rtlCol="0" anchor="ctr"/>
          <a:lstStyle/>
          <a:p>
            <a:pPr marL="0" indent="0">
              <a:buNone/>
            </a:pPr>
            <a:r>
              <a:rPr lang="en-US" sz="2800" b="1" dirty="0">
                <a:solidFill>
                  <a:schemeClr val="tx2"/>
                </a:solidFill>
                <a:latin typeface="Arial" pitchFamily="34" charset="0"/>
                <a:ea typeface="Arial" pitchFamily="34" charset="-122"/>
                <a:cs typeface="Arial" pitchFamily="34" charset="-120"/>
              </a:rPr>
              <a:t>2010</a:t>
            </a:r>
            <a:endParaRPr lang="en-US" sz="2800" dirty="0"/>
          </a:p>
        </p:txBody>
      </p:sp>
      <p:sp>
        <p:nvSpPr>
          <p:cNvPr id="19" name="Text 17"/>
          <p:cNvSpPr txBox="1"/>
          <p:nvPr/>
        </p:nvSpPr>
        <p:spPr>
          <a:xfrm>
            <a:off x="6181344" y="2697480"/>
            <a:ext cx="2606040" cy="365760"/>
          </a:xfrm>
          <a:prstGeom prst="rect">
            <a:avLst/>
          </a:prstGeom>
          <a:noFill/>
          <a:ln/>
        </p:spPr>
        <p:txBody>
          <a:bodyPr wrap="square" lIns="0" tIns="0" rIns="0" bIns="0" rtlCol="0" anchor="ctr"/>
          <a:lstStyle/>
          <a:p>
            <a:pPr marL="0" indent="0">
              <a:buNone/>
            </a:pPr>
            <a:r>
              <a:rPr lang="en-US" sz="1500" b="1" dirty="0">
                <a:solidFill>
                  <a:schemeClr val="accent1"/>
                </a:solidFill>
              </a:rPr>
              <a:t>Snowberg y Wolfers</a:t>
            </a:r>
            <a:endParaRPr lang="en-US" sz="1500" dirty="0"/>
          </a:p>
        </p:txBody>
      </p:sp>
      <p:sp>
        <p:nvSpPr>
          <p:cNvPr id="20" name="Text 18"/>
          <p:cNvSpPr txBox="1"/>
          <p:nvPr/>
        </p:nvSpPr>
        <p:spPr>
          <a:xfrm>
            <a:off x="6181344" y="3108960"/>
            <a:ext cx="2606040" cy="1325880"/>
          </a:xfrm>
          <a:prstGeom prst="rect">
            <a:avLst/>
          </a:prstGeom>
          <a:noFill/>
          <a:ln/>
        </p:spPr>
        <p:txBody>
          <a:bodyPr wrap="square" lIns="0" tIns="0" rIns="0" bIns="0" rtlCol="0" anchor="t"/>
          <a:lstStyle/>
          <a:p>
            <a:pPr marL="0" indent="0">
              <a:buNone/>
            </a:pPr>
            <a:r>
              <a:rPr lang="en-US" sz="1350" dirty="0">
                <a:solidFill>
                  <a:schemeClr val="tx1"/>
                </a:solidFill>
              </a:rPr>
              <a:t>El sesgo se explica mejor por percepciones erróneas de probabilidades pequeñas que por gusto al riesgo.</a:t>
            </a:r>
            <a:endParaRPr lang="en-US" sz="1350" dirty="0"/>
          </a:p>
        </p:txBody>
      </p:sp>
      <p:sp>
        <p:nvSpPr>
          <p:cNvPr id="21" name="Shape 19"/>
          <p:cNvSpPr/>
          <p:nvPr/>
        </p:nvSpPr>
        <p:spPr>
          <a:xfrm>
            <a:off x="9180576" y="1709928"/>
            <a:ext cx="329184" cy="329184"/>
          </a:xfrm>
          <a:prstGeom prst="ellipse">
            <a:avLst/>
          </a:prstGeom>
          <a:solidFill>
            <a:srgbClr val="F2B705"/>
          </a:solidFill>
          <a:ln w="25400">
            <a:solidFill>
              <a:srgbClr val="FFFFFF"/>
            </a:solidFill>
            <a:prstDash val="solid"/>
          </a:ln>
        </p:spPr>
        <p:txBody>
          <a:bodyPr/>
          <a:lstStyle/>
          <a:p>
            <a:endParaRPr lang="es-CO"/>
          </a:p>
        </p:txBody>
      </p:sp>
      <p:sp>
        <p:nvSpPr>
          <p:cNvPr id="22" name="Text 20"/>
          <p:cNvSpPr txBox="1"/>
          <p:nvPr/>
        </p:nvSpPr>
        <p:spPr>
          <a:xfrm>
            <a:off x="8997696" y="2148840"/>
            <a:ext cx="2606040" cy="548640"/>
          </a:xfrm>
          <a:prstGeom prst="rect">
            <a:avLst/>
          </a:prstGeom>
          <a:noFill/>
          <a:ln/>
        </p:spPr>
        <p:txBody>
          <a:bodyPr wrap="square" lIns="0" tIns="0" rIns="0" bIns="0" rtlCol="0" anchor="ctr"/>
          <a:lstStyle/>
          <a:p>
            <a:pPr marL="0" indent="0">
              <a:buNone/>
            </a:pPr>
            <a:r>
              <a:rPr lang="en-US" sz="2800" b="1" dirty="0">
                <a:solidFill>
                  <a:schemeClr val="tx2"/>
                </a:solidFill>
                <a:latin typeface="Arial" pitchFamily="34" charset="0"/>
                <a:ea typeface="Arial" pitchFamily="34" charset="-122"/>
                <a:cs typeface="Arial" pitchFamily="34" charset="-120"/>
              </a:rPr>
              <a:t>2014–17</a:t>
            </a:r>
            <a:endParaRPr lang="en-US" sz="2800" dirty="0"/>
          </a:p>
        </p:txBody>
      </p:sp>
      <p:sp>
        <p:nvSpPr>
          <p:cNvPr id="23" name="Text 21"/>
          <p:cNvSpPr txBox="1"/>
          <p:nvPr/>
        </p:nvSpPr>
        <p:spPr>
          <a:xfrm>
            <a:off x="8997696" y="2697480"/>
            <a:ext cx="2606040" cy="365760"/>
          </a:xfrm>
          <a:prstGeom prst="rect">
            <a:avLst/>
          </a:prstGeom>
          <a:noFill/>
          <a:ln/>
        </p:spPr>
        <p:txBody>
          <a:bodyPr wrap="square" lIns="0" tIns="0" rIns="0" bIns="0" rtlCol="0" anchor="ctr"/>
          <a:lstStyle/>
          <a:p>
            <a:pPr marL="0" indent="0">
              <a:buNone/>
            </a:pPr>
            <a:r>
              <a:rPr lang="en-US" sz="1500" b="1" dirty="0">
                <a:solidFill>
                  <a:schemeClr val="accent1"/>
                </a:solidFill>
              </a:rPr>
              <a:t>Štrumbelj; Clarke y col.</a:t>
            </a:r>
            <a:endParaRPr lang="en-US" sz="1500" dirty="0"/>
          </a:p>
        </p:txBody>
      </p:sp>
      <p:sp>
        <p:nvSpPr>
          <p:cNvPr id="24" name="Text 22"/>
          <p:cNvSpPr txBox="1"/>
          <p:nvPr/>
        </p:nvSpPr>
        <p:spPr>
          <a:xfrm>
            <a:off x="8997696" y="3108960"/>
            <a:ext cx="2606040" cy="1325880"/>
          </a:xfrm>
          <a:prstGeom prst="rect">
            <a:avLst/>
          </a:prstGeom>
          <a:noFill/>
          <a:ln/>
        </p:spPr>
        <p:txBody>
          <a:bodyPr wrap="square" lIns="0" tIns="0" rIns="0" bIns="0" rtlCol="0" anchor="t"/>
          <a:lstStyle/>
          <a:p>
            <a:pPr marL="0" indent="0">
              <a:buNone/>
            </a:pPr>
            <a:r>
              <a:rPr lang="en-US" sz="1350" dirty="0">
                <a:solidFill>
                  <a:schemeClr val="tx1"/>
                </a:solidFill>
              </a:rPr>
              <a:t>Shin y potencia superan al proporcional; la ventaja se achica en mercados grandes.</a:t>
            </a:r>
            <a:endParaRPr lang="en-US" sz="1350" dirty="0"/>
          </a:p>
        </p:txBody>
      </p:sp>
      <p:sp>
        <p:nvSpPr>
          <p:cNvPr id="25" name="Text 23"/>
          <p:cNvSpPr txBox="1"/>
          <p:nvPr/>
        </p:nvSpPr>
        <p:spPr>
          <a:xfrm>
            <a:off x="868680" y="4663440"/>
            <a:ext cx="10424160" cy="1280160"/>
          </a:xfrm>
          <a:prstGeom prst="rect">
            <a:avLst/>
          </a:prstGeom>
          <a:noFill/>
          <a:ln/>
        </p:spPr>
        <p:txBody>
          <a:bodyPr wrap="square" lIns="0" tIns="0" rIns="0" bIns="0" rtlCol="0" anchor="ctr"/>
          <a:lstStyle/>
          <a:p>
            <a:pPr marL="0" indent="0">
              <a:buNone/>
            </a:pPr>
            <a:r>
              <a:rPr lang="en-US" sz="1600" b="1" dirty="0">
                <a:solidFill>
                  <a:schemeClr val="accent2"/>
                </a:solidFill>
              </a:rPr>
              <a:t>Nuestro aporte: </a:t>
            </a:r>
            <a:r>
              <a:rPr lang="en-US" sz="1600" dirty="0">
                <a:solidFill>
                  <a:schemeClr val="bg1"/>
                </a:solidFill>
              </a:rPr>
              <a:t>el método proporcional añade sesgo por sí solo (0,34–0,66 pp por 10 pp). Con potencia, la Premier no muestra sesgo y LaLiga queda en duda. Antes de afirmar que el sesgo existe, hay que decir con qué método se quitó el margen.</a:t>
            </a:r>
            <a:endParaRPr lang="en-US" sz="1600" dirty="0"/>
          </a:p>
        </p:txBody>
      </p:sp>
      <p:sp>
        <p:nvSpPr>
          <p:cNvPr id="26"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F68"/>
                </a:solidFill>
              </a:defRPr>
            </a:lvl1pPr>
          </a:lstStyle>
          <a:p>
            <a:pPr algn="r"/>
            <a:fld id="{F7021451-1387-4CA6-816F-3879F97B5CBC}" type="slidenum">
              <a:rPr lang="en-US" b="0"/>
              <a:t>14</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panel"/>
          <p:cNvSpPr/>
          <p:nvPr/>
        </p:nvSpPr>
        <p:spPr>
          <a:xfrm>
            <a:off x="0" y="0"/>
            <a:ext cx="12191695" cy="6858000"/>
          </a:xfrm>
          <a:prstGeom prst="roundRect">
            <a:avLst/>
          </a:prstGeom>
          <a:solidFill>
            <a:srgbClr val="0C2B22"/>
          </a:solidFill>
          <a:ln w="12700">
            <a:solidFill>
              <a:srgbClr val="0C2B22"/>
            </a:solidFill>
            <a:prstDash val="solid"/>
          </a:ln>
        </p:spPr>
        <p:txBody>
          <a:bodyPr/>
          <a:lstStyle/>
          <a:p>
            <a:endParaRPr lang="es-CO"/>
          </a:p>
        </p:txBody>
      </p:sp>
      <p:sp>
        <p:nvSpPr>
          <p:cNvPr id="3" name="!!ring"/>
          <p:cNvSpPr/>
          <p:nvPr/>
        </p:nvSpPr>
        <p:spPr>
          <a:xfrm>
            <a:off x="7726680" y="960120"/>
            <a:ext cx="4754880" cy="4754880"/>
          </a:xfrm>
          <a:prstGeom prst="ellipse">
            <a:avLst/>
          </a:prstGeom>
          <a:solidFill>
            <a:srgbClr val="FFFFFF">
              <a:alpha val="0"/>
            </a:srgbClr>
          </a:solidFill>
          <a:ln w="38100">
            <a:solidFill>
              <a:srgbClr val="2F6FB2"/>
            </a:solidFill>
            <a:prstDash val="solid"/>
          </a:ln>
        </p:spPr>
        <p:txBody>
          <a:bodyPr/>
          <a:lstStyle/>
          <a:p>
            <a:endParaRPr lang="es-CO"/>
          </a:p>
        </p:txBody>
      </p:sp>
      <p:sp>
        <p:nvSpPr>
          <p:cNvPr id="4" name="!!ball"/>
          <p:cNvSpPr/>
          <p:nvPr/>
        </p:nvSpPr>
        <p:spPr>
          <a:xfrm>
            <a:off x="9921240" y="3154680"/>
            <a:ext cx="365760" cy="365760"/>
          </a:xfrm>
          <a:prstGeom prst="ellipse">
            <a:avLst/>
          </a:prstGeom>
          <a:solidFill>
            <a:srgbClr val="F2B705"/>
          </a:solidFill>
          <a:ln w="12700">
            <a:solidFill>
              <a:srgbClr val="F2B705"/>
            </a:solidFill>
            <a:prstDash val="solid"/>
          </a:ln>
        </p:spPr>
        <p:txBody>
          <a:bodyPr/>
          <a:lstStyle/>
          <a:p>
            <a:endParaRPr lang="es-CO"/>
          </a:p>
        </p:txBody>
      </p:sp>
      <p:sp>
        <p:nvSpPr>
          <p:cNvPr id="5" name="Text 3"/>
          <p:cNvSpPr txBox="1"/>
          <p:nvPr/>
        </p:nvSpPr>
        <p:spPr>
          <a:xfrm>
            <a:off x="731520" y="1463040"/>
            <a:ext cx="6766560" cy="411480"/>
          </a:xfrm>
          <a:prstGeom prst="rect">
            <a:avLst/>
          </a:prstGeom>
          <a:noFill/>
          <a:ln/>
        </p:spPr>
        <p:txBody>
          <a:bodyPr wrap="square" lIns="0" tIns="0" rIns="0" bIns="0" rtlCol="0" anchor="ctr"/>
          <a:lstStyle/>
          <a:p>
            <a:pPr marL="0" indent="0">
              <a:buNone/>
            </a:pPr>
            <a:r>
              <a:rPr lang="en-US" sz="1500" b="1" kern="0" spc="200" dirty="0">
                <a:solidFill>
                  <a:schemeClr val="bg1"/>
                </a:solidFill>
              </a:rPr>
              <a:t>PREGUNTAS SECUNDARIAS 1 Y 2</a:t>
            </a:r>
            <a:endParaRPr lang="en-US" sz="1500" dirty="0"/>
          </a:p>
        </p:txBody>
      </p:sp>
      <p:sp>
        <p:nvSpPr>
          <p:cNvPr id="6" name="Shape 4"/>
          <p:cNvSpPr/>
          <p:nvPr/>
        </p:nvSpPr>
        <p:spPr>
          <a:xfrm>
            <a:off x="731520" y="1920240"/>
            <a:ext cx="822960" cy="109728"/>
          </a:xfrm>
          <a:prstGeom prst="roundRect">
            <a:avLst>
              <a:gd name="adj" fmla="val 50000"/>
            </a:avLst>
          </a:prstGeom>
          <a:solidFill>
            <a:srgbClr val="2F6FB2"/>
          </a:solidFill>
          <a:ln w="12700">
            <a:solidFill>
              <a:srgbClr val="2F6FB2"/>
            </a:solidFill>
            <a:prstDash val="solid"/>
          </a:ln>
        </p:spPr>
        <p:txBody>
          <a:bodyPr/>
          <a:lstStyle/>
          <a:p>
            <a:endParaRPr lang="es-CO"/>
          </a:p>
        </p:txBody>
      </p:sp>
      <p:sp>
        <p:nvSpPr>
          <p:cNvPr id="7" name="Text 0"/>
          <p:cNvSpPr>
            <a:spLocks noGrp="1"/>
          </p:cNvSpPr>
          <p:nvPr>
            <p:ph type="title" idx="100" hasCustomPrompt="1"/>
          </p:nvPr>
        </p:nvSpPr>
        <p:spPr>
          <a:xfrm>
            <a:off x="731520" y="2377440"/>
            <a:ext cx="6766560" cy="1371600"/>
          </a:xfrm>
          <a:prstGeom prst="rect">
            <a:avLst/>
          </a:prstGeom>
          <a:noFill/>
          <a:ln/>
        </p:spPr>
        <p:txBody>
          <a:bodyPr wrap="square" lIns="0" tIns="0" rIns="0" bIns="0" rtlCol="0" anchor="b"/>
          <a:lstStyle/>
          <a:p>
            <a:pPr marL="0" indent="0" algn="l">
              <a:buNone/>
            </a:pPr>
            <a:r>
              <a:rPr lang="en-US" sz="4400" b="1" dirty="0">
                <a:solidFill>
                  <a:schemeClr val="bg1"/>
                </a:solidFill>
              </a:rPr>
              <a:t>¿Cambia entre ligas y temporadas?</a:t>
            </a:r>
            <a:endParaRPr lang="en-US" sz="4400" dirty="0"/>
          </a:p>
        </p:txBody>
      </p:sp>
      <p:sp>
        <p:nvSpPr>
          <p:cNvPr id="8" name="Text 0"/>
          <p:cNvSpPr>
            <a:spLocks noGrp="1"/>
          </p:cNvSpPr>
          <p:nvPr>
            <p:ph type="body" idx="101" hasCustomPrompt="1"/>
          </p:nvPr>
        </p:nvSpPr>
        <p:spPr>
          <a:xfrm>
            <a:off x="731520" y="3931920"/>
            <a:ext cx="6583680" cy="1600200"/>
          </a:xfrm>
          <a:prstGeom prst="rect">
            <a:avLst/>
          </a:prstGeom>
          <a:noFill/>
          <a:ln/>
        </p:spPr>
        <p:txBody>
          <a:bodyPr wrap="square" lIns="0" tIns="0" rIns="0" bIns="0" rtlCol="0" anchor="t"/>
          <a:lstStyle/>
          <a:p>
            <a:pPr marL="0" indent="0" algn="l">
              <a:buNone/>
            </a:pPr>
            <a:r>
              <a:rPr lang="en-US" sz="1900" dirty="0">
                <a:solidFill>
                  <a:schemeClr val="bg2"/>
                </a:solidFill>
              </a:rPr>
              <a:t>1 · ¿Difieren Premier League y LaLiga en sus desviaciones, y coinciden ambas casas?</a:t>
            </a:r>
            <a:endParaRPr lang="en-US" sz="1900" dirty="0"/>
          </a:p>
          <a:p>
            <a:pPr marL="0" indent="0" algn="l">
              <a:buNone/>
            </a:pPr>
            <a:r>
              <a:rPr lang="en-US" sz="1900" dirty="0">
                <a:solidFill>
                  <a:schemeClr val="bg2"/>
                </a:solidFill>
              </a:rPr>
              <a:t>2 · ¿Cambian la calibración y el sesgo entre 2022/23, 2023/24 y 2024/25?</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15</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68680"/>
          </a:xfrm>
          <a:prstGeom prst="rect">
            <a:avLst/>
          </a:prstGeom>
          <a:noFill/>
          <a:ln/>
        </p:spPr>
        <p:txBody>
          <a:bodyPr wrap="square" lIns="0" tIns="0" rIns="0" bIns="0" rtlCol="0" anchor="ctr"/>
          <a:lstStyle/>
          <a:p>
            <a:pPr marL="0" indent="0" algn="l">
              <a:buNone/>
            </a:pPr>
            <a:r>
              <a:rPr lang="en-US" sz="3400" b="1" dirty="0">
                <a:solidFill>
                  <a:schemeClr val="tx2"/>
                </a:solidFill>
              </a:rPr>
              <a:t>Premier League vs LaLiga</a:t>
            </a:r>
            <a:endParaRPr lang="en-US" sz="3400" dirty="0"/>
          </a:p>
        </p:txBody>
      </p:sp>
      <p:sp>
        <p:nvSpPr>
          <p:cNvPr id="3" name="Shape 1"/>
          <p:cNvSpPr/>
          <p:nvPr/>
        </p:nvSpPr>
        <p:spPr>
          <a:xfrm>
            <a:off x="548640" y="128016"/>
            <a:ext cx="2793492" cy="274320"/>
          </a:xfrm>
          <a:prstGeom prst="roundRect">
            <a:avLst>
              <a:gd name="adj" fmla="val 50000"/>
            </a:avLst>
          </a:prstGeom>
          <a:solidFill>
            <a:srgbClr val="2F6FB2"/>
          </a:solidFill>
          <a:ln w="12700">
            <a:solidFill>
              <a:srgbClr val="2F6FB2"/>
            </a:solidFill>
            <a:prstDash val="solid"/>
          </a:ln>
        </p:spPr>
        <p:txBody>
          <a:bodyPr/>
          <a:lstStyle/>
          <a:p>
            <a:endParaRPr lang="es-CO"/>
          </a:p>
        </p:txBody>
      </p:sp>
      <p:sp>
        <p:nvSpPr>
          <p:cNvPr id="4" name="Text 2"/>
          <p:cNvSpPr txBox="1"/>
          <p:nvPr/>
        </p:nvSpPr>
        <p:spPr>
          <a:xfrm>
            <a:off x="548640" y="128016"/>
            <a:ext cx="2793492" cy="274320"/>
          </a:xfrm>
          <a:prstGeom prst="rect">
            <a:avLst/>
          </a:prstGeom>
          <a:noFill/>
          <a:ln/>
        </p:spPr>
        <p:txBody>
          <a:bodyPr wrap="square" lIns="0" tIns="0" rIns="0" bIns="0" rtlCol="0" anchor="ctr"/>
          <a:lstStyle/>
          <a:p>
            <a:pPr marL="0" indent="0" algn="ctr">
              <a:buNone/>
            </a:pPr>
            <a:r>
              <a:rPr lang="en-US" sz="1050" b="1" kern="0" spc="100" dirty="0">
                <a:solidFill>
                  <a:schemeClr val="bg1"/>
                </a:solidFill>
              </a:rPr>
              <a:t>PREGUNTA SECUNDARIA 1 · LIGAS</a:t>
            </a:r>
            <a:endParaRPr lang="en-US" sz="1050" dirty="0"/>
          </a:p>
        </p:txBody>
      </p:sp>
      <p:sp>
        <p:nvSpPr>
          <p:cNvPr id="5" name="!!panel"/>
          <p:cNvSpPr/>
          <p:nvPr/>
        </p:nvSpPr>
        <p:spPr>
          <a:xfrm>
            <a:off x="7863840" y="1463040"/>
            <a:ext cx="3749040" cy="4526280"/>
          </a:xfrm>
          <a:prstGeom prst="roundRect">
            <a:avLst>
              <a:gd name="adj" fmla="val 4390"/>
            </a:avLst>
          </a:prstGeom>
          <a:solidFill>
            <a:srgbClr val="0C2B22"/>
          </a:solidFill>
          <a:ln w="12700">
            <a:solidFill>
              <a:srgbClr val="0C2B22"/>
            </a:solidFill>
            <a:prstDash val="solid"/>
          </a:ln>
        </p:spPr>
        <p:txBody>
          <a:bodyPr/>
          <a:lstStyle/>
          <a:p>
            <a:endParaRPr lang="es-CO"/>
          </a:p>
        </p:txBody>
      </p:sp>
      <p:sp>
        <p:nvSpPr>
          <p:cNvPr id="6" name="!!ring"/>
          <p:cNvSpPr/>
          <p:nvPr/>
        </p:nvSpPr>
        <p:spPr>
          <a:xfrm>
            <a:off x="10972800" y="384048"/>
            <a:ext cx="731520" cy="731520"/>
          </a:xfrm>
          <a:prstGeom prst="ellipse">
            <a:avLst/>
          </a:prstGeom>
          <a:solidFill>
            <a:srgbClr val="FFFFFF">
              <a:alpha val="0"/>
            </a:srgbClr>
          </a:solidFill>
          <a:ln w="31750">
            <a:solidFill>
              <a:srgbClr val="2F6FB2"/>
            </a:solidFill>
            <a:prstDash val="solid"/>
          </a:ln>
        </p:spPr>
        <p:txBody>
          <a:bodyPr/>
          <a:lstStyle/>
          <a:p>
            <a:endParaRPr lang="es-CO"/>
          </a:p>
        </p:txBody>
      </p:sp>
      <p:sp>
        <p:nvSpPr>
          <p:cNvPr id="7" name="!!ball"/>
          <p:cNvSpPr/>
          <p:nvPr/>
        </p:nvSpPr>
        <p:spPr>
          <a:xfrm>
            <a:off x="11256264" y="667512"/>
            <a:ext cx="164592" cy="164592"/>
          </a:xfrm>
          <a:prstGeom prst="ellipse">
            <a:avLst/>
          </a:prstGeom>
          <a:solidFill>
            <a:srgbClr val="F2B705"/>
          </a:solidFill>
          <a:ln w="12700">
            <a:solidFill>
              <a:srgbClr val="F2B705"/>
            </a:solidFill>
            <a:prstDash val="solid"/>
          </a:ln>
        </p:spPr>
        <p:txBody>
          <a:bodyPr/>
          <a:lstStyle/>
          <a:p>
            <a:endParaRPr lang="es-CO"/>
          </a:p>
        </p:txBody>
      </p:sp>
      <p:graphicFrame>
        <p:nvGraphicFramePr>
          <p:cNvPr id="8" name="Chart 0"/>
          <p:cNvGraphicFramePr/>
          <p:nvPr/>
        </p:nvGraphicFramePr>
        <p:xfrm>
          <a:off x="548640" y="1417320"/>
          <a:ext cx="69494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8183880" y="1645920"/>
            <a:ext cx="3108960" cy="274320"/>
          </a:xfrm>
          <a:prstGeom prst="rect">
            <a:avLst/>
          </a:prstGeom>
          <a:noFill/>
          <a:ln/>
        </p:spPr>
        <p:txBody>
          <a:bodyPr wrap="square" lIns="0" tIns="0" rIns="0" bIns="0" rtlCol="0" anchor="ctr"/>
          <a:lstStyle/>
          <a:p>
            <a:pPr marL="0" indent="0">
              <a:buNone/>
            </a:pPr>
            <a:r>
              <a:rPr lang="en-US" sz="1100" b="1" kern="0" spc="200" dirty="0">
                <a:solidFill>
                  <a:schemeClr val="accent2"/>
                </a:solidFill>
              </a:rPr>
              <a:t>RESPUESTA · SECUNDARIA 1</a:t>
            </a:r>
            <a:endParaRPr lang="en-US" sz="1100" dirty="0"/>
          </a:p>
        </p:txBody>
      </p:sp>
      <p:sp>
        <p:nvSpPr>
          <p:cNvPr id="10" name="Text 7"/>
          <p:cNvSpPr txBox="1"/>
          <p:nvPr/>
        </p:nvSpPr>
        <p:spPr>
          <a:xfrm>
            <a:off x="8183880" y="1874520"/>
            <a:ext cx="3200400" cy="868680"/>
          </a:xfrm>
          <a:prstGeom prst="rect">
            <a:avLst/>
          </a:prstGeom>
          <a:noFill/>
          <a:ln/>
        </p:spPr>
        <p:txBody>
          <a:bodyPr wrap="square" lIns="0" tIns="0" rIns="0" bIns="0" rtlCol="0" anchor="b"/>
          <a:lstStyle/>
          <a:p>
            <a:pPr marL="0" indent="0">
              <a:buNone/>
            </a:pPr>
            <a:r>
              <a:rPr lang="en-US" sz="3200" b="1" dirty="0">
                <a:solidFill>
                  <a:schemeClr val="accent2"/>
                </a:solidFill>
                <a:latin typeface="Arial" pitchFamily="34" charset="0"/>
                <a:ea typeface="Arial" pitchFamily="34" charset="-122"/>
                <a:cs typeface="Arial" pitchFamily="34" charset="-120"/>
              </a:rPr>
              <a:t>No concluyente</a:t>
            </a:r>
            <a:endParaRPr lang="en-US" sz="3200" dirty="0"/>
          </a:p>
        </p:txBody>
      </p:sp>
      <p:sp>
        <p:nvSpPr>
          <p:cNvPr id="11" name="Text 8"/>
          <p:cNvSpPr txBox="1"/>
          <p:nvPr/>
        </p:nvSpPr>
        <p:spPr>
          <a:xfrm>
            <a:off x="8183880" y="2788920"/>
            <a:ext cx="3200400" cy="914400"/>
          </a:xfrm>
          <a:prstGeom prst="rect">
            <a:avLst/>
          </a:prstGeom>
          <a:noFill/>
          <a:ln/>
        </p:spPr>
        <p:txBody>
          <a:bodyPr wrap="square" lIns="0" tIns="0" rIns="0" bIns="0" rtlCol="0" anchor="t"/>
          <a:lstStyle/>
          <a:p>
            <a:pPr marL="0" indent="0">
              <a:buNone/>
            </a:pPr>
            <a:r>
              <a:rPr lang="en-US" sz="1400" dirty="0">
                <a:solidFill>
                  <a:schemeClr val="bg2"/>
                </a:solidFill>
              </a:rPr>
              <a:t>LaLiga − Premier: 0,82 pp (IC −0,53 a 2,33); ni diferencia ni equivalencia</a:t>
            </a:r>
            <a:endParaRPr lang="en-US" sz="1400" dirty="0"/>
          </a:p>
        </p:txBody>
      </p:sp>
      <p:sp>
        <p:nvSpPr>
          <p:cNvPr id="12" name="Text 9"/>
          <p:cNvSpPr txBox="1"/>
          <p:nvPr/>
        </p:nvSpPr>
        <p:spPr>
          <a:xfrm>
            <a:off x="8183880" y="3977640"/>
            <a:ext cx="3154680" cy="1920240"/>
          </a:xfrm>
          <a:prstGeom prst="rect">
            <a:avLst/>
          </a:prstGeom>
          <a:noFill/>
          <a:ln/>
        </p:spPr>
        <p:txBody>
          <a:bodyPr wrap="square" lIns="0" tIns="0" rIns="0" bIns="0" rtlCol="0" anchor="t"/>
          <a:lstStyle/>
          <a:p>
            <a:pPr marL="0" indent="0">
              <a:spcAft>
                <a:spcPts val="600"/>
              </a:spcAft>
              <a:buNone/>
            </a:pPr>
            <a:r>
              <a:rPr lang="en-US" sz="1500" b="1" dirty="0">
                <a:solidFill>
                  <a:schemeClr val="accent2"/>
                </a:solidFill>
              </a:rPr>
              <a:t>Casas: equivalentes. </a:t>
            </a:r>
            <a:r>
              <a:rPr lang="en-US" sz="1500" dirty="0">
                <a:solidFill>
                  <a:schemeClr val="bg1"/>
                </a:solidFill>
              </a:rPr>
              <a:t>Bet365 y Pinnacle pronostican igual (RPS dentro de ±0,002) aunque cobran márgenes distintos.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F68"/>
                </a:solidFill>
              </a:defRPr>
            </a:lvl1pPr>
          </a:lstStyle>
          <a:p>
            <a:pPr algn="r"/>
            <a:fld id="{F7021451-1387-4CA6-816F-3879F97B5CBC}" type="slidenum">
              <a:rPr lang="en-US" b="0"/>
              <a:t>16</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68680"/>
          </a:xfrm>
          <a:prstGeom prst="rect">
            <a:avLst/>
          </a:prstGeom>
          <a:noFill/>
          <a:ln/>
        </p:spPr>
        <p:txBody>
          <a:bodyPr wrap="square" lIns="0" tIns="0" rIns="0" bIns="0" rtlCol="0" anchor="ctr"/>
          <a:lstStyle/>
          <a:p>
            <a:pPr marL="0" indent="0" algn="l">
              <a:buNone/>
            </a:pPr>
            <a:r>
              <a:rPr lang="en-US" sz="3400" b="1" dirty="0">
                <a:solidFill>
                  <a:schemeClr val="tx2"/>
                </a:solidFill>
              </a:rPr>
              <a:t>¿Cambió algo entre temporadas?</a:t>
            </a:r>
            <a:endParaRPr lang="en-US" sz="3400" dirty="0"/>
          </a:p>
        </p:txBody>
      </p:sp>
      <p:sp>
        <p:nvSpPr>
          <p:cNvPr id="3" name="Shape 1"/>
          <p:cNvSpPr/>
          <p:nvPr/>
        </p:nvSpPr>
        <p:spPr>
          <a:xfrm>
            <a:off x="548640" y="128016"/>
            <a:ext cx="3227832" cy="274320"/>
          </a:xfrm>
          <a:prstGeom prst="roundRect">
            <a:avLst>
              <a:gd name="adj" fmla="val 50000"/>
            </a:avLst>
          </a:prstGeom>
          <a:solidFill>
            <a:srgbClr val="E07A1F"/>
          </a:solidFill>
          <a:ln w="12700">
            <a:solidFill>
              <a:srgbClr val="E07A1F"/>
            </a:solidFill>
            <a:prstDash val="solid"/>
          </a:ln>
        </p:spPr>
        <p:txBody>
          <a:bodyPr/>
          <a:lstStyle/>
          <a:p>
            <a:endParaRPr lang="es-CO"/>
          </a:p>
        </p:txBody>
      </p:sp>
      <p:sp>
        <p:nvSpPr>
          <p:cNvPr id="4" name="Text 2"/>
          <p:cNvSpPr txBox="1"/>
          <p:nvPr/>
        </p:nvSpPr>
        <p:spPr>
          <a:xfrm>
            <a:off x="548640" y="128016"/>
            <a:ext cx="3227832" cy="274320"/>
          </a:xfrm>
          <a:prstGeom prst="rect">
            <a:avLst/>
          </a:prstGeom>
          <a:noFill/>
          <a:ln/>
        </p:spPr>
        <p:txBody>
          <a:bodyPr wrap="square" lIns="0" tIns="0" rIns="0" bIns="0" rtlCol="0" anchor="ctr"/>
          <a:lstStyle/>
          <a:p>
            <a:pPr marL="0" indent="0" algn="ctr">
              <a:buNone/>
            </a:pPr>
            <a:r>
              <a:rPr lang="en-US" sz="1050" b="1" kern="0" spc="100" dirty="0">
                <a:solidFill>
                  <a:schemeClr val="bg1"/>
                </a:solidFill>
              </a:rPr>
              <a:t>PREGUNTA SECUNDARIA 2 · TEMPORADAS</a:t>
            </a:r>
            <a:endParaRPr lang="en-US" sz="1050" dirty="0"/>
          </a:p>
        </p:txBody>
      </p:sp>
      <p:sp>
        <p:nvSpPr>
          <p:cNvPr id="5" name="!!panel"/>
          <p:cNvSpPr/>
          <p:nvPr/>
        </p:nvSpPr>
        <p:spPr>
          <a:xfrm>
            <a:off x="548640" y="1463040"/>
            <a:ext cx="3749040" cy="4526280"/>
          </a:xfrm>
          <a:prstGeom prst="roundRect">
            <a:avLst>
              <a:gd name="adj" fmla="val 4390"/>
            </a:avLst>
          </a:prstGeom>
          <a:solidFill>
            <a:srgbClr val="0C2B22"/>
          </a:solidFill>
          <a:ln w="12700">
            <a:solidFill>
              <a:srgbClr val="0C2B22"/>
            </a:solidFill>
            <a:prstDash val="solid"/>
          </a:ln>
        </p:spPr>
        <p:txBody>
          <a:bodyPr/>
          <a:lstStyle/>
          <a:p>
            <a:endParaRPr lang="es-CO"/>
          </a:p>
        </p:txBody>
      </p:sp>
      <p:sp>
        <p:nvSpPr>
          <p:cNvPr id="6" name="!!ring"/>
          <p:cNvSpPr/>
          <p:nvPr/>
        </p:nvSpPr>
        <p:spPr>
          <a:xfrm>
            <a:off x="10972800" y="384048"/>
            <a:ext cx="731520" cy="731520"/>
          </a:xfrm>
          <a:prstGeom prst="ellipse">
            <a:avLst/>
          </a:prstGeom>
          <a:solidFill>
            <a:srgbClr val="FFFFFF">
              <a:alpha val="0"/>
            </a:srgbClr>
          </a:solidFill>
          <a:ln w="31750">
            <a:solidFill>
              <a:srgbClr val="E07A1F"/>
            </a:solidFill>
            <a:prstDash val="solid"/>
          </a:ln>
        </p:spPr>
        <p:txBody>
          <a:bodyPr/>
          <a:lstStyle/>
          <a:p>
            <a:endParaRPr lang="es-CO"/>
          </a:p>
        </p:txBody>
      </p:sp>
      <p:sp>
        <p:nvSpPr>
          <p:cNvPr id="7" name="!!ball"/>
          <p:cNvSpPr/>
          <p:nvPr/>
        </p:nvSpPr>
        <p:spPr>
          <a:xfrm>
            <a:off x="11256264" y="667512"/>
            <a:ext cx="164592" cy="164592"/>
          </a:xfrm>
          <a:prstGeom prst="ellipse">
            <a:avLst/>
          </a:prstGeom>
          <a:solidFill>
            <a:srgbClr val="F2B705"/>
          </a:solidFill>
          <a:ln w="12700">
            <a:solidFill>
              <a:srgbClr val="F2B705"/>
            </a:solidFill>
            <a:prstDash val="solid"/>
          </a:ln>
        </p:spPr>
        <p:txBody>
          <a:bodyPr/>
          <a:lstStyle/>
          <a:p>
            <a:endParaRPr lang="es-CO"/>
          </a:p>
        </p:txBody>
      </p:sp>
      <p:sp>
        <p:nvSpPr>
          <p:cNvPr id="8" name="Text 6"/>
          <p:cNvSpPr txBox="1"/>
          <p:nvPr/>
        </p:nvSpPr>
        <p:spPr>
          <a:xfrm>
            <a:off x="868680" y="1645920"/>
            <a:ext cx="3108960" cy="274320"/>
          </a:xfrm>
          <a:prstGeom prst="rect">
            <a:avLst/>
          </a:prstGeom>
          <a:noFill/>
          <a:ln/>
        </p:spPr>
        <p:txBody>
          <a:bodyPr wrap="square" lIns="0" tIns="0" rIns="0" bIns="0" rtlCol="0" anchor="ctr"/>
          <a:lstStyle/>
          <a:p>
            <a:pPr marL="0" indent="0">
              <a:buNone/>
            </a:pPr>
            <a:r>
              <a:rPr lang="en-US" sz="1100" b="1" kern="0" spc="200" dirty="0">
                <a:solidFill>
                  <a:schemeClr val="accent2"/>
                </a:solidFill>
              </a:rPr>
              <a:t>RESPUESTA · SECUNDARIA 2</a:t>
            </a:r>
            <a:endParaRPr lang="en-US" sz="1100" dirty="0"/>
          </a:p>
        </p:txBody>
      </p:sp>
      <p:sp>
        <p:nvSpPr>
          <p:cNvPr id="9" name="Text 7"/>
          <p:cNvSpPr txBox="1"/>
          <p:nvPr/>
        </p:nvSpPr>
        <p:spPr>
          <a:xfrm>
            <a:off x="868680" y="1874520"/>
            <a:ext cx="3200400" cy="868680"/>
          </a:xfrm>
          <a:prstGeom prst="rect">
            <a:avLst/>
          </a:prstGeom>
          <a:noFill/>
          <a:ln/>
        </p:spPr>
        <p:txBody>
          <a:bodyPr wrap="square" lIns="0" tIns="0" rIns="0" bIns="0" rtlCol="0" anchor="b"/>
          <a:lstStyle/>
          <a:p>
            <a:pPr marL="0" indent="0">
              <a:buNone/>
            </a:pPr>
            <a:r>
              <a:rPr lang="en-US" sz="4000" b="1" dirty="0">
                <a:solidFill>
                  <a:schemeClr val="accent2"/>
                </a:solidFill>
                <a:latin typeface="Arial" pitchFamily="34" charset="0"/>
                <a:ea typeface="Arial" pitchFamily="34" charset="-122"/>
                <a:cs typeface="Arial" pitchFamily="34" charset="-120"/>
              </a:rPr>
              <a:t>0 de 96</a:t>
            </a:r>
            <a:endParaRPr lang="en-US" sz="4000" dirty="0"/>
          </a:p>
        </p:txBody>
      </p:sp>
      <p:sp>
        <p:nvSpPr>
          <p:cNvPr id="10" name="Text 8"/>
          <p:cNvSpPr txBox="1"/>
          <p:nvPr/>
        </p:nvSpPr>
        <p:spPr>
          <a:xfrm>
            <a:off x="868680" y="2788920"/>
            <a:ext cx="3200400" cy="914400"/>
          </a:xfrm>
          <a:prstGeom prst="rect">
            <a:avLst/>
          </a:prstGeom>
          <a:noFill/>
          <a:ln/>
        </p:spPr>
        <p:txBody>
          <a:bodyPr wrap="square" lIns="0" tIns="0" rIns="0" bIns="0" rtlCol="0" anchor="t"/>
          <a:lstStyle/>
          <a:p>
            <a:pPr marL="0" indent="0">
              <a:buNone/>
            </a:pPr>
            <a:r>
              <a:rPr lang="en-US" sz="1400" dirty="0">
                <a:solidFill>
                  <a:schemeClr val="bg2"/>
                </a:solidFill>
              </a:rPr>
              <a:t>contrastes entre temporadas consecutivas significativos tras Holm</a:t>
            </a:r>
            <a:endParaRPr lang="en-US" sz="1400" dirty="0"/>
          </a:p>
        </p:txBody>
      </p:sp>
      <p:sp>
        <p:nvSpPr>
          <p:cNvPr id="11" name="Text 9"/>
          <p:cNvSpPr txBox="1"/>
          <p:nvPr/>
        </p:nvSpPr>
        <p:spPr>
          <a:xfrm>
            <a:off x="868680" y="3977640"/>
            <a:ext cx="3154680" cy="1920240"/>
          </a:xfrm>
          <a:prstGeom prst="rect">
            <a:avLst/>
          </a:prstGeom>
          <a:noFill/>
          <a:ln/>
        </p:spPr>
        <p:txBody>
          <a:bodyPr wrap="square" lIns="0" tIns="0" rIns="0" bIns="0" rtlCol="0" anchor="t"/>
          <a:lstStyle/>
          <a:p>
            <a:pPr marL="0" indent="0">
              <a:spcAft>
                <a:spcPts val="600"/>
              </a:spcAft>
              <a:buNone/>
            </a:pPr>
            <a:r>
              <a:rPr lang="en-US" sz="1500" dirty="0">
                <a:solidFill>
                  <a:schemeClr val="bg1"/>
                </a:solidFill>
              </a:rPr>
              <a:t>No concluyente: con 380 partidos por temporada los IC son anchos; no se demuestra ni cambio ni estabilidad (0 de 64 comparaciones equivalentes).</a:t>
            </a:r>
            <a:endParaRPr lang="en-US" sz="1500" dirty="0"/>
          </a:p>
        </p:txBody>
      </p:sp>
      <p:graphicFrame>
        <p:nvGraphicFramePr>
          <p:cNvPr id="12" name="Chart 0"/>
          <p:cNvGraphicFramePr/>
          <p:nvPr/>
        </p:nvGraphicFramePr>
        <p:xfrm>
          <a:off x="4663440" y="1417320"/>
          <a:ext cx="69494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F68"/>
                </a:solidFill>
              </a:defRPr>
            </a:lvl1pPr>
          </a:lstStyle>
          <a:p>
            <a:pPr algn="r"/>
            <a:fld id="{F7021451-1387-4CA6-816F-3879F97B5CBC}" type="slidenum">
              <a:rPr lang="en-US" b="0"/>
              <a:t>17</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panel"/>
          <p:cNvSpPr/>
          <p:nvPr/>
        </p:nvSpPr>
        <p:spPr>
          <a:xfrm>
            <a:off x="0" y="0"/>
            <a:ext cx="12191695" cy="6858000"/>
          </a:xfrm>
          <a:prstGeom prst="roundRect">
            <a:avLst/>
          </a:prstGeom>
          <a:solidFill>
            <a:srgbClr val="0C2B22"/>
          </a:solidFill>
          <a:ln w="12700">
            <a:solidFill>
              <a:srgbClr val="0C2B22"/>
            </a:solidFill>
            <a:prstDash val="solid"/>
          </a:ln>
        </p:spPr>
        <p:txBody>
          <a:bodyPr/>
          <a:lstStyle/>
          <a:p>
            <a:endParaRPr lang="es-CO"/>
          </a:p>
        </p:txBody>
      </p:sp>
      <p:sp>
        <p:nvSpPr>
          <p:cNvPr id="3" name="!!ring"/>
          <p:cNvSpPr/>
          <p:nvPr/>
        </p:nvSpPr>
        <p:spPr>
          <a:xfrm>
            <a:off x="7726680" y="960120"/>
            <a:ext cx="4754880" cy="4754880"/>
          </a:xfrm>
          <a:prstGeom prst="ellipse">
            <a:avLst/>
          </a:prstGeom>
          <a:solidFill>
            <a:srgbClr val="FFFFFF">
              <a:alpha val="0"/>
            </a:srgbClr>
          </a:solidFill>
          <a:ln w="38100">
            <a:solidFill>
              <a:srgbClr val="D64545"/>
            </a:solidFill>
            <a:prstDash val="solid"/>
          </a:ln>
        </p:spPr>
        <p:txBody>
          <a:bodyPr/>
          <a:lstStyle/>
          <a:p>
            <a:endParaRPr lang="es-CO"/>
          </a:p>
        </p:txBody>
      </p:sp>
      <p:sp>
        <p:nvSpPr>
          <p:cNvPr id="4" name="!!ball"/>
          <p:cNvSpPr/>
          <p:nvPr/>
        </p:nvSpPr>
        <p:spPr>
          <a:xfrm>
            <a:off x="9921240" y="3154680"/>
            <a:ext cx="365760" cy="365760"/>
          </a:xfrm>
          <a:prstGeom prst="ellipse">
            <a:avLst/>
          </a:prstGeom>
          <a:solidFill>
            <a:srgbClr val="F2B705"/>
          </a:solidFill>
          <a:ln w="12700">
            <a:solidFill>
              <a:srgbClr val="F2B705"/>
            </a:solidFill>
            <a:prstDash val="solid"/>
          </a:ln>
        </p:spPr>
        <p:txBody>
          <a:bodyPr/>
          <a:lstStyle/>
          <a:p>
            <a:endParaRPr lang="es-CO"/>
          </a:p>
        </p:txBody>
      </p:sp>
      <p:sp>
        <p:nvSpPr>
          <p:cNvPr id="5" name="Text 3"/>
          <p:cNvSpPr txBox="1"/>
          <p:nvPr/>
        </p:nvSpPr>
        <p:spPr>
          <a:xfrm>
            <a:off x="731520" y="1463040"/>
            <a:ext cx="6766560" cy="411480"/>
          </a:xfrm>
          <a:prstGeom prst="rect">
            <a:avLst/>
          </a:prstGeom>
          <a:noFill/>
          <a:ln/>
        </p:spPr>
        <p:txBody>
          <a:bodyPr wrap="square" lIns="0" tIns="0" rIns="0" bIns="0" rtlCol="0" anchor="ctr"/>
          <a:lstStyle/>
          <a:p>
            <a:pPr marL="0" indent="0">
              <a:buNone/>
            </a:pPr>
            <a:r>
              <a:rPr lang="en-US" sz="1500" b="1" kern="0" spc="200" dirty="0">
                <a:solidFill>
                  <a:schemeClr val="bg1"/>
                </a:solidFill>
              </a:rPr>
              <a:t>PREGUNTA SECUNDARIA 3</a:t>
            </a:r>
            <a:endParaRPr lang="en-US" sz="1500" dirty="0"/>
          </a:p>
        </p:txBody>
      </p:sp>
      <p:sp>
        <p:nvSpPr>
          <p:cNvPr id="6" name="Shape 4"/>
          <p:cNvSpPr/>
          <p:nvPr/>
        </p:nvSpPr>
        <p:spPr>
          <a:xfrm>
            <a:off x="731520" y="1920240"/>
            <a:ext cx="822960" cy="109728"/>
          </a:xfrm>
          <a:prstGeom prst="roundRect">
            <a:avLst>
              <a:gd name="adj" fmla="val 50000"/>
            </a:avLst>
          </a:prstGeom>
          <a:solidFill>
            <a:srgbClr val="D64545"/>
          </a:solidFill>
          <a:ln w="12700">
            <a:solidFill>
              <a:srgbClr val="D64545"/>
            </a:solidFill>
            <a:prstDash val="solid"/>
          </a:ln>
        </p:spPr>
        <p:txBody>
          <a:bodyPr/>
          <a:lstStyle/>
          <a:p>
            <a:endParaRPr lang="es-CO"/>
          </a:p>
        </p:txBody>
      </p:sp>
      <p:sp>
        <p:nvSpPr>
          <p:cNvPr id="7" name="Text 0"/>
          <p:cNvSpPr>
            <a:spLocks noGrp="1"/>
          </p:cNvSpPr>
          <p:nvPr>
            <p:ph type="title" idx="100" hasCustomPrompt="1"/>
          </p:nvPr>
        </p:nvSpPr>
        <p:spPr>
          <a:xfrm>
            <a:off x="731520" y="2377440"/>
            <a:ext cx="6766560" cy="1371600"/>
          </a:xfrm>
          <a:prstGeom prst="rect">
            <a:avLst/>
          </a:prstGeom>
          <a:noFill/>
          <a:ln/>
        </p:spPr>
        <p:txBody>
          <a:bodyPr wrap="square" lIns="0" tIns="0" rIns="0" bIns="0" rtlCol="0" anchor="b"/>
          <a:lstStyle/>
          <a:p>
            <a:pPr marL="0" indent="0" algn="l">
              <a:buNone/>
            </a:pPr>
            <a:r>
              <a:rPr lang="en-US" sz="4400" b="1" dirty="0">
                <a:solidFill>
                  <a:schemeClr val="bg1"/>
                </a:solidFill>
              </a:rPr>
              <a:t>¿Y si se vacían los estadios?</a:t>
            </a:r>
            <a:endParaRPr lang="en-US" sz="4400" dirty="0"/>
          </a:p>
        </p:txBody>
      </p:sp>
      <p:sp>
        <p:nvSpPr>
          <p:cNvPr id="8" name="Text 0"/>
          <p:cNvSpPr>
            <a:spLocks noGrp="1"/>
          </p:cNvSpPr>
          <p:nvPr>
            <p:ph type="body" idx="101" hasCustomPrompt="1"/>
          </p:nvPr>
        </p:nvSpPr>
        <p:spPr>
          <a:xfrm>
            <a:off x="731520" y="3931920"/>
            <a:ext cx="6583680" cy="1600200"/>
          </a:xfrm>
          <a:prstGeom prst="rect">
            <a:avLst/>
          </a:prstGeom>
          <a:noFill/>
          <a:ln/>
        </p:spPr>
        <p:txBody>
          <a:bodyPr wrap="square" lIns="0" tIns="0" rIns="0" bIns="0" rtlCol="0" anchor="t"/>
          <a:lstStyle/>
          <a:p>
            <a:pPr marL="0" indent="0" algn="l">
              <a:buNone/>
            </a:pPr>
            <a:r>
              <a:rPr lang="en-US" sz="1900" dirty="0">
                <a:solidFill>
                  <a:schemeClr val="bg2"/>
                </a:solidFill>
              </a:rPr>
              <a:t>La pandemia como experimento natural: ¿influía el público local en los resultados?</a:t>
            </a:r>
            <a:endParaRPr lang="en-US" sz="1900" dirty="0"/>
          </a:p>
        </p:txBody>
      </p:sp>
      <p:pic>
        <p:nvPicPr>
          <p:cNvPr id="9" name="icono-publico" descr="preencoded.png"/>
          <p:cNvPicPr>
            <a:picLocks noChangeAspect="1"/>
          </p:cNvPicPr>
          <p:nvPr/>
        </p:nvPicPr>
        <p:blipFill>
          <a:blip r:embed="rId3"/>
          <a:stretch>
            <a:fillRect/>
          </a:stretch>
        </p:blipFill>
        <p:spPr>
          <a:xfrm>
            <a:off x="9418320" y="2651760"/>
            <a:ext cx="1371600" cy="1371600"/>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18</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68680"/>
          </a:xfrm>
          <a:prstGeom prst="rect">
            <a:avLst/>
          </a:prstGeom>
          <a:noFill/>
          <a:ln/>
        </p:spPr>
        <p:txBody>
          <a:bodyPr wrap="square" lIns="0" tIns="0" rIns="0" bIns="0" rtlCol="0" anchor="ctr"/>
          <a:lstStyle/>
          <a:p>
            <a:pPr marL="0" indent="0" algn="l">
              <a:buNone/>
            </a:pPr>
            <a:r>
              <a:rPr lang="en-US" sz="3400" b="1" dirty="0">
                <a:solidFill>
                  <a:schemeClr val="tx2"/>
                </a:solidFill>
              </a:rPr>
              <a:t>Tres periodos, 6.080 partidos</a:t>
            </a:r>
            <a:endParaRPr lang="en-US" sz="3400" dirty="0"/>
          </a:p>
        </p:txBody>
      </p:sp>
      <p:sp>
        <p:nvSpPr>
          <p:cNvPr id="3" name="Shape 1"/>
          <p:cNvSpPr/>
          <p:nvPr/>
        </p:nvSpPr>
        <p:spPr>
          <a:xfrm>
            <a:off x="548640" y="128016"/>
            <a:ext cx="3488436" cy="274320"/>
          </a:xfrm>
          <a:prstGeom prst="roundRect">
            <a:avLst>
              <a:gd name="adj" fmla="val 50000"/>
            </a:avLst>
          </a:prstGeom>
          <a:solidFill>
            <a:srgbClr val="D64545"/>
          </a:solidFill>
          <a:ln w="12700">
            <a:solidFill>
              <a:srgbClr val="D64545"/>
            </a:solidFill>
            <a:prstDash val="solid"/>
          </a:ln>
        </p:spPr>
        <p:txBody>
          <a:bodyPr/>
          <a:lstStyle/>
          <a:p>
            <a:endParaRPr lang="es-CO"/>
          </a:p>
        </p:txBody>
      </p:sp>
      <p:sp>
        <p:nvSpPr>
          <p:cNvPr id="4" name="Text 2"/>
          <p:cNvSpPr txBox="1"/>
          <p:nvPr/>
        </p:nvSpPr>
        <p:spPr>
          <a:xfrm>
            <a:off x="548640" y="128016"/>
            <a:ext cx="3488436" cy="274320"/>
          </a:xfrm>
          <a:prstGeom prst="rect">
            <a:avLst/>
          </a:prstGeom>
          <a:noFill/>
          <a:ln/>
        </p:spPr>
        <p:txBody>
          <a:bodyPr wrap="square" lIns="0" tIns="0" rIns="0" bIns="0" rtlCol="0" anchor="ctr"/>
          <a:lstStyle/>
          <a:p>
            <a:pPr marL="0" indent="0" algn="ctr">
              <a:buNone/>
            </a:pPr>
            <a:r>
              <a:rPr lang="en-US" sz="1050" b="1" kern="0" spc="100" dirty="0">
                <a:solidFill>
                  <a:schemeClr val="bg1"/>
                </a:solidFill>
              </a:rPr>
              <a:t>PREGUNTA SECUNDARIA 3 · PÚBLICO LOCAL</a:t>
            </a:r>
            <a:endParaRPr lang="en-US" sz="1050" dirty="0"/>
          </a:p>
        </p:txBody>
      </p:sp>
      <p:sp>
        <p:nvSpPr>
          <p:cNvPr id="5" name="!!panel"/>
          <p:cNvSpPr/>
          <p:nvPr/>
        </p:nvSpPr>
        <p:spPr>
          <a:xfrm>
            <a:off x="4343400" y="1508760"/>
            <a:ext cx="3520440" cy="2377440"/>
          </a:xfrm>
          <a:prstGeom prst="roundRect">
            <a:avLst>
              <a:gd name="adj" fmla="val 6923"/>
            </a:avLst>
          </a:prstGeom>
          <a:solidFill>
            <a:srgbClr val="0C2B22"/>
          </a:solidFill>
          <a:ln w="12700">
            <a:solidFill>
              <a:srgbClr val="0C2B22"/>
            </a:solidFill>
            <a:prstDash val="solid"/>
          </a:ln>
        </p:spPr>
        <p:txBody>
          <a:bodyPr/>
          <a:lstStyle/>
          <a:p>
            <a:endParaRPr lang="es-CO"/>
          </a:p>
        </p:txBody>
      </p:sp>
      <p:sp>
        <p:nvSpPr>
          <p:cNvPr id="6" name="!!ring"/>
          <p:cNvSpPr/>
          <p:nvPr/>
        </p:nvSpPr>
        <p:spPr>
          <a:xfrm>
            <a:off x="10972800" y="384048"/>
            <a:ext cx="731520" cy="731520"/>
          </a:xfrm>
          <a:prstGeom prst="ellipse">
            <a:avLst/>
          </a:prstGeom>
          <a:solidFill>
            <a:srgbClr val="FFFFFF">
              <a:alpha val="0"/>
            </a:srgbClr>
          </a:solidFill>
          <a:ln w="31750">
            <a:solidFill>
              <a:srgbClr val="D64545"/>
            </a:solidFill>
            <a:prstDash val="solid"/>
          </a:ln>
        </p:spPr>
        <p:txBody>
          <a:bodyPr/>
          <a:lstStyle/>
          <a:p>
            <a:endParaRPr lang="es-CO"/>
          </a:p>
        </p:txBody>
      </p:sp>
      <p:sp>
        <p:nvSpPr>
          <p:cNvPr id="7" name="!!ball"/>
          <p:cNvSpPr/>
          <p:nvPr/>
        </p:nvSpPr>
        <p:spPr>
          <a:xfrm>
            <a:off x="11256264" y="667512"/>
            <a:ext cx="164592" cy="164592"/>
          </a:xfrm>
          <a:prstGeom prst="ellipse">
            <a:avLst/>
          </a:prstGeom>
          <a:solidFill>
            <a:srgbClr val="F2B705"/>
          </a:solidFill>
          <a:ln w="12700">
            <a:solidFill>
              <a:srgbClr val="F2B705"/>
            </a:solidFill>
            <a:prstDash val="solid"/>
          </a:ln>
        </p:spPr>
        <p:txBody>
          <a:bodyPr/>
          <a:lstStyle/>
          <a:p>
            <a:endParaRPr lang="es-CO"/>
          </a:p>
        </p:txBody>
      </p:sp>
      <p:sp>
        <p:nvSpPr>
          <p:cNvPr id="8" name="Shape 6"/>
          <p:cNvSpPr/>
          <p:nvPr/>
        </p:nvSpPr>
        <p:spPr>
          <a:xfrm>
            <a:off x="548640" y="1508760"/>
            <a:ext cx="3520440" cy="2377440"/>
          </a:xfrm>
          <a:prstGeom prst="roundRect">
            <a:avLst>
              <a:gd name="adj" fmla="val 6923"/>
            </a:avLst>
          </a:prstGeom>
          <a:solidFill>
            <a:srgbClr val="EEF3F0"/>
          </a:solidFill>
          <a:ln w="12700">
            <a:solidFill>
              <a:srgbClr val="EEF3F0"/>
            </a:solidFill>
            <a:prstDash val="solid"/>
          </a:ln>
        </p:spPr>
        <p:txBody>
          <a:bodyPr/>
          <a:lstStyle/>
          <a:p>
            <a:endParaRPr lang="es-CO"/>
          </a:p>
        </p:txBody>
      </p:sp>
      <p:sp>
        <p:nvSpPr>
          <p:cNvPr id="9" name="Text 7"/>
          <p:cNvSpPr txBox="1"/>
          <p:nvPr/>
        </p:nvSpPr>
        <p:spPr>
          <a:xfrm>
            <a:off x="822960" y="1691640"/>
            <a:ext cx="3017520" cy="457200"/>
          </a:xfrm>
          <a:prstGeom prst="rect">
            <a:avLst/>
          </a:prstGeom>
          <a:noFill/>
          <a:ln/>
        </p:spPr>
        <p:txBody>
          <a:bodyPr wrap="square" lIns="0" tIns="0" rIns="0" bIns="0" rtlCol="0" anchor="ctr"/>
          <a:lstStyle/>
          <a:p>
            <a:pPr marL="0" indent="0">
              <a:buNone/>
            </a:pPr>
            <a:r>
              <a:rPr lang="en-US" sz="1800" b="1" dirty="0">
                <a:solidFill>
                  <a:schemeClr val="tx2"/>
                </a:solidFill>
              </a:rPr>
              <a:t>Con público (antes)</a:t>
            </a:r>
            <a:endParaRPr lang="en-US" sz="1800" dirty="0"/>
          </a:p>
        </p:txBody>
      </p:sp>
      <p:sp>
        <p:nvSpPr>
          <p:cNvPr id="10" name="Text 8"/>
          <p:cNvSpPr txBox="1"/>
          <p:nvPr/>
        </p:nvSpPr>
        <p:spPr>
          <a:xfrm>
            <a:off x="822960" y="2148840"/>
            <a:ext cx="3017520" cy="411480"/>
          </a:xfrm>
          <a:prstGeom prst="rect">
            <a:avLst/>
          </a:prstGeom>
          <a:noFill/>
          <a:ln/>
        </p:spPr>
        <p:txBody>
          <a:bodyPr wrap="square" lIns="0" tIns="0" rIns="0" bIns="0" rtlCol="0" anchor="ctr"/>
          <a:lstStyle/>
          <a:p>
            <a:pPr marL="0" indent="0">
              <a:buNone/>
            </a:pPr>
            <a:r>
              <a:rPr lang="en-US" sz="1400" dirty="0">
                <a:solidFill>
                  <a:schemeClr val="tx1"/>
                </a:solidFill>
              </a:rPr>
              <a:t>2017/18 a marzo de 2020</a:t>
            </a:r>
            <a:endParaRPr lang="en-US" sz="1400" dirty="0"/>
          </a:p>
        </p:txBody>
      </p:sp>
      <p:sp>
        <p:nvSpPr>
          <p:cNvPr id="11" name="Text 9"/>
          <p:cNvSpPr txBox="1"/>
          <p:nvPr/>
        </p:nvSpPr>
        <p:spPr>
          <a:xfrm>
            <a:off x="822960" y="2697480"/>
            <a:ext cx="3017520" cy="640080"/>
          </a:xfrm>
          <a:prstGeom prst="rect">
            <a:avLst/>
          </a:prstGeom>
          <a:noFill/>
          <a:ln/>
        </p:spPr>
        <p:txBody>
          <a:bodyPr wrap="square" lIns="0" tIns="0" rIns="0" bIns="0" rtlCol="0" anchor="ctr"/>
          <a:lstStyle/>
          <a:p>
            <a:pPr marL="0" indent="0">
              <a:buNone/>
            </a:pPr>
            <a:r>
              <a:rPr lang="en-US" sz="3000" b="1" dirty="0">
                <a:solidFill>
                  <a:schemeClr val="tx2"/>
                </a:solidFill>
              </a:rPr>
              <a:t>1.048 · 1.029</a:t>
            </a:r>
            <a:endParaRPr lang="en-US" sz="3000" dirty="0"/>
          </a:p>
        </p:txBody>
      </p:sp>
      <p:sp>
        <p:nvSpPr>
          <p:cNvPr id="12" name="Text 10"/>
          <p:cNvSpPr txBox="1"/>
          <p:nvPr/>
        </p:nvSpPr>
        <p:spPr>
          <a:xfrm>
            <a:off x="822960" y="3337560"/>
            <a:ext cx="3017520" cy="365760"/>
          </a:xfrm>
          <a:prstGeom prst="rect">
            <a:avLst/>
          </a:prstGeom>
          <a:noFill/>
          <a:ln/>
        </p:spPr>
        <p:txBody>
          <a:bodyPr wrap="square" lIns="0" tIns="0" rIns="0" bIns="0" rtlCol="0" anchor="ctr"/>
          <a:lstStyle/>
          <a:p>
            <a:pPr marL="0" indent="0">
              <a:buNone/>
            </a:pPr>
            <a:r>
              <a:rPr lang="en-US" sz="1200" dirty="0">
                <a:solidFill>
                  <a:schemeClr val="tx1"/>
                </a:solidFill>
              </a:rPr>
              <a:t>partidos Premier · LaLiga</a:t>
            </a:r>
            <a:endParaRPr lang="en-US" sz="1200" dirty="0"/>
          </a:p>
        </p:txBody>
      </p:sp>
      <p:sp>
        <p:nvSpPr>
          <p:cNvPr id="13" name="Text 11"/>
          <p:cNvSpPr txBox="1"/>
          <p:nvPr/>
        </p:nvSpPr>
        <p:spPr>
          <a:xfrm>
            <a:off x="4617720" y="1691640"/>
            <a:ext cx="3017520" cy="457200"/>
          </a:xfrm>
          <a:prstGeom prst="rect">
            <a:avLst/>
          </a:prstGeom>
          <a:noFill/>
          <a:ln/>
        </p:spPr>
        <p:txBody>
          <a:bodyPr wrap="square" lIns="0" tIns="0" rIns="0" bIns="0" rtlCol="0" anchor="ctr"/>
          <a:lstStyle/>
          <a:p>
            <a:pPr marL="0" indent="0">
              <a:buNone/>
            </a:pPr>
            <a:r>
              <a:rPr lang="en-US" sz="1800" b="1" dirty="0">
                <a:solidFill>
                  <a:schemeClr val="bg1"/>
                </a:solidFill>
              </a:rPr>
              <a:t>Puerta cerrada</a:t>
            </a:r>
            <a:endParaRPr lang="en-US" sz="1800" dirty="0"/>
          </a:p>
        </p:txBody>
      </p:sp>
      <p:sp>
        <p:nvSpPr>
          <p:cNvPr id="14" name="Text 12"/>
          <p:cNvSpPr txBox="1"/>
          <p:nvPr/>
        </p:nvSpPr>
        <p:spPr>
          <a:xfrm>
            <a:off x="4617720" y="2148840"/>
            <a:ext cx="3017520" cy="411480"/>
          </a:xfrm>
          <a:prstGeom prst="rect">
            <a:avLst/>
          </a:prstGeom>
          <a:noFill/>
          <a:ln/>
        </p:spPr>
        <p:txBody>
          <a:bodyPr wrap="square" lIns="0" tIns="0" rIns="0" bIns="0" rtlCol="0" anchor="ctr"/>
          <a:lstStyle/>
          <a:p>
            <a:pPr marL="0" indent="0">
              <a:buNone/>
            </a:pPr>
            <a:r>
              <a:rPr lang="en-US" sz="1400" dirty="0">
                <a:solidFill>
                  <a:schemeClr val="bg2"/>
                </a:solidFill>
              </a:rPr>
              <a:t>Reanudación a fin de 2020/21</a:t>
            </a:r>
            <a:endParaRPr lang="en-US" sz="1400" dirty="0"/>
          </a:p>
        </p:txBody>
      </p:sp>
      <p:sp>
        <p:nvSpPr>
          <p:cNvPr id="15" name="Text 13"/>
          <p:cNvSpPr txBox="1"/>
          <p:nvPr/>
        </p:nvSpPr>
        <p:spPr>
          <a:xfrm>
            <a:off x="4617720" y="2697480"/>
            <a:ext cx="3017520" cy="640080"/>
          </a:xfrm>
          <a:prstGeom prst="rect">
            <a:avLst/>
          </a:prstGeom>
          <a:noFill/>
          <a:ln/>
        </p:spPr>
        <p:txBody>
          <a:bodyPr wrap="square" lIns="0" tIns="0" rIns="0" bIns="0" rtlCol="0" anchor="ctr"/>
          <a:lstStyle/>
          <a:p>
            <a:pPr marL="0" indent="0">
              <a:buNone/>
            </a:pPr>
            <a:r>
              <a:rPr lang="en-US" sz="3000" b="1" dirty="0">
                <a:solidFill>
                  <a:schemeClr val="accent2"/>
                </a:solidFill>
              </a:rPr>
              <a:t>407 · 471</a:t>
            </a:r>
            <a:endParaRPr lang="en-US" sz="3000" dirty="0"/>
          </a:p>
        </p:txBody>
      </p:sp>
      <p:sp>
        <p:nvSpPr>
          <p:cNvPr id="16" name="Text 14"/>
          <p:cNvSpPr txBox="1"/>
          <p:nvPr/>
        </p:nvSpPr>
        <p:spPr>
          <a:xfrm>
            <a:off x="4617720" y="3337560"/>
            <a:ext cx="3017520" cy="365760"/>
          </a:xfrm>
          <a:prstGeom prst="rect">
            <a:avLst/>
          </a:prstGeom>
          <a:noFill/>
          <a:ln/>
        </p:spPr>
        <p:txBody>
          <a:bodyPr wrap="square" lIns="0" tIns="0" rIns="0" bIns="0" rtlCol="0" anchor="ctr"/>
          <a:lstStyle/>
          <a:p>
            <a:pPr marL="0" indent="0">
              <a:buNone/>
            </a:pPr>
            <a:r>
              <a:rPr lang="en-US" sz="1200" dirty="0">
                <a:solidFill>
                  <a:schemeClr val="bg2"/>
                </a:solidFill>
              </a:rPr>
              <a:t>partidos Premier · LaLiga</a:t>
            </a:r>
            <a:endParaRPr lang="en-US" sz="1200" dirty="0"/>
          </a:p>
        </p:txBody>
      </p:sp>
      <p:sp>
        <p:nvSpPr>
          <p:cNvPr id="17" name="Shape 15"/>
          <p:cNvSpPr/>
          <p:nvPr/>
        </p:nvSpPr>
        <p:spPr>
          <a:xfrm>
            <a:off x="8138160" y="1508760"/>
            <a:ext cx="3520440" cy="2377440"/>
          </a:xfrm>
          <a:prstGeom prst="roundRect">
            <a:avLst>
              <a:gd name="adj" fmla="val 6923"/>
            </a:avLst>
          </a:prstGeom>
          <a:solidFill>
            <a:srgbClr val="EEF3F0"/>
          </a:solidFill>
          <a:ln w="12700">
            <a:solidFill>
              <a:srgbClr val="EEF3F0"/>
            </a:solidFill>
            <a:prstDash val="solid"/>
          </a:ln>
        </p:spPr>
        <p:txBody>
          <a:bodyPr/>
          <a:lstStyle/>
          <a:p>
            <a:endParaRPr lang="es-CO"/>
          </a:p>
        </p:txBody>
      </p:sp>
      <p:sp>
        <p:nvSpPr>
          <p:cNvPr id="18" name="Text 16"/>
          <p:cNvSpPr txBox="1"/>
          <p:nvPr/>
        </p:nvSpPr>
        <p:spPr>
          <a:xfrm>
            <a:off x="8412480" y="1691640"/>
            <a:ext cx="3017520" cy="457200"/>
          </a:xfrm>
          <a:prstGeom prst="rect">
            <a:avLst/>
          </a:prstGeom>
          <a:noFill/>
          <a:ln/>
        </p:spPr>
        <p:txBody>
          <a:bodyPr wrap="square" lIns="0" tIns="0" rIns="0" bIns="0" rtlCol="0" anchor="ctr"/>
          <a:lstStyle/>
          <a:p>
            <a:pPr marL="0" indent="0">
              <a:buNone/>
            </a:pPr>
            <a:r>
              <a:rPr lang="en-US" sz="1800" b="1" dirty="0">
                <a:solidFill>
                  <a:schemeClr val="tx2"/>
                </a:solidFill>
              </a:rPr>
              <a:t>Con público (después)</a:t>
            </a:r>
            <a:endParaRPr lang="en-US" sz="1800" dirty="0"/>
          </a:p>
        </p:txBody>
      </p:sp>
      <p:sp>
        <p:nvSpPr>
          <p:cNvPr id="19" name="Text 17"/>
          <p:cNvSpPr txBox="1"/>
          <p:nvPr/>
        </p:nvSpPr>
        <p:spPr>
          <a:xfrm>
            <a:off x="8412480" y="2148840"/>
            <a:ext cx="3017520" cy="411480"/>
          </a:xfrm>
          <a:prstGeom prst="rect">
            <a:avLst/>
          </a:prstGeom>
          <a:noFill/>
          <a:ln/>
        </p:spPr>
        <p:txBody>
          <a:bodyPr wrap="square" lIns="0" tIns="0" rIns="0" bIns="0" rtlCol="0" anchor="ctr"/>
          <a:lstStyle/>
          <a:p>
            <a:pPr marL="0" indent="0">
              <a:buNone/>
            </a:pPr>
            <a:r>
              <a:rPr lang="en-US" sz="1400" dirty="0">
                <a:solidFill>
                  <a:schemeClr val="tx1"/>
                </a:solidFill>
              </a:rPr>
              <a:t>2021/22 a 2024/25</a:t>
            </a:r>
            <a:endParaRPr lang="en-US" sz="1400" dirty="0"/>
          </a:p>
        </p:txBody>
      </p:sp>
      <p:sp>
        <p:nvSpPr>
          <p:cNvPr id="20" name="Text 18"/>
          <p:cNvSpPr txBox="1"/>
          <p:nvPr/>
        </p:nvSpPr>
        <p:spPr>
          <a:xfrm>
            <a:off x="8412480" y="2697480"/>
            <a:ext cx="3017520" cy="640080"/>
          </a:xfrm>
          <a:prstGeom prst="rect">
            <a:avLst/>
          </a:prstGeom>
          <a:noFill/>
          <a:ln/>
        </p:spPr>
        <p:txBody>
          <a:bodyPr wrap="square" lIns="0" tIns="0" rIns="0" bIns="0" rtlCol="0" anchor="ctr"/>
          <a:lstStyle/>
          <a:p>
            <a:pPr marL="0" indent="0">
              <a:buNone/>
            </a:pPr>
            <a:r>
              <a:rPr lang="en-US" sz="3000" b="1" dirty="0">
                <a:solidFill>
                  <a:schemeClr val="tx2"/>
                </a:solidFill>
              </a:rPr>
              <a:t>1.520 · 1.452</a:t>
            </a:r>
            <a:endParaRPr lang="en-US" sz="3000" dirty="0"/>
          </a:p>
        </p:txBody>
      </p:sp>
      <p:sp>
        <p:nvSpPr>
          <p:cNvPr id="21" name="Text 19"/>
          <p:cNvSpPr txBox="1"/>
          <p:nvPr/>
        </p:nvSpPr>
        <p:spPr>
          <a:xfrm>
            <a:off x="8412480" y="3337560"/>
            <a:ext cx="3017520" cy="365760"/>
          </a:xfrm>
          <a:prstGeom prst="rect">
            <a:avLst/>
          </a:prstGeom>
          <a:noFill/>
          <a:ln/>
        </p:spPr>
        <p:txBody>
          <a:bodyPr wrap="square" lIns="0" tIns="0" rIns="0" bIns="0" rtlCol="0" anchor="ctr"/>
          <a:lstStyle/>
          <a:p>
            <a:pPr marL="0" indent="0">
              <a:buNone/>
            </a:pPr>
            <a:r>
              <a:rPr lang="en-US" sz="1200" dirty="0">
                <a:solidFill>
                  <a:schemeClr val="tx1"/>
                </a:solidFill>
              </a:rPr>
              <a:t>partidos Premier · LaLiga</a:t>
            </a:r>
            <a:endParaRPr lang="en-US" sz="1200" dirty="0"/>
          </a:p>
        </p:txBody>
      </p:sp>
      <p:sp>
        <p:nvSpPr>
          <p:cNvPr id="22" name="Shape 20"/>
          <p:cNvSpPr/>
          <p:nvPr/>
        </p:nvSpPr>
        <p:spPr>
          <a:xfrm>
            <a:off x="548640" y="4160520"/>
            <a:ext cx="685800" cy="685800"/>
          </a:xfrm>
          <a:prstGeom prst="ellipse">
            <a:avLst/>
          </a:prstGeom>
          <a:solidFill>
            <a:srgbClr val="1F8A5B"/>
          </a:solidFill>
          <a:ln w="12700">
            <a:solidFill>
              <a:srgbClr val="1F8A5B"/>
            </a:solidFill>
            <a:prstDash val="solid"/>
          </a:ln>
        </p:spPr>
        <p:txBody>
          <a:bodyPr/>
          <a:lstStyle/>
          <a:p>
            <a:endParaRPr lang="es-CO"/>
          </a:p>
        </p:txBody>
      </p:sp>
      <p:pic>
        <p:nvPicPr>
          <p:cNvPr id="23" name="Image 0" descr="preencoded.png"/>
          <p:cNvPicPr>
            <a:picLocks noChangeAspect="1"/>
          </p:cNvPicPr>
          <p:nvPr/>
        </p:nvPicPr>
        <p:blipFill>
          <a:blip r:embed="rId3"/>
          <a:stretch>
            <a:fillRect/>
          </a:stretch>
        </p:blipFill>
        <p:spPr>
          <a:xfrm>
            <a:off x="726948" y="4338828"/>
            <a:ext cx="329184" cy="329184"/>
          </a:xfrm>
          <a:prstGeom prst="rect">
            <a:avLst/>
          </a:prstGeom>
        </p:spPr>
      </p:pic>
      <p:sp>
        <p:nvSpPr>
          <p:cNvPr id="24" name="Text 21"/>
          <p:cNvSpPr txBox="1"/>
          <p:nvPr/>
        </p:nvSpPr>
        <p:spPr>
          <a:xfrm>
            <a:off x="1417320" y="4160520"/>
            <a:ext cx="4572000" cy="731520"/>
          </a:xfrm>
          <a:prstGeom prst="rect">
            <a:avLst/>
          </a:prstGeom>
          <a:noFill/>
          <a:ln/>
        </p:spPr>
        <p:txBody>
          <a:bodyPr wrap="square" lIns="0" tIns="0" rIns="0" bIns="0" rtlCol="0" anchor="ctr"/>
          <a:lstStyle/>
          <a:p>
            <a:pPr marL="0" indent="0">
              <a:buNone/>
            </a:pPr>
            <a:r>
              <a:rPr lang="en-US" sz="1400" b="1" dirty="0">
                <a:solidFill>
                  <a:schemeClr val="tx1"/>
                </a:solidFill>
              </a:rPr>
              <a:t>Ventaja de local. </a:t>
            </a:r>
            <a:r>
              <a:rPr lang="en-US" sz="1400" dirty="0">
                <a:solidFill>
                  <a:schemeClr val="tx1"/>
                </a:solidFill>
              </a:rPr>
              <a:t>Puntos del local − puntos del visitante por partido (0 = jugar en casa no ayuda).</a:t>
            </a:r>
            <a:endParaRPr lang="en-US" sz="1400" dirty="0"/>
          </a:p>
        </p:txBody>
      </p:sp>
      <p:sp>
        <p:nvSpPr>
          <p:cNvPr id="25" name="Shape 22"/>
          <p:cNvSpPr/>
          <p:nvPr/>
        </p:nvSpPr>
        <p:spPr>
          <a:xfrm>
            <a:off x="6172200" y="4160520"/>
            <a:ext cx="685800" cy="685800"/>
          </a:xfrm>
          <a:prstGeom prst="ellipse">
            <a:avLst/>
          </a:prstGeom>
          <a:solidFill>
            <a:srgbClr val="F2B705"/>
          </a:solidFill>
          <a:ln w="12700">
            <a:solidFill>
              <a:srgbClr val="F2B705"/>
            </a:solidFill>
            <a:prstDash val="solid"/>
          </a:ln>
        </p:spPr>
        <p:txBody>
          <a:bodyPr/>
          <a:lstStyle/>
          <a:p>
            <a:endParaRPr lang="es-CO"/>
          </a:p>
        </p:txBody>
      </p:sp>
      <p:pic>
        <p:nvPicPr>
          <p:cNvPr id="26" name="Image 1" descr="preencoded.png"/>
          <p:cNvPicPr>
            <a:picLocks noChangeAspect="1"/>
          </p:cNvPicPr>
          <p:nvPr/>
        </p:nvPicPr>
        <p:blipFill>
          <a:blip r:embed="rId4"/>
          <a:stretch>
            <a:fillRect/>
          </a:stretch>
        </p:blipFill>
        <p:spPr>
          <a:xfrm>
            <a:off x="6350508" y="4338828"/>
            <a:ext cx="329184" cy="329184"/>
          </a:xfrm>
          <a:prstGeom prst="rect">
            <a:avLst/>
          </a:prstGeom>
        </p:spPr>
      </p:pic>
      <p:sp>
        <p:nvSpPr>
          <p:cNvPr id="27" name="Text 23"/>
          <p:cNvSpPr txBox="1"/>
          <p:nvPr/>
        </p:nvSpPr>
        <p:spPr>
          <a:xfrm>
            <a:off x="7040880" y="4160520"/>
            <a:ext cx="4572000" cy="731520"/>
          </a:xfrm>
          <a:prstGeom prst="rect">
            <a:avLst/>
          </a:prstGeom>
          <a:noFill/>
          <a:ln/>
        </p:spPr>
        <p:txBody>
          <a:bodyPr wrap="square" lIns="0" tIns="0" rIns="0" bIns="0" rtlCol="0" anchor="ctr"/>
          <a:lstStyle/>
          <a:p>
            <a:pPr marL="0" indent="0">
              <a:buNone/>
            </a:pPr>
            <a:r>
              <a:rPr lang="en-US" sz="1400" b="1" dirty="0">
                <a:solidFill>
                  <a:schemeClr val="tx1"/>
                </a:solidFill>
              </a:rPr>
              <a:t>Árbitro. </a:t>
            </a:r>
            <a:r>
              <a:rPr lang="en-US" sz="1400" dirty="0">
                <a:solidFill>
                  <a:schemeClr val="tx1"/>
                </a:solidFill>
              </a:rPr>
              <a:t>Amarillas al visitante − al local.</a:t>
            </a:r>
            <a:endParaRPr lang="en-US" sz="1400" dirty="0"/>
          </a:p>
        </p:txBody>
      </p:sp>
      <p:sp>
        <p:nvSpPr>
          <p:cNvPr id="28" name="Shape 24"/>
          <p:cNvSpPr/>
          <p:nvPr/>
        </p:nvSpPr>
        <p:spPr>
          <a:xfrm>
            <a:off x="548640" y="5120640"/>
            <a:ext cx="685800" cy="685800"/>
          </a:xfrm>
          <a:prstGeom prst="ellipse">
            <a:avLst/>
          </a:prstGeom>
          <a:solidFill>
            <a:srgbClr val="1F8A5B"/>
          </a:solidFill>
          <a:ln w="12700">
            <a:solidFill>
              <a:srgbClr val="1F8A5B"/>
            </a:solidFill>
            <a:prstDash val="solid"/>
          </a:ln>
        </p:spPr>
        <p:txBody>
          <a:bodyPr/>
          <a:lstStyle/>
          <a:p>
            <a:endParaRPr lang="es-CO"/>
          </a:p>
        </p:txBody>
      </p:sp>
      <p:pic>
        <p:nvPicPr>
          <p:cNvPr id="29" name="Image 2" descr="preencoded.png"/>
          <p:cNvPicPr>
            <a:picLocks noChangeAspect="1"/>
          </p:cNvPicPr>
          <p:nvPr/>
        </p:nvPicPr>
        <p:blipFill>
          <a:blip r:embed="rId5"/>
          <a:stretch>
            <a:fillRect/>
          </a:stretch>
        </p:blipFill>
        <p:spPr>
          <a:xfrm>
            <a:off x="726948" y="5298948"/>
            <a:ext cx="329184" cy="329184"/>
          </a:xfrm>
          <a:prstGeom prst="rect">
            <a:avLst/>
          </a:prstGeom>
        </p:spPr>
      </p:pic>
      <p:sp>
        <p:nvSpPr>
          <p:cNvPr id="30" name="Text 25"/>
          <p:cNvSpPr txBox="1"/>
          <p:nvPr/>
        </p:nvSpPr>
        <p:spPr>
          <a:xfrm>
            <a:off x="1417320" y="5120640"/>
            <a:ext cx="4572000" cy="731520"/>
          </a:xfrm>
          <a:prstGeom prst="rect">
            <a:avLst/>
          </a:prstGeom>
          <a:noFill/>
          <a:ln/>
        </p:spPr>
        <p:txBody>
          <a:bodyPr wrap="square" lIns="0" tIns="0" rIns="0" bIns="0" rtlCol="0" anchor="ctr"/>
          <a:lstStyle/>
          <a:p>
            <a:pPr marL="0" indent="0">
              <a:buNone/>
            </a:pPr>
            <a:r>
              <a:rPr lang="en-US" sz="1400" b="1" dirty="0">
                <a:solidFill>
                  <a:schemeClr val="tx1"/>
                </a:solidFill>
              </a:rPr>
              <a:t>Juego. </a:t>
            </a:r>
            <a:r>
              <a:rPr lang="en-US" sz="1400" dirty="0">
                <a:solidFill>
                  <a:schemeClr val="tx1"/>
                </a:solidFill>
              </a:rPr>
              <a:t>Remates del local − del visitante.</a:t>
            </a:r>
            <a:endParaRPr lang="en-US" sz="1400" dirty="0"/>
          </a:p>
        </p:txBody>
      </p:sp>
      <p:sp>
        <p:nvSpPr>
          <p:cNvPr id="31" name="Shape 26"/>
          <p:cNvSpPr/>
          <p:nvPr/>
        </p:nvSpPr>
        <p:spPr>
          <a:xfrm>
            <a:off x="6172200" y="5120640"/>
            <a:ext cx="685800" cy="685800"/>
          </a:xfrm>
          <a:prstGeom prst="ellipse">
            <a:avLst/>
          </a:prstGeom>
          <a:solidFill>
            <a:srgbClr val="1F8A5B"/>
          </a:solidFill>
          <a:ln w="12700">
            <a:solidFill>
              <a:srgbClr val="1F8A5B"/>
            </a:solidFill>
            <a:prstDash val="solid"/>
          </a:ln>
        </p:spPr>
        <p:txBody>
          <a:bodyPr/>
          <a:lstStyle/>
          <a:p>
            <a:endParaRPr lang="es-CO"/>
          </a:p>
        </p:txBody>
      </p:sp>
      <p:pic>
        <p:nvPicPr>
          <p:cNvPr id="32" name="Image 3" descr="preencoded.png"/>
          <p:cNvPicPr>
            <a:picLocks noChangeAspect="1"/>
          </p:cNvPicPr>
          <p:nvPr/>
        </p:nvPicPr>
        <p:blipFill>
          <a:blip r:embed="rId6"/>
          <a:stretch>
            <a:fillRect/>
          </a:stretch>
        </p:blipFill>
        <p:spPr>
          <a:xfrm>
            <a:off x="6350508" y="5298948"/>
            <a:ext cx="329184" cy="329184"/>
          </a:xfrm>
          <a:prstGeom prst="rect">
            <a:avLst/>
          </a:prstGeom>
        </p:spPr>
      </p:pic>
      <p:sp>
        <p:nvSpPr>
          <p:cNvPr id="33" name="Text 27"/>
          <p:cNvSpPr txBox="1"/>
          <p:nvPr/>
        </p:nvSpPr>
        <p:spPr>
          <a:xfrm>
            <a:off x="7040880" y="5120640"/>
            <a:ext cx="4572000" cy="731520"/>
          </a:xfrm>
          <a:prstGeom prst="rect">
            <a:avLst/>
          </a:prstGeom>
          <a:noFill/>
          <a:ln/>
        </p:spPr>
        <p:txBody>
          <a:bodyPr wrap="square" lIns="0" tIns="0" rIns="0" bIns="0" rtlCol="0" anchor="ctr"/>
          <a:lstStyle/>
          <a:p>
            <a:pPr marL="0" indent="0">
              <a:buNone/>
            </a:pPr>
            <a:r>
              <a:rPr lang="en-US" sz="1400" b="1" dirty="0">
                <a:solidFill>
                  <a:schemeClr val="tx1"/>
                </a:solidFill>
              </a:rPr>
              <a:t>Mercado. </a:t>
            </a:r>
            <a:r>
              <a:rPr lang="en-US" sz="1400" dirty="0">
                <a:solidFill>
                  <a:schemeClr val="tx1"/>
                </a:solidFill>
              </a:rPr>
              <a:t>Probabilidad implícita del local (potencia) y su brecha con lo observado.</a:t>
            </a:r>
            <a:endParaRPr lang="en-US" sz="1400" dirty="0"/>
          </a:p>
        </p:txBody>
      </p:sp>
      <p:sp>
        <p:nvSpPr>
          <p:cNvPr id="34"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F68"/>
                </a:solidFill>
              </a:defRPr>
            </a:lvl1pPr>
          </a:lstStyle>
          <a:p>
            <a:pPr algn="r"/>
            <a:fld id="{F7021451-1387-4CA6-816F-3879F97B5CBC}" type="slidenum">
              <a:rPr lang="en-US" b="0"/>
              <a:t>19</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68680"/>
          </a:xfrm>
          <a:prstGeom prst="rect">
            <a:avLst/>
          </a:prstGeom>
          <a:noFill/>
          <a:ln/>
        </p:spPr>
        <p:txBody>
          <a:bodyPr wrap="square" lIns="0" tIns="0" rIns="0" bIns="0" rtlCol="0" anchor="ctr"/>
          <a:lstStyle/>
          <a:p>
            <a:pPr marL="0" indent="0" algn="l">
              <a:buNone/>
            </a:pPr>
            <a:r>
              <a:rPr lang="en-US" sz="3400" b="1" dirty="0">
                <a:solidFill>
                  <a:schemeClr val="tx2"/>
                </a:solidFill>
              </a:rPr>
              <a:t>Sin público, la ventaja de local cayó</a:t>
            </a:r>
            <a:endParaRPr lang="en-US" sz="3400" dirty="0"/>
          </a:p>
        </p:txBody>
      </p:sp>
      <p:sp>
        <p:nvSpPr>
          <p:cNvPr id="3" name="Shape 1"/>
          <p:cNvSpPr/>
          <p:nvPr/>
        </p:nvSpPr>
        <p:spPr>
          <a:xfrm>
            <a:off x="548640" y="128016"/>
            <a:ext cx="3488436" cy="274320"/>
          </a:xfrm>
          <a:prstGeom prst="roundRect">
            <a:avLst>
              <a:gd name="adj" fmla="val 50000"/>
            </a:avLst>
          </a:prstGeom>
          <a:solidFill>
            <a:srgbClr val="D64545"/>
          </a:solidFill>
          <a:ln w="12700">
            <a:solidFill>
              <a:srgbClr val="D64545"/>
            </a:solidFill>
            <a:prstDash val="solid"/>
          </a:ln>
        </p:spPr>
        <p:txBody>
          <a:bodyPr/>
          <a:lstStyle/>
          <a:p>
            <a:endParaRPr lang="es-CO"/>
          </a:p>
        </p:txBody>
      </p:sp>
      <p:sp>
        <p:nvSpPr>
          <p:cNvPr id="4" name="Text 2"/>
          <p:cNvSpPr txBox="1"/>
          <p:nvPr/>
        </p:nvSpPr>
        <p:spPr>
          <a:xfrm>
            <a:off x="548640" y="128016"/>
            <a:ext cx="3488436" cy="274320"/>
          </a:xfrm>
          <a:prstGeom prst="rect">
            <a:avLst/>
          </a:prstGeom>
          <a:noFill/>
          <a:ln/>
        </p:spPr>
        <p:txBody>
          <a:bodyPr wrap="square" lIns="0" tIns="0" rIns="0" bIns="0" rtlCol="0" anchor="ctr"/>
          <a:lstStyle/>
          <a:p>
            <a:pPr marL="0" indent="0" algn="ctr">
              <a:buNone/>
            </a:pPr>
            <a:r>
              <a:rPr lang="en-US" sz="1050" b="1" kern="0" spc="100" dirty="0">
                <a:solidFill>
                  <a:schemeClr val="bg1"/>
                </a:solidFill>
              </a:rPr>
              <a:t>PREGUNTA SECUNDARIA 3 · PÚBLICO LOCAL</a:t>
            </a:r>
            <a:endParaRPr lang="en-US" sz="1050" dirty="0"/>
          </a:p>
        </p:txBody>
      </p:sp>
      <p:sp>
        <p:nvSpPr>
          <p:cNvPr id="5" name="!!panel"/>
          <p:cNvSpPr/>
          <p:nvPr/>
        </p:nvSpPr>
        <p:spPr>
          <a:xfrm>
            <a:off x="7863840" y="1463040"/>
            <a:ext cx="3749040" cy="4526280"/>
          </a:xfrm>
          <a:prstGeom prst="roundRect">
            <a:avLst>
              <a:gd name="adj" fmla="val 4390"/>
            </a:avLst>
          </a:prstGeom>
          <a:solidFill>
            <a:srgbClr val="0C2B22"/>
          </a:solidFill>
          <a:ln w="12700">
            <a:solidFill>
              <a:srgbClr val="0C2B22"/>
            </a:solidFill>
            <a:prstDash val="solid"/>
          </a:ln>
        </p:spPr>
        <p:txBody>
          <a:bodyPr/>
          <a:lstStyle/>
          <a:p>
            <a:endParaRPr lang="es-CO"/>
          </a:p>
        </p:txBody>
      </p:sp>
      <p:sp>
        <p:nvSpPr>
          <p:cNvPr id="6" name="!!ring"/>
          <p:cNvSpPr/>
          <p:nvPr/>
        </p:nvSpPr>
        <p:spPr>
          <a:xfrm>
            <a:off x="10972800" y="384048"/>
            <a:ext cx="731520" cy="731520"/>
          </a:xfrm>
          <a:prstGeom prst="ellipse">
            <a:avLst/>
          </a:prstGeom>
          <a:solidFill>
            <a:srgbClr val="FFFFFF">
              <a:alpha val="0"/>
            </a:srgbClr>
          </a:solidFill>
          <a:ln w="31750">
            <a:solidFill>
              <a:srgbClr val="D64545"/>
            </a:solidFill>
            <a:prstDash val="solid"/>
          </a:ln>
        </p:spPr>
        <p:txBody>
          <a:bodyPr/>
          <a:lstStyle/>
          <a:p>
            <a:endParaRPr lang="es-CO"/>
          </a:p>
        </p:txBody>
      </p:sp>
      <p:sp>
        <p:nvSpPr>
          <p:cNvPr id="7" name="!!ball"/>
          <p:cNvSpPr/>
          <p:nvPr/>
        </p:nvSpPr>
        <p:spPr>
          <a:xfrm>
            <a:off x="11256264" y="667512"/>
            <a:ext cx="164592" cy="164592"/>
          </a:xfrm>
          <a:prstGeom prst="ellipse">
            <a:avLst/>
          </a:prstGeom>
          <a:solidFill>
            <a:srgbClr val="F2B705"/>
          </a:solidFill>
          <a:ln w="12700">
            <a:solidFill>
              <a:srgbClr val="F2B705"/>
            </a:solidFill>
            <a:prstDash val="solid"/>
          </a:ln>
        </p:spPr>
        <p:txBody>
          <a:bodyPr/>
          <a:lstStyle/>
          <a:p>
            <a:endParaRPr lang="es-CO"/>
          </a:p>
        </p:txBody>
      </p:sp>
      <p:graphicFrame>
        <p:nvGraphicFramePr>
          <p:cNvPr id="8" name="Chart 0"/>
          <p:cNvGraphicFramePr/>
          <p:nvPr/>
        </p:nvGraphicFramePr>
        <p:xfrm>
          <a:off x="548640" y="1417320"/>
          <a:ext cx="69494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8183880" y="1645920"/>
            <a:ext cx="3108960" cy="274320"/>
          </a:xfrm>
          <a:prstGeom prst="rect">
            <a:avLst/>
          </a:prstGeom>
          <a:noFill/>
          <a:ln/>
        </p:spPr>
        <p:txBody>
          <a:bodyPr wrap="square" lIns="0" tIns="0" rIns="0" bIns="0" rtlCol="0" anchor="ctr"/>
          <a:lstStyle/>
          <a:p>
            <a:pPr marL="0" indent="0">
              <a:buNone/>
            </a:pPr>
            <a:r>
              <a:rPr lang="en-US" sz="1100" b="1" kern="0" spc="200" dirty="0">
                <a:solidFill>
                  <a:schemeClr val="accent2"/>
                </a:solidFill>
              </a:rPr>
              <a:t>RESPUESTA · SECUNDARIA 3</a:t>
            </a:r>
            <a:endParaRPr lang="en-US" sz="1100" dirty="0"/>
          </a:p>
        </p:txBody>
      </p:sp>
      <p:sp>
        <p:nvSpPr>
          <p:cNvPr id="10" name="Text 7"/>
          <p:cNvSpPr txBox="1"/>
          <p:nvPr/>
        </p:nvSpPr>
        <p:spPr>
          <a:xfrm>
            <a:off x="8183880" y="2011680"/>
            <a:ext cx="3200400" cy="1828800"/>
          </a:xfrm>
          <a:prstGeom prst="rect">
            <a:avLst/>
          </a:prstGeom>
          <a:noFill/>
          <a:ln/>
        </p:spPr>
        <p:txBody>
          <a:bodyPr wrap="square" lIns="0" tIns="0" rIns="0" bIns="0" rtlCol="0" anchor="t"/>
          <a:lstStyle/>
          <a:p>
            <a:pPr marL="0" indent="0">
              <a:buNone/>
            </a:pPr>
            <a:r>
              <a:rPr lang="en-US" sz="1500" b="1" dirty="0">
                <a:solidFill>
                  <a:schemeClr val="accent2"/>
                </a:solidFill>
              </a:rPr>
              <a:t>Premier</a:t>
            </a:r>
            <a:endParaRPr lang="en-US" sz="1500" dirty="0"/>
          </a:p>
          <a:p>
            <a:pPr marL="0" indent="0">
              <a:buNone/>
            </a:pPr>
            <a:r>
              <a:rPr lang="en-US" sz="3000" b="1" dirty="0">
                <a:solidFill>
                  <a:schemeClr val="bg1"/>
                </a:solidFill>
              </a:rPr>
              <a:t>0,40 → −0,01</a:t>
            </a:r>
            <a:endParaRPr lang="en-US" sz="1500" dirty="0"/>
          </a:p>
          <a:p>
            <a:pPr marL="0" indent="0">
              <a:buNone/>
            </a:pPr>
            <a:r>
              <a:rPr lang="en-US" sz="1500" dirty="0">
                <a:solidFill>
                  <a:schemeClr val="bg2"/>
                </a:solidFill>
              </a:rPr>
              <a:t>La ventaja desapareció (p ajustado 0,005).</a:t>
            </a:r>
            <a:endParaRPr lang="en-US" sz="1500" dirty="0"/>
          </a:p>
        </p:txBody>
      </p:sp>
      <p:sp>
        <p:nvSpPr>
          <p:cNvPr id="11" name="Text 8"/>
          <p:cNvSpPr txBox="1"/>
          <p:nvPr/>
        </p:nvSpPr>
        <p:spPr>
          <a:xfrm>
            <a:off x="8183880" y="3931920"/>
            <a:ext cx="3200400" cy="1965960"/>
          </a:xfrm>
          <a:prstGeom prst="rect">
            <a:avLst/>
          </a:prstGeom>
          <a:noFill/>
          <a:ln/>
        </p:spPr>
        <p:txBody>
          <a:bodyPr wrap="square" lIns="0" tIns="0" rIns="0" bIns="0" rtlCol="0" anchor="t"/>
          <a:lstStyle/>
          <a:p>
            <a:pPr marL="0" indent="0">
              <a:buNone/>
            </a:pPr>
            <a:r>
              <a:rPr lang="en-US" sz="1500" b="1" dirty="0">
                <a:solidFill>
                  <a:schemeClr val="accent2"/>
                </a:solidFill>
              </a:rPr>
              <a:t>LaLiga</a:t>
            </a:r>
            <a:endParaRPr lang="en-US" sz="1500" dirty="0"/>
          </a:p>
          <a:p>
            <a:pPr marL="0" indent="0">
              <a:buNone/>
            </a:pPr>
            <a:r>
              <a:rPr lang="en-US" sz="3000" b="1" dirty="0">
                <a:solidFill>
                  <a:schemeClr val="bg1"/>
                </a:solidFill>
              </a:rPr>
              <a:t>0,53 → 0,32</a:t>
            </a:r>
            <a:endParaRPr lang="en-US" sz="1500" dirty="0"/>
          </a:p>
          <a:p>
            <a:pPr marL="0" indent="0">
              <a:buNone/>
            </a:pPr>
            <a:r>
              <a:rPr lang="en-US" sz="1500" dirty="0">
                <a:solidFill>
                  <a:schemeClr val="bg2"/>
                </a:solidFill>
              </a:rPr>
              <a:t>Cae cerca de 39 %, pero la evidencia es débil: no supera a Holm en puntos.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F68"/>
                </a:solidFill>
              </a:defRPr>
            </a:lvl1pPr>
          </a:lstStyle>
          <a:p>
            <a:pPr algn="r"/>
            <a:fld id="{F7021451-1387-4CA6-816F-3879F97B5CBC}" type="slidenum">
              <a:rPr lang="en-US" b="0"/>
              <a:t>20</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68680"/>
          </a:xfrm>
          <a:prstGeom prst="rect">
            <a:avLst/>
          </a:prstGeom>
          <a:noFill/>
          <a:ln/>
        </p:spPr>
        <p:txBody>
          <a:bodyPr wrap="square" lIns="0" tIns="0" rIns="0" bIns="0" rtlCol="0" anchor="ctr"/>
          <a:lstStyle/>
          <a:p>
            <a:pPr marL="0" indent="0" algn="l">
              <a:buNone/>
            </a:pPr>
            <a:r>
              <a:rPr lang="en-US" sz="3400" b="1" dirty="0">
                <a:solidFill>
                  <a:schemeClr val="tx2"/>
                </a:solidFill>
              </a:rPr>
              <a:t>¿Fue el público o fue la pandemia?</a:t>
            </a:r>
            <a:endParaRPr lang="en-US" sz="3400" dirty="0"/>
          </a:p>
        </p:txBody>
      </p:sp>
      <p:sp>
        <p:nvSpPr>
          <p:cNvPr id="3" name="Shape 1"/>
          <p:cNvSpPr/>
          <p:nvPr/>
        </p:nvSpPr>
        <p:spPr>
          <a:xfrm>
            <a:off x="548640" y="128016"/>
            <a:ext cx="3488436" cy="274320"/>
          </a:xfrm>
          <a:prstGeom prst="roundRect">
            <a:avLst>
              <a:gd name="adj" fmla="val 50000"/>
            </a:avLst>
          </a:prstGeom>
          <a:solidFill>
            <a:srgbClr val="D64545"/>
          </a:solidFill>
          <a:ln w="12700">
            <a:solidFill>
              <a:srgbClr val="D64545"/>
            </a:solidFill>
            <a:prstDash val="solid"/>
          </a:ln>
        </p:spPr>
        <p:txBody>
          <a:bodyPr/>
          <a:lstStyle/>
          <a:p>
            <a:endParaRPr lang="es-CO"/>
          </a:p>
        </p:txBody>
      </p:sp>
      <p:sp>
        <p:nvSpPr>
          <p:cNvPr id="4" name="Text 2"/>
          <p:cNvSpPr txBox="1"/>
          <p:nvPr/>
        </p:nvSpPr>
        <p:spPr>
          <a:xfrm>
            <a:off x="548640" y="128016"/>
            <a:ext cx="3488436" cy="274320"/>
          </a:xfrm>
          <a:prstGeom prst="rect">
            <a:avLst/>
          </a:prstGeom>
          <a:noFill/>
          <a:ln/>
        </p:spPr>
        <p:txBody>
          <a:bodyPr wrap="square" lIns="0" tIns="0" rIns="0" bIns="0" rtlCol="0" anchor="ctr"/>
          <a:lstStyle/>
          <a:p>
            <a:pPr marL="0" indent="0" algn="ctr">
              <a:buNone/>
            </a:pPr>
            <a:r>
              <a:rPr lang="en-US" sz="1050" b="1" kern="0" spc="100" dirty="0">
                <a:solidFill>
                  <a:schemeClr val="bg1"/>
                </a:solidFill>
              </a:rPr>
              <a:t>PREGUNTA SECUNDARIA 3 · PÚBLICO LOCAL</a:t>
            </a:r>
            <a:endParaRPr lang="en-US" sz="1050" dirty="0"/>
          </a:p>
        </p:txBody>
      </p:sp>
      <p:sp>
        <p:nvSpPr>
          <p:cNvPr id="5" name="!!panel"/>
          <p:cNvSpPr/>
          <p:nvPr/>
        </p:nvSpPr>
        <p:spPr>
          <a:xfrm>
            <a:off x="548640" y="4572000"/>
            <a:ext cx="11064240" cy="1463040"/>
          </a:xfrm>
          <a:prstGeom prst="roundRect">
            <a:avLst>
              <a:gd name="adj" fmla="val 11250"/>
            </a:avLst>
          </a:prstGeom>
          <a:solidFill>
            <a:srgbClr val="0C2B22"/>
          </a:solidFill>
          <a:ln w="12700">
            <a:solidFill>
              <a:srgbClr val="0C2B22"/>
            </a:solidFill>
            <a:prstDash val="solid"/>
          </a:ln>
        </p:spPr>
        <p:txBody>
          <a:bodyPr/>
          <a:lstStyle/>
          <a:p>
            <a:endParaRPr lang="es-CO"/>
          </a:p>
        </p:txBody>
      </p:sp>
      <p:sp>
        <p:nvSpPr>
          <p:cNvPr id="6" name="!!ring"/>
          <p:cNvSpPr/>
          <p:nvPr/>
        </p:nvSpPr>
        <p:spPr>
          <a:xfrm>
            <a:off x="10972800" y="384048"/>
            <a:ext cx="731520" cy="731520"/>
          </a:xfrm>
          <a:prstGeom prst="ellipse">
            <a:avLst/>
          </a:prstGeom>
          <a:solidFill>
            <a:srgbClr val="FFFFFF">
              <a:alpha val="0"/>
            </a:srgbClr>
          </a:solidFill>
          <a:ln w="31750">
            <a:solidFill>
              <a:srgbClr val="D64545"/>
            </a:solidFill>
            <a:prstDash val="solid"/>
          </a:ln>
        </p:spPr>
        <p:txBody>
          <a:bodyPr/>
          <a:lstStyle/>
          <a:p>
            <a:endParaRPr lang="es-CO"/>
          </a:p>
        </p:txBody>
      </p:sp>
      <p:sp>
        <p:nvSpPr>
          <p:cNvPr id="7" name="!!ball"/>
          <p:cNvSpPr/>
          <p:nvPr/>
        </p:nvSpPr>
        <p:spPr>
          <a:xfrm>
            <a:off x="11256264" y="667512"/>
            <a:ext cx="164592" cy="164592"/>
          </a:xfrm>
          <a:prstGeom prst="ellipse">
            <a:avLst/>
          </a:prstGeom>
          <a:solidFill>
            <a:srgbClr val="F2B705"/>
          </a:solidFill>
          <a:ln w="12700">
            <a:solidFill>
              <a:srgbClr val="F2B705"/>
            </a:solidFill>
            <a:prstDash val="solid"/>
          </a:ln>
        </p:spPr>
        <p:txBody>
          <a:bodyPr/>
          <a:lstStyle/>
          <a:p>
            <a:endParaRPr lang="es-CO"/>
          </a:p>
        </p:txBody>
      </p:sp>
      <p:pic>
        <p:nvPicPr>
          <p:cNvPr id="8" name="Image 0" descr="/home/claude/companero/betting-calibration/outputs/figures/rev_publico_robustez.png"/>
          <p:cNvPicPr>
            <a:picLocks noChangeAspect="1"/>
          </p:cNvPicPr>
          <p:nvPr/>
        </p:nvPicPr>
        <p:blipFill>
          <a:blip r:embed="rId3"/>
          <a:stretch>
            <a:fillRect/>
          </a:stretch>
        </p:blipFill>
        <p:spPr>
          <a:xfrm>
            <a:off x="548640" y="1325880"/>
            <a:ext cx="9052560" cy="3108960"/>
          </a:xfrm>
          <a:prstGeom prst="rect">
            <a:avLst/>
          </a:prstGeom>
        </p:spPr>
      </p:pic>
      <p:sp>
        <p:nvSpPr>
          <p:cNvPr id="9" name="Text 6"/>
          <p:cNvSpPr txBox="1"/>
          <p:nvPr/>
        </p:nvSpPr>
        <p:spPr>
          <a:xfrm>
            <a:off x="9692640" y="1371600"/>
            <a:ext cx="2011680" cy="1005840"/>
          </a:xfrm>
          <a:prstGeom prst="rect">
            <a:avLst/>
          </a:prstGeom>
          <a:noFill/>
          <a:ln/>
        </p:spPr>
        <p:txBody>
          <a:bodyPr wrap="square" lIns="0" tIns="0" rIns="0" bIns="0" rtlCol="0" anchor="t"/>
          <a:lstStyle/>
          <a:p>
            <a:pPr marL="0" indent="0">
              <a:buNone/>
            </a:pPr>
            <a:r>
              <a:rPr lang="en-US" sz="1150" b="1" dirty="0">
                <a:solidFill>
                  <a:schemeClr val="tx2"/>
                </a:solidFill>
              </a:rPr>
              <a:t>Placebo</a:t>
            </a:r>
            <a:endParaRPr lang="en-US" sz="1150" dirty="0"/>
          </a:p>
          <a:p>
            <a:pPr marL="0" indent="0">
              <a:buNone/>
            </a:pPr>
            <a:r>
              <a:rPr lang="en-US" sz="1150" dirty="0">
                <a:solidFill>
                  <a:schemeClr val="tx1"/>
                </a:solidFill>
              </a:rPr>
              <a:t>Ninguna de 352 ventanas con público cae tanto (mín. −0,27 vs −0,42).</a:t>
            </a:r>
            <a:endParaRPr lang="en-US" sz="1150" dirty="0"/>
          </a:p>
        </p:txBody>
      </p:sp>
      <p:sp>
        <p:nvSpPr>
          <p:cNvPr id="10" name="Text 7"/>
          <p:cNvSpPr txBox="1"/>
          <p:nvPr/>
        </p:nvSpPr>
        <p:spPr>
          <a:xfrm>
            <a:off x="9692640" y="2395728"/>
            <a:ext cx="2011680" cy="1005840"/>
          </a:xfrm>
          <a:prstGeom prst="rect">
            <a:avLst/>
          </a:prstGeom>
          <a:noFill/>
          <a:ln/>
        </p:spPr>
        <p:txBody>
          <a:bodyPr wrap="square" lIns="0" tIns="0" rIns="0" bIns="0" rtlCol="0" anchor="t"/>
          <a:lstStyle/>
          <a:p>
            <a:pPr marL="0" indent="0">
              <a:buNone/>
            </a:pPr>
            <a:r>
              <a:rPr lang="en-US" sz="1150" b="1" dirty="0">
                <a:solidFill>
                  <a:schemeClr val="tx2"/>
                </a:solidFill>
              </a:rPr>
              <a:t>5 cambios</a:t>
            </a:r>
            <a:endParaRPr lang="en-US" sz="1150" dirty="0"/>
          </a:p>
          <a:p>
            <a:pPr marL="0" indent="0">
              <a:buNone/>
            </a:pPr>
            <a:r>
              <a:rPr lang="en-US" sz="1150" dirty="0">
                <a:solidFill>
                  <a:schemeClr val="tx1"/>
                </a:solidFill>
              </a:rPr>
              <a:t>La caída de la Premier ocurrió con 3 cambios (−0,56); con público, 5 cambios no alteran nada.</a:t>
            </a:r>
            <a:endParaRPr lang="en-US" sz="1150" dirty="0"/>
          </a:p>
        </p:txBody>
      </p:sp>
      <p:sp>
        <p:nvSpPr>
          <p:cNvPr id="11" name="Text 8"/>
          <p:cNvSpPr txBox="1"/>
          <p:nvPr/>
        </p:nvSpPr>
        <p:spPr>
          <a:xfrm>
            <a:off x="9692640" y="3419856"/>
            <a:ext cx="2011680" cy="1005840"/>
          </a:xfrm>
          <a:prstGeom prst="rect">
            <a:avLst/>
          </a:prstGeom>
          <a:noFill/>
          <a:ln/>
        </p:spPr>
        <p:txBody>
          <a:bodyPr wrap="square" lIns="0" tIns="0" rIns="0" bIns="0" rtlCol="0" anchor="t"/>
          <a:lstStyle/>
          <a:p>
            <a:pPr marL="0" indent="0">
              <a:buNone/>
            </a:pPr>
            <a:r>
              <a:rPr lang="en-US" sz="1150" b="1" dirty="0">
                <a:solidFill>
                  <a:schemeClr val="tx2"/>
                </a:solidFill>
              </a:rPr>
              <a:t>Ojo</a:t>
            </a:r>
            <a:endParaRPr lang="en-US" sz="1150" dirty="0"/>
          </a:p>
          <a:p>
            <a:pPr marL="0" indent="0">
              <a:buNone/>
            </a:pPr>
            <a:r>
              <a:rPr lang="en-US" sz="1150" dirty="0">
                <a:solidFill>
                  <a:schemeClr val="tx1"/>
                </a:solidFill>
              </a:rPr>
              <a:t>En la reanudación de 2019/20, sin público, la ventaja siguió (0,46; n = 92).</a:t>
            </a:r>
            <a:endParaRPr lang="en-US" sz="1150" dirty="0"/>
          </a:p>
        </p:txBody>
      </p:sp>
      <p:sp>
        <p:nvSpPr>
          <p:cNvPr id="12" name="Text 9"/>
          <p:cNvSpPr txBox="1"/>
          <p:nvPr/>
        </p:nvSpPr>
        <p:spPr>
          <a:xfrm>
            <a:off x="868680" y="4663440"/>
            <a:ext cx="10424160" cy="1280160"/>
          </a:xfrm>
          <a:prstGeom prst="rect">
            <a:avLst/>
          </a:prstGeom>
          <a:noFill/>
          <a:ln/>
        </p:spPr>
        <p:txBody>
          <a:bodyPr wrap="square" lIns="0" tIns="0" rIns="0" bIns="0" rtlCol="0" anchor="ctr"/>
          <a:lstStyle/>
          <a:p>
            <a:pPr marL="0" indent="0">
              <a:buNone/>
            </a:pPr>
            <a:r>
              <a:rPr lang="en-US" sz="1550" b="1" dirty="0">
                <a:solidFill>
                  <a:schemeClr val="accent2"/>
                </a:solidFill>
              </a:rPr>
              <a:t>Conclusión: </a:t>
            </a:r>
            <a:r>
              <a:rPr lang="en-US" sz="1550" dirty="0">
                <a:solidFill>
                  <a:schemeClr val="bg1"/>
                </a:solidFill>
              </a:rPr>
              <a:t>en la Premier la caída es robusta (ajuste por fuerza, errores por equipo, placebo, sustituciones), pero es una asociación: el calendario y los contagios no se pueden controlar.</a:t>
            </a:r>
            <a:endParaRPr lang="en-US" sz="15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F68"/>
                </a:solidFill>
              </a:defRPr>
            </a:lvl1pPr>
          </a:lstStyle>
          <a:p>
            <a:pPr algn="r"/>
            <a:fld id="{F7021451-1387-4CA6-816F-3879F97B5CBC}" type="slidenum">
              <a:rPr lang="en-US" b="0"/>
              <a:t>21</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68680"/>
          </a:xfrm>
          <a:prstGeom prst="rect">
            <a:avLst/>
          </a:prstGeom>
          <a:noFill/>
          <a:ln/>
        </p:spPr>
        <p:txBody>
          <a:bodyPr wrap="square" lIns="0" tIns="0" rIns="0" bIns="0" rtlCol="0" anchor="ctr"/>
          <a:lstStyle/>
          <a:p>
            <a:pPr marL="0" indent="0" algn="l">
              <a:buNone/>
            </a:pPr>
            <a:r>
              <a:rPr lang="en-US" sz="3400" b="1" dirty="0">
                <a:solidFill>
                  <a:schemeClr val="tx2"/>
                </a:solidFill>
              </a:rPr>
              <a:t>¿Por dónde actúa el público?</a:t>
            </a:r>
            <a:endParaRPr lang="en-US" sz="3400" dirty="0"/>
          </a:p>
        </p:txBody>
      </p:sp>
      <p:sp>
        <p:nvSpPr>
          <p:cNvPr id="3" name="Shape 1"/>
          <p:cNvSpPr/>
          <p:nvPr/>
        </p:nvSpPr>
        <p:spPr>
          <a:xfrm>
            <a:off x="548640" y="128016"/>
            <a:ext cx="3488436" cy="274320"/>
          </a:xfrm>
          <a:prstGeom prst="roundRect">
            <a:avLst>
              <a:gd name="adj" fmla="val 50000"/>
            </a:avLst>
          </a:prstGeom>
          <a:solidFill>
            <a:srgbClr val="D64545"/>
          </a:solidFill>
          <a:ln w="12700">
            <a:solidFill>
              <a:srgbClr val="D64545"/>
            </a:solidFill>
            <a:prstDash val="solid"/>
          </a:ln>
        </p:spPr>
        <p:txBody>
          <a:bodyPr/>
          <a:lstStyle/>
          <a:p>
            <a:endParaRPr lang="es-CO"/>
          </a:p>
        </p:txBody>
      </p:sp>
      <p:sp>
        <p:nvSpPr>
          <p:cNvPr id="4" name="Text 2"/>
          <p:cNvSpPr txBox="1"/>
          <p:nvPr/>
        </p:nvSpPr>
        <p:spPr>
          <a:xfrm>
            <a:off x="548640" y="128016"/>
            <a:ext cx="3488436" cy="274320"/>
          </a:xfrm>
          <a:prstGeom prst="rect">
            <a:avLst/>
          </a:prstGeom>
          <a:noFill/>
          <a:ln/>
        </p:spPr>
        <p:txBody>
          <a:bodyPr wrap="square" lIns="0" tIns="0" rIns="0" bIns="0" rtlCol="0" anchor="ctr"/>
          <a:lstStyle/>
          <a:p>
            <a:pPr marL="0" indent="0" algn="ctr">
              <a:buNone/>
            </a:pPr>
            <a:r>
              <a:rPr lang="en-US" sz="1050" b="1" kern="0" spc="100" dirty="0">
                <a:solidFill>
                  <a:schemeClr val="bg1"/>
                </a:solidFill>
              </a:rPr>
              <a:t>PREGUNTA SECUNDARIA 3 · PÚBLICO LOCAL</a:t>
            </a:r>
            <a:endParaRPr lang="en-US" sz="1050" dirty="0"/>
          </a:p>
        </p:txBody>
      </p:sp>
      <p:sp>
        <p:nvSpPr>
          <p:cNvPr id="5" name="!!panel"/>
          <p:cNvSpPr/>
          <p:nvPr/>
        </p:nvSpPr>
        <p:spPr>
          <a:xfrm>
            <a:off x="548640" y="4892040"/>
            <a:ext cx="11064240" cy="1188720"/>
          </a:xfrm>
          <a:prstGeom prst="roundRect">
            <a:avLst>
              <a:gd name="adj" fmla="val 13846"/>
            </a:avLst>
          </a:prstGeom>
          <a:solidFill>
            <a:srgbClr val="0C2B22"/>
          </a:solidFill>
          <a:ln w="12700">
            <a:solidFill>
              <a:srgbClr val="0C2B22"/>
            </a:solidFill>
            <a:prstDash val="solid"/>
          </a:ln>
        </p:spPr>
        <p:txBody>
          <a:bodyPr/>
          <a:lstStyle/>
          <a:p>
            <a:endParaRPr lang="es-CO"/>
          </a:p>
        </p:txBody>
      </p:sp>
      <p:sp>
        <p:nvSpPr>
          <p:cNvPr id="6" name="!!ring"/>
          <p:cNvSpPr/>
          <p:nvPr/>
        </p:nvSpPr>
        <p:spPr>
          <a:xfrm>
            <a:off x="10972800" y="384048"/>
            <a:ext cx="731520" cy="731520"/>
          </a:xfrm>
          <a:prstGeom prst="ellipse">
            <a:avLst/>
          </a:prstGeom>
          <a:solidFill>
            <a:srgbClr val="FFFFFF">
              <a:alpha val="0"/>
            </a:srgbClr>
          </a:solidFill>
          <a:ln w="31750">
            <a:solidFill>
              <a:srgbClr val="D64545"/>
            </a:solidFill>
            <a:prstDash val="solid"/>
          </a:ln>
        </p:spPr>
        <p:txBody>
          <a:bodyPr/>
          <a:lstStyle/>
          <a:p>
            <a:endParaRPr lang="es-CO"/>
          </a:p>
        </p:txBody>
      </p:sp>
      <p:sp>
        <p:nvSpPr>
          <p:cNvPr id="7" name="!!ball"/>
          <p:cNvSpPr/>
          <p:nvPr/>
        </p:nvSpPr>
        <p:spPr>
          <a:xfrm>
            <a:off x="11256264" y="667512"/>
            <a:ext cx="164592" cy="164592"/>
          </a:xfrm>
          <a:prstGeom prst="ellipse">
            <a:avLst/>
          </a:prstGeom>
          <a:solidFill>
            <a:srgbClr val="F2B705"/>
          </a:solidFill>
          <a:ln w="12700">
            <a:solidFill>
              <a:srgbClr val="F2B705"/>
            </a:solidFill>
            <a:prstDash val="solid"/>
          </a:ln>
        </p:spPr>
        <p:txBody>
          <a:bodyPr/>
          <a:lstStyle/>
          <a:p>
            <a:endParaRPr lang="es-CO"/>
          </a:p>
        </p:txBody>
      </p:sp>
      <p:graphicFrame>
        <p:nvGraphicFramePr>
          <p:cNvPr id="8" name="Chart 0"/>
          <p:cNvGraphicFramePr/>
          <p:nvPr/>
        </p:nvGraphicFramePr>
        <p:xfrm>
          <a:off x="548640" y="1371600"/>
          <a:ext cx="5394960" cy="33832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1"/>
          <p:cNvGraphicFramePr/>
          <p:nvPr/>
        </p:nvGraphicFramePr>
        <p:xfrm>
          <a:off x="6217920" y="1371600"/>
          <a:ext cx="5394960" cy="338328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6"/>
          <p:cNvSpPr/>
          <p:nvPr/>
        </p:nvSpPr>
        <p:spPr>
          <a:xfrm>
            <a:off x="822960" y="5120640"/>
            <a:ext cx="731520" cy="731520"/>
          </a:xfrm>
          <a:prstGeom prst="ellipse">
            <a:avLst/>
          </a:prstGeom>
          <a:solidFill>
            <a:srgbClr val="F2B705"/>
          </a:solidFill>
          <a:ln w="12700">
            <a:solidFill>
              <a:srgbClr val="F2B705"/>
            </a:solidFill>
            <a:prstDash val="solid"/>
          </a:ln>
        </p:spPr>
        <p:txBody>
          <a:bodyPr/>
          <a:lstStyle/>
          <a:p>
            <a:endParaRPr lang="es-CO"/>
          </a:p>
        </p:txBody>
      </p:sp>
      <p:pic>
        <p:nvPicPr>
          <p:cNvPr id="11" name="Image 0" descr="preencoded.png"/>
          <p:cNvPicPr>
            <a:picLocks noChangeAspect="1"/>
          </p:cNvPicPr>
          <p:nvPr/>
        </p:nvPicPr>
        <p:blipFill>
          <a:blip r:embed="rId5"/>
          <a:stretch>
            <a:fillRect/>
          </a:stretch>
        </p:blipFill>
        <p:spPr>
          <a:xfrm>
            <a:off x="1013155" y="5310835"/>
            <a:ext cx="351130" cy="351130"/>
          </a:xfrm>
          <a:prstGeom prst="rect">
            <a:avLst/>
          </a:prstGeom>
        </p:spPr>
      </p:pic>
      <p:sp>
        <p:nvSpPr>
          <p:cNvPr id="12" name="Text 7"/>
          <p:cNvSpPr txBox="1"/>
          <p:nvPr/>
        </p:nvSpPr>
        <p:spPr>
          <a:xfrm>
            <a:off x="1737360" y="5029200"/>
            <a:ext cx="4114800" cy="914400"/>
          </a:xfrm>
          <a:prstGeom prst="rect">
            <a:avLst/>
          </a:prstGeom>
          <a:noFill/>
          <a:ln/>
        </p:spPr>
        <p:txBody>
          <a:bodyPr wrap="square" lIns="0" tIns="0" rIns="0" bIns="0" rtlCol="0" anchor="ctr"/>
          <a:lstStyle/>
          <a:p>
            <a:pPr marL="0" indent="0">
              <a:buNone/>
            </a:pPr>
            <a:r>
              <a:rPr lang="en-US" sz="1400" dirty="0">
                <a:solidFill>
                  <a:schemeClr val="bg1"/>
                </a:solidFill>
              </a:rPr>
              <a:t>Con público, el visitante recibía más amarillas; sin público la diferencia desapareció (Premier p aj. 0,005).</a:t>
            </a:r>
            <a:endParaRPr lang="en-US" sz="1400" dirty="0"/>
          </a:p>
        </p:txBody>
      </p:sp>
      <p:sp>
        <p:nvSpPr>
          <p:cNvPr id="13" name="Shape 8"/>
          <p:cNvSpPr/>
          <p:nvPr/>
        </p:nvSpPr>
        <p:spPr>
          <a:xfrm>
            <a:off x="6355080" y="5120640"/>
            <a:ext cx="731520" cy="731520"/>
          </a:xfrm>
          <a:prstGeom prst="ellipse">
            <a:avLst/>
          </a:prstGeom>
          <a:solidFill>
            <a:srgbClr val="1F8A5B"/>
          </a:solidFill>
          <a:ln w="12700">
            <a:solidFill>
              <a:srgbClr val="1F8A5B"/>
            </a:solidFill>
            <a:prstDash val="solid"/>
          </a:ln>
        </p:spPr>
        <p:txBody>
          <a:bodyPr/>
          <a:lstStyle/>
          <a:p>
            <a:endParaRPr lang="es-CO"/>
          </a:p>
        </p:txBody>
      </p:sp>
      <p:pic>
        <p:nvPicPr>
          <p:cNvPr id="14" name="Image 1" descr="preencoded.png"/>
          <p:cNvPicPr>
            <a:picLocks noChangeAspect="1"/>
          </p:cNvPicPr>
          <p:nvPr/>
        </p:nvPicPr>
        <p:blipFill>
          <a:blip r:embed="rId6"/>
          <a:stretch>
            <a:fillRect/>
          </a:stretch>
        </p:blipFill>
        <p:spPr>
          <a:xfrm>
            <a:off x="6545275" y="5310835"/>
            <a:ext cx="351130" cy="351130"/>
          </a:xfrm>
          <a:prstGeom prst="rect">
            <a:avLst/>
          </a:prstGeom>
        </p:spPr>
      </p:pic>
      <p:sp>
        <p:nvSpPr>
          <p:cNvPr id="15" name="Text 9"/>
          <p:cNvSpPr txBox="1"/>
          <p:nvPr/>
        </p:nvSpPr>
        <p:spPr>
          <a:xfrm>
            <a:off x="7269480" y="5029200"/>
            <a:ext cx="4114800" cy="914400"/>
          </a:xfrm>
          <a:prstGeom prst="rect">
            <a:avLst/>
          </a:prstGeom>
          <a:noFill/>
          <a:ln/>
        </p:spPr>
        <p:txBody>
          <a:bodyPr wrap="square" lIns="0" tIns="0" rIns="0" bIns="0" rtlCol="0" anchor="ctr"/>
          <a:lstStyle/>
          <a:p>
            <a:pPr marL="0" indent="0">
              <a:buNone/>
            </a:pPr>
            <a:r>
              <a:rPr lang="en-US" sz="1400" dirty="0">
                <a:solidFill>
                  <a:schemeClr val="bg1"/>
                </a:solidFill>
              </a:rPr>
              <a:t>La ventaja de remates del local se redujo a la mitad en ambas ligas (p aj. ≤ 0,018).</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F68"/>
                </a:solidFill>
              </a:defRPr>
            </a:lvl1pPr>
          </a:lstStyle>
          <a:p>
            <a:pPr algn="r"/>
            <a:fld id="{F7021451-1387-4CA6-816F-3879F97B5CBC}" type="slidenum">
              <a:rPr lang="en-US" b="0"/>
              <a:t>22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68680"/>
          </a:xfrm>
          <a:prstGeom prst="rect">
            <a:avLst/>
          </a:prstGeom>
          <a:noFill/>
          <a:ln/>
        </p:spPr>
        <p:txBody>
          <a:bodyPr wrap="square" lIns="0" tIns="0" rIns="0" bIns="0" rtlCol="0" anchor="ctr"/>
          <a:lstStyle/>
          <a:p>
            <a:pPr marL="0" indent="0" algn="l">
              <a:buNone/>
            </a:pPr>
            <a:r>
              <a:rPr lang="en-US" sz="3400" b="1" dirty="0">
                <a:solidFill>
                  <a:schemeClr val="tx2"/>
                </a:solidFill>
              </a:rPr>
              <a:t>¿Se dio cuenta el mercado?</a:t>
            </a:r>
            <a:endParaRPr lang="en-US" sz="3400" dirty="0"/>
          </a:p>
        </p:txBody>
      </p:sp>
      <p:sp>
        <p:nvSpPr>
          <p:cNvPr id="3" name="Shape 1"/>
          <p:cNvSpPr/>
          <p:nvPr/>
        </p:nvSpPr>
        <p:spPr>
          <a:xfrm>
            <a:off x="548640" y="128016"/>
            <a:ext cx="3488436" cy="274320"/>
          </a:xfrm>
          <a:prstGeom prst="roundRect">
            <a:avLst>
              <a:gd name="adj" fmla="val 50000"/>
            </a:avLst>
          </a:prstGeom>
          <a:solidFill>
            <a:srgbClr val="D64545"/>
          </a:solidFill>
          <a:ln w="12700">
            <a:solidFill>
              <a:srgbClr val="D64545"/>
            </a:solidFill>
            <a:prstDash val="solid"/>
          </a:ln>
        </p:spPr>
        <p:txBody>
          <a:bodyPr/>
          <a:lstStyle/>
          <a:p>
            <a:endParaRPr lang="es-CO"/>
          </a:p>
        </p:txBody>
      </p:sp>
      <p:sp>
        <p:nvSpPr>
          <p:cNvPr id="4" name="Text 2"/>
          <p:cNvSpPr txBox="1"/>
          <p:nvPr/>
        </p:nvSpPr>
        <p:spPr>
          <a:xfrm>
            <a:off x="548640" y="128016"/>
            <a:ext cx="3488436" cy="274320"/>
          </a:xfrm>
          <a:prstGeom prst="rect">
            <a:avLst/>
          </a:prstGeom>
          <a:noFill/>
          <a:ln/>
        </p:spPr>
        <p:txBody>
          <a:bodyPr wrap="square" lIns="0" tIns="0" rIns="0" bIns="0" rtlCol="0" anchor="ctr"/>
          <a:lstStyle/>
          <a:p>
            <a:pPr marL="0" indent="0" algn="ctr">
              <a:buNone/>
            </a:pPr>
            <a:r>
              <a:rPr lang="en-US" sz="1050" b="1" kern="0" spc="100" dirty="0">
                <a:solidFill>
                  <a:schemeClr val="bg1"/>
                </a:solidFill>
              </a:rPr>
              <a:t>PREGUNTA SECUNDARIA 3 · PÚBLICO LOCAL</a:t>
            </a:r>
            <a:endParaRPr lang="en-US" sz="1050" dirty="0"/>
          </a:p>
        </p:txBody>
      </p:sp>
      <p:sp>
        <p:nvSpPr>
          <p:cNvPr id="5" name="!!panel"/>
          <p:cNvSpPr/>
          <p:nvPr/>
        </p:nvSpPr>
        <p:spPr>
          <a:xfrm>
            <a:off x="7863840" y="1463040"/>
            <a:ext cx="3749040" cy="4526280"/>
          </a:xfrm>
          <a:prstGeom prst="roundRect">
            <a:avLst>
              <a:gd name="adj" fmla="val 4390"/>
            </a:avLst>
          </a:prstGeom>
          <a:solidFill>
            <a:srgbClr val="0C2B22"/>
          </a:solidFill>
          <a:ln w="12700">
            <a:solidFill>
              <a:srgbClr val="0C2B22"/>
            </a:solidFill>
            <a:prstDash val="solid"/>
          </a:ln>
        </p:spPr>
        <p:txBody>
          <a:bodyPr/>
          <a:lstStyle/>
          <a:p>
            <a:endParaRPr lang="es-CO"/>
          </a:p>
        </p:txBody>
      </p:sp>
      <p:sp>
        <p:nvSpPr>
          <p:cNvPr id="6" name="!!ring"/>
          <p:cNvSpPr/>
          <p:nvPr/>
        </p:nvSpPr>
        <p:spPr>
          <a:xfrm>
            <a:off x="10972800" y="384048"/>
            <a:ext cx="731520" cy="731520"/>
          </a:xfrm>
          <a:prstGeom prst="ellipse">
            <a:avLst/>
          </a:prstGeom>
          <a:solidFill>
            <a:srgbClr val="FFFFFF">
              <a:alpha val="0"/>
            </a:srgbClr>
          </a:solidFill>
          <a:ln w="31750">
            <a:solidFill>
              <a:srgbClr val="D64545"/>
            </a:solidFill>
            <a:prstDash val="solid"/>
          </a:ln>
        </p:spPr>
        <p:txBody>
          <a:bodyPr/>
          <a:lstStyle/>
          <a:p>
            <a:endParaRPr lang="es-CO"/>
          </a:p>
        </p:txBody>
      </p:sp>
      <p:sp>
        <p:nvSpPr>
          <p:cNvPr id="7" name="!!ball"/>
          <p:cNvSpPr/>
          <p:nvPr/>
        </p:nvSpPr>
        <p:spPr>
          <a:xfrm>
            <a:off x="11256264" y="667512"/>
            <a:ext cx="164592" cy="164592"/>
          </a:xfrm>
          <a:prstGeom prst="ellipse">
            <a:avLst/>
          </a:prstGeom>
          <a:solidFill>
            <a:srgbClr val="F2B705"/>
          </a:solidFill>
          <a:ln w="12700">
            <a:solidFill>
              <a:srgbClr val="F2B705"/>
            </a:solidFill>
            <a:prstDash val="solid"/>
          </a:ln>
        </p:spPr>
        <p:txBody>
          <a:bodyPr/>
          <a:lstStyle/>
          <a:p>
            <a:endParaRPr lang="es-CO"/>
          </a:p>
        </p:txBody>
      </p:sp>
      <p:graphicFrame>
        <p:nvGraphicFramePr>
          <p:cNvPr id="8" name="Chart 0"/>
          <p:cNvGraphicFramePr/>
          <p:nvPr/>
        </p:nvGraphicFramePr>
        <p:xfrm>
          <a:off x="548640" y="1417320"/>
          <a:ext cx="69494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8183880" y="1645920"/>
            <a:ext cx="3108960" cy="274320"/>
          </a:xfrm>
          <a:prstGeom prst="rect">
            <a:avLst/>
          </a:prstGeom>
          <a:noFill/>
          <a:ln/>
        </p:spPr>
        <p:txBody>
          <a:bodyPr wrap="square" lIns="0" tIns="0" rIns="0" bIns="0" rtlCol="0" anchor="ctr"/>
          <a:lstStyle/>
          <a:p>
            <a:pPr marL="0" indent="0">
              <a:buNone/>
            </a:pPr>
            <a:r>
              <a:rPr lang="en-US" sz="1100" b="1" kern="0" spc="200" dirty="0">
                <a:solidFill>
                  <a:schemeClr val="accent2"/>
                </a:solidFill>
              </a:rPr>
              <a:t>RESPUESTA · MERCADO</a:t>
            </a:r>
            <a:endParaRPr lang="en-US" sz="1100" dirty="0"/>
          </a:p>
        </p:txBody>
      </p:sp>
      <p:sp>
        <p:nvSpPr>
          <p:cNvPr id="10" name="Text 7"/>
          <p:cNvSpPr txBox="1"/>
          <p:nvPr/>
        </p:nvSpPr>
        <p:spPr>
          <a:xfrm>
            <a:off x="8183880" y="1874520"/>
            <a:ext cx="3200400" cy="868680"/>
          </a:xfrm>
          <a:prstGeom prst="rect">
            <a:avLst/>
          </a:prstGeom>
          <a:noFill/>
          <a:ln/>
        </p:spPr>
        <p:txBody>
          <a:bodyPr wrap="square" lIns="0" tIns="0" rIns="0" bIns="0" rtlCol="0" anchor="b"/>
          <a:lstStyle/>
          <a:p>
            <a:pPr marL="0" indent="0">
              <a:buNone/>
            </a:pPr>
            <a:r>
              <a:rPr lang="en-US" sz="3000" b="1" dirty="0">
                <a:solidFill>
                  <a:schemeClr val="accent2"/>
                </a:solidFill>
                <a:latin typeface="Arial" pitchFamily="34" charset="0"/>
                <a:ea typeface="Arial" pitchFamily="34" charset="-122"/>
                <a:cs typeface="Arial" pitchFamily="34" charset="-120"/>
              </a:rPr>
              <a:t>−3,3 a −3,5 pp</a:t>
            </a:r>
            <a:endParaRPr lang="en-US" sz="3000" dirty="0"/>
          </a:p>
        </p:txBody>
      </p:sp>
      <p:sp>
        <p:nvSpPr>
          <p:cNvPr id="11" name="Text 8"/>
          <p:cNvSpPr txBox="1"/>
          <p:nvPr/>
        </p:nvSpPr>
        <p:spPr>
          <a:xfrm>
            <a:off x="8183880" y="2788920"/>
            <a:ext cx="3200400" cy="685800"/>
          </a:xfrm>
          <a:prstGeom prst="rect">
            <a:avLst/>
          </a:prstGeom>
          <a:noFill/>
          <a:ln/>
        </p:spPr>
        <p:txBody>
          <a:bodyPr wrap="square" lIns="0" tIns="0" rIns="0" bIns="0" rtlCol="0" anchor="t"/>
          <a:lstStyle/>
          <a:p>
            <a:pPr marL="0" indent="0">
              <a:buNone/>
            </a:pPr>
            <a:r>
              <a:rPr lang="en-US" sz="1400" dirty="0">
                <a:solidFill>
                  <a:schemeClr val="bg2"/>
                </a:solidFill>
              </a:rPr>
              <a:t>bajó la probabilidad del local sin público (p aj. 0,005)</a:t>
            </a:r>
            <a:endParaRPr lang="en-US" sz="1400" dirty="0"/>
          </a:p>
        </p:txBody>
      </p:sp>
      <p:sp>
        <p:nvSpPr>
          <p:cNvPr id="12" name="Text 9"/>
          <p:cNvSpPr txBox="1"/>
          <p:nvPr/>
        </p:nvSpPr>
        <p:spPr>
          <a:xfrm>
            <a:off x="8183880" y="3794760"/>
            <a:ext cx="3154680" cy="2011680"/>
          </a:xfrm>
          <a:prstGeom prst="rect">
            <a:avLst/>
          </a:prstGeom>
          <a:noFill/>
          <a:ln/>
        </p:spPr>
        <p:txBody>
          <a:bodyPr wrap="square" lIns="0" tIns="0" rIns="0" bIns="0" rtlCol="0" anchor="t"/>
          <a:lstStyle/>
          <a:p>
            <a:pPr marL="0" indent="0">
              <a:spcAft>
                <a:spcPts val="600"/>
              </a:spcAft>
              <a:buNone/>
            </a:pPr>
            <a:r>
              <a:rPr lang="en-US" sz="1450" dirty="0">
                <a:solidFill>
                  <a:schemeClr val="bg1"/>
                </a:solidFill>
              </a:rPr>
              <a:t>En todo el periodo la brecha no es significativa, pero a inicios de 2021 las cuotas de la Premier aún sobrevaloraban al local (−4,2 pp): ajuste quizá incompleto.</a:t>
            </a:r>
            <a:endParaRPr lang="en-US" sz="14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F68"/>
                </a:solidFill>
              </a:defRPr>
            </a:lvl1pPr>
          </a:lstStyle>
          <a:p>
            <a:pPr algn="r"/>
            <a:fld id="{F7021451-1387-4CA6-816F-3879F97B5CBC}" type="slidenum">
              <a:rPr lang="en-US" b="0"/>
              <a:t>23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68680"/>
          </a:xfrm>
          <a:prstGeom prst="rect">
            <a:avLst/>
          </a:prstGeom>
          <a:noFill/>
          <a:ln/>
        </p:spPr>
        <p:txBody>
          <a:bodyPr wrap="square" lIns="0" tIns="0" rIns="0" bIns="0" rtlCol="0" anchor="ctr"/>
          <a:lstStyle/>
          <a:p>
            <a:pPr marL="0" indent="0" algn="l">
              <a:buNone/>
            </a:pPr>
            <a:r>
              <a:rPr lang="en-US" sz="3400" b="1" dirty="0">
                <a:solidFill>
                  <a:schemeClr val="tx2"/>
                </a:solidFill>
              </a:rPr>
              <a:t>Lo que encontraron otros y lo que encontramos</a:t>
            </a:r>
            <a:endParaRPr lang="en-US" sz="3400" dirty="0"/>
          </a:p>
        </p:txBody>
      </p:sp>
      <p:sp>
        <p:nvSpPr>
          <p:cNvPr id="3" name="Shape 1"/>
          <p:cNvSpPr/>
          <p:nvPr/>
        </p:nvSpPr>
        <p:spPr>
          <a:xfrm>
            <a:off x="548640" y="128016"/>
            <a:ext cx="3488436" cy="274320"/>
          </a:xfrm>
          <a:prstGeom prst="roundRect">
            <a:avLst>
              <a:gd name="adj" fmla="val 50000"/>
            </a:avLst>
          </a:prstGeom>
          <a:solidFill>
            <a:srgbClr val="D64545"/>
          </a:solidFill>
          <a:ln w="12700">
            <a:solidFill>
              <a:srgbClr val="D64545"/>
            </a:solidFill>
            <a:prstDash val="solid"/>
          </a:ln>
        </p:spPr>
        <p:txBody>
          <a:bodyPr/>
          <a:lstStyle/>
          <a:p>
            <a:endParaRPr lang="es-CO"/>
          </a:p>
        </p:txBody>
      </p:sp>
      <p:sp>
        <p:nvSpPr>
          <p:cNvPr id="4" name="Text 2"/>
          <p:cNvSpPr txBox="1"/>
          <p:nvPr/>
        </p:nvSpPr>
        <p:spPr>
          <a:xfrm>
            <a:off x="548640" y="128016"/>
            <a:ext cx="3488436" cy="274320"/>
          </a:xfrm>
          <a:prstGeom prst="rect">
            <a:avLst/>
          </a:prstGeom>
          <a:noFill/>
          <a:ln/>
        </p:spPr>
        <p:txBody>
          <a:bodyPr wrap="square" lIns="0" tIns="0" rIns="0" bIns="0" rtlCol="0" anchor="ctr"/>
          <a:lstStyle/>
          <a:p>
            <a:pPr marL="0" indent="0" algn="ctr">
              <a:buNone/>
            </a:pPr>
            <a:r>
              <a:rPr lang="en-US" sz="1050" b="1" kern="0" spc="100" dirty="0">
                <a:solidFill>
                  <a:schemeClr val="bg1"/>
                </a:solidFill>
              </a:rPr>
              <a:t>PREGUNTA SECUNDARIA 3 · PÚBLICO LOCAL</a:t>
            </a:r>
            <a:endParaRPr lang="en-US" sz="1050" dirty="0"/>
          </a:p>
        </p:txBody>
      </p:sp>
      <p:sp>
        <p:nvSpPr>
          <p:cNvPr id="5" name="!!panel"/>
          <p:cNvSpPr/>
          <p:nvPr/>
        </p:nvSpPr>
        <p:spPr>
          <a:xfrm>
            <a:off x="6263640" y="1463040"/>
            <a:ext cx="5349240" cy="4526280"/>
          </a:xfrm>
          <a:prstGeom prst="roundRect">
            <a:avLst>
              <a:gd name="adj" fmla="val 3636"/>
            </a:avLst>
          </a:prstGeom>
          <a:solidFill>
            <a:srgbClr val="0C2B22"/>
          </a:solidFill>
          <a:ln w="12700">
            <a:solidFill>
              <a:srgbClr val="0C2B22"/>
            </a:solidFill>
            <a:prstDash val="solid"/>
          </a:ln>
        </p:spPr>
        <p:txBody>
          <a:bodyPr/>
          <a:lstStyle/>
          <a:p>
            <a:endParaRPr lang="es-CO"/>
          </a:p>
        </p:txBody>
      </p:sp>
      <p:sp>
        <p:nvSpPr>
          <p:cNvPr id="6" name="!!ring"/>
          <p:cNvSpPr/>
          <p:nvPr/>
        </p:nvSpPr>
        <p:spPr>
          <a:xfrm>
            <a:off x="10972800" y="384048"/>
            <a:ext cx="731520" cy="731520"/>
          </a:xfrm>
          <a:prstGeom prst="ellipse">
            <a:avLst/>
          </a:prstGeom>
          <a:solidFill>
            <a:srgbClr val="FFFFFF">
              <a:alpha val="0"/>
            </a:srgbClr>
          </a:solidFill>
          <a:ln w="31750">
            <a:solidFill>
              <a:srgbClr val="D64545"/>
            </a:solidFill>
            <a:prstDash val="solid"/>
          </a:ln>
        </p:spPr>
        <p:txBody>
          <a:bodyPr/>
          <a:lstStyle/>
          <a:p>
            <a:endParaRPr lang="es-CO"/>
          </a:p>
        </p:txBody>
      </p:sp>
      <p:sp>
        <p:nvSpPr>
          <p:cNvPr id="7" name="!!ball"/>
          <p:cNvSpPr/>
          <p:nvPr/>
        </p:nvSpPr>
        <p:spPr>
          <a:xfrm>
            <a:off x="11256264" y="667512"/>
            <a:ext cx="164592" cy="164592"/>
          </a:xfrm>
          <a:prstGeom prst="ellipse">
            <a:avLst/>
          </a:prstGeom>
          <a:solidFill>
            <a:srgbClr val="F2B705"/>
          </a:solidFill>
          <a:ln w="12700">
            <a:solidFill>
              <a:srgbClr val="F2B705"/>
            </a:solidFill>
            <a:prstDash val="solid"/>
          </a:ln>
        </p:spPr>
        <p:txBody>
          <a:bodyPr/>
          <a:lstStyle/>
          <a:p>
            <a:endParaRPr lang="es-CO"/>
          </a:p>
        </p:txBody>
      </p:sp>
      <p:sp>
        <p:nvSpPr>
          <p:cNvPr id="8" name="Text 6"/>
          <p:cNvSpPr txBox="1"/>
          <p:nvPr/>
        </p:nvSpPr>
        <p:spPr>
          <a:xfrm>
            <a:off x="548640" y="1463040"/>
            <a:ext cx="5394960" cy="365760"/>
          </a:xfrm>
          <a:prstGeom prst="rect">
            <a:avLst/>
          </a:prstGeom>
          <a:noFill/>
          <a:ln/>
        </p:spPr>
        <p:txBody>
          <a:bodyPr wrap="square" lIns="0" tIns="0" rIns="0" bIns="0" rtlCol="0" anchor="ctr"/>
          <a:lstStyle/>
          <a:p>
            <a:pPr marL="0" indent="0">
              <a:buNone/>
            </a:pPr>
            <a:r>
              <a:rPr lang="en-US" sz="1300" b="1" kern="0" spc="200" dirty="0">
                <a:solidFill>
                  <a:schemeClr val="accent1"/>
                </a:solidFill>
              </a:rPr>
              <a:t>OTROS ESTUDIOS</a:t>
            </a:r>
            <a:endParaRPr lang="en-US" sz="1300" dirty="0"/>
          </a:p>
        </p:txBody>
      </p:sp>
      <p:sp>
        <p:nvSpPr>
          <p:cNvPr id="9" name="Text 7"/>
          <p:cNvSpPr txBox="1"/>
          <p:nvPr/>
        </p:nvSpPr>
        <p:spPr>
          <a:xfrm>
            <a:off x="6583680" y="1600200"/>
            <a:ext cx="4754880" cy="365760"/>
          </a:xfrm>
          <a:prstGeom prst="rect">
            <a:avLst/>
          </a:prstGeom>
          <a:noFill/>
          <a:ln/>
        </p:spPr>
        <p:txBody>
          <a:bodyPr wrap="square" lIns="0" tIns="0" rIns="0" bIns="0" rtlCol="0" anchor="ctr"/>
          <a:lstStyle/>
          <a:p>
            <a:pPr marL="0" indent="0">
              <a:buNone/>
            </a:pPr>
            <a:r>
              <a:rPr lang="en-US" sz="1300" b="1" kern="0" spc="200" dirty="0">
                <a:solidFill>
                  <a:schemeClr val="accent2"/>
                </a:solidFill>
              </a:rPr>
              <a:t>NUESTROS DATOS</a:t>
            </a:r>
            <a:endParaRPr lang="en-US" sz="1300" dirty="0"/>
          </a:p>
        </p:txBody>
      </p:sp>
      <p:sp>
        <p:nvSpPr>
          <p:cNvPr id="10" name="Text 8"/>
          <p:cNvSpPr txBox="1"/>
          <p:nvPr/>
        </p:nvSpPr>
        <p:spPr>
          <a:xfrm>
            <a:off x="548640" y="1965960"/>
            <a:ext cx="5394960" cy="1188720"/>
          </a:xfrm>
          <a:prstGeom prst="rect">
            <a:avLst/>
          </a:prstGeom>
          <a:noFill/>
          <a:ln/>
        </p:spPr>
        <p:txBody>
          <a:bodyPr wrap="square" lIns="0" tIns="0" rIns="0" bIns="0" rtlCol="0" anchor="t"/>
          <a:lstStyle/>
          <a:p>
            <a:pPr marL="0" indent="0">
              <a:buNone/>
            </a:pPr>
            <a:r>
              <a:rPr lang="en-US" sz="1400" b="1" dirty="0">
                <a:solidFill>
                  <a:schemeClr val="tx2"/>
                </a:solidFill>
              </a:rPr>
              <a:t>McCarrick y col. (2021)</a:t>
            </a:r>
            <a:endParaRPr lang="en-US" sz="1400" dirty="0"/>
          </a:p>
          <a:p>
            <a:pPr marL="0" indent="0">
              <a:buNone/>
            </a:pPr>
            <a:r>
              <a:rPr lang="en-US" sz="1400" dirty="0">
                <a:solidFill>
                  <a:schemeClr val="tx1"/>
                </a:solidFill>
              </a:rPr>
              <a:t>4.844 partidos de 11 ligas europeas: la ventaja bajó de 0,39 a 0,22 puntos por partido.</a:t>
            </a:r>
            <a:endParaRPr lang="en-US" sz="1400" dirty="0"/>
          </a:p>
        </p:txBody>
      </p:sp>
      <p:sp>
        <p:nvSpPr>
          <p:cNvPr id="11" name="Text 9"/>
          <p:cNvSpPr txBox="1"/>
          <p:nvPr/>
        </p:nvSpPr>
        <p:spPr>
          <a:xfrm>
            <a:off x="6583680" y="2057400"/>
            <a:ext cx="4754880" cy="1097280"/>
          </a:xfrm>
          <a:prstGeom prst="rect">
            <a:avLst/>
          </a:prstGeom>
          <a:noFill/>
          <a:ln/>
        </p:spPr>
        <p:txBody>
          <a:bodyPr wrap="square" lIns="0" tIns="0" rIns="0" bIns="0" rtlCol="0" anchor="t"/>
          <a:lstStyle/>
          <a:p>
            <a:pPr marL="0" indent="0">
              <a:buNone/>
            </a:pPr>
            <a:r>
              <a:rPr lang="en-US" sz="1500" dirty="0">
                <a:solidFill>
                  <a:schemeClr val="bg1"/>
                </a:solidFill>
              </a:rPr>
              <a:t>LaLiga: de 0,53 a 0,32, en línea. La Premier fue un caso extremo: de 0,40 a −0,01.</a:t>
            </a:r>
            <a:endParaRPr lang="en-US" sz="1500" dirty="0"/>
          </a:p>
        </p:txBody>
      </p:sp>
      <p:sp>
        <p:nvSpPr>
          <p:cNvPr id="12" name="Text 10"/>
          <p:cNvSpPr txBox="1"/>
          <p:nvPr/>
        </p:nvSpPr>
        <p:spPr>
          <a:xfrm>
            <a:off x="548640" y="3291840"/>
            <a:ext cx="5394960" cy="1188720"/>
          </a:xfrm>
          <a:prstGeom prst="rect">
            <a:avLst/>
          </a:prstGeom>
          <a:noFill/>
          <a:ln/>
        </p:spPr>
        <p:txBody>
          <a:bodyPr wrap="square" lIns="0" tIns="0" rIns="0" bIns="0" rtlCol="0" anchor="t"/>
          <a:lstStyle/>
          <a:p>
            <a:pPr marL="0" indent="0">
              <a:buNone/>
            </a:pPr>
            <a:r>
              <a:rPr lang="en-US" sz="1400" b="1" dirty="0">
                <a:solidFill>
                  <a:schemeClr val="tx2"/>
                </a:solidFill>
              </a:rPr>
              <a:t>Bryson y col. (2021)</a:t>
            </a:r>
            <a:endParaRPr lang="en-US" sz="1400" dirty="0"/>
          </a:p>
          <a:p>
            <a:pPr marL="0" indent="0">
              <a:buNone/>
            </a:pPr>
            <a:r>
              <a:rPr lang="en-US" sz="1400" dirty="0">
                <a:solidFill>
                  <a:schemeClr val="tx1"/>
                </a:solidFill>
              </a:rPr>
              <a:t>Sin público, el visitante recibió cerca de un tercio menos de amarillas frente al local.</a:t>
            </a:r>
            <a:endParaRPr lang="en-US" sz="1400" dirty="0"/>
          </a:p>
        </p:txBody>
      </p:sp>
      <p:sp>
        <p:nvSpPr>
          <p:cNvPr id="13" name="Text 11"/>
          <p:cNvSpPr txBox="1"/>
          <p:nvPr/>
        </p:nvSpPr>
        <p:spPr>
          <a:xfrm>
            <a:off x="6583680" y="3383280"/>
            <a:ext cx="4754880" cy="1097280"/>
          </a:xfrm>
          <a:prstGeom prst="rect">
            <a:avLst/>
          </a:prstGeom>
          <a:noFill/>
          <a:ln/>
        </p:spPr>
        <p:txBody>
          <a:bodyPr wrap="square" lIns="0" tIns="0" rIns="0" bIns="0" rtlCol="0" anchor="t"/>
          <a:lstStyle/>
          <a:p>
            <a:pPr marL="0" indent="0">
              <a:buNone/>
            </a:pPr>
            <a:r>
              <a:rPr lang="en-US" sz="1500" dirty="0">
                <a:solidFill>
                  <a:schemeClr val="bg1"/>
                </a:solidFill>
              </a:rPr>
              <a:t>Premier: la diferencia de amarillas pasó de +0,16 a −0,04 por partido.</a:t>
            </a:r>
            <a:endParaRPr lang="en-US" sz="1500" dirty="0"/>
          </a:p>
        </p:txBody>
      </p:sp>
      <p:sp>
        <p:nvSpPr>
          <p:cNvPr id="14" name="Text 12"/>
          <p:cNvSpPr txBox="1"/>
          <p:nvPr/>
        </p:nvSpPr>
        <p:spPr>
          <a:xfrm>
            <a:off x="548640" y="4617720"/>
            <a:ext cx="5394960" cy="1188720"/>
          </a:xfrm>
          <a:prstGeom prst="rect">
            <a:avLst/>
          </a:prstGeom>
          <a:noFill/>
          <a:ln/>
        </p:spPr>
        <p:txBody>
          <a:bodyPr wrap="square" lIns="0" tIns="0" rIns="0" bIns="0" rtlCol="0" anchor="t"/>
          <a:lstStyle/>
          <a:p>
            <a:pPr marL="0" indent="0">
              <a:buNone/>
            </a:pPr>
            <a:r>
              <a:rPr lang="en-US" sz="1400" b="1" dirty="0">
                <a:solidFill>
                  <a:schemeClr val="tx2"/>
                </a:solidFill>
              </a:rPr>
              <a:t>Winkelmann, Deutscher y Ötting (2021)</a:t>
            </a:r>
            <a:endParaRPr lang="en-US" sz="1400" dirty="0"/>
          </a:p>
          <a:p>
            <a:pPr marL="0" indent="0">
              <a:buNone/>
            </a:pPr>
            <a:r>
              <a:rPr lang="en-US" sz="1400" dirty="0">
                <a:solidFill>
                  <a:schemeClr val="tx1"/>
                </a:solidFill>
              </a:rPr>
              <a:t>En la Bundesliga, las casas tardaron en ajustar las cuotas a la ventaja perdida.</a:t>
            </a:r>
            <a:endParaRPr lang="en-US" sz="1400" dirty="0"/>
          </a:p>
        </p:txBody>
      </p:sp>
      <p:sp>
        <p:nvSpPr>
          <p:cNvPr id="15" name="Text 13"/>
          <p:cNvSpPr txBox="1"/>
          <p:nvPr/>
        </p:nvSpPr>
        <p:spPr>
          <a:xfrm>
            <a:off x="6583680" y="4709160"/>
            <a:ext cx="4754880" cy="1097280"/>
          </a:xfrm>
          <a:prstGeom prst="rect">
            <a:avLst/>
          </a:prstGeom>
          <a:noFill/>
          <a:ln/>
        </p:spPr>
        <p:txBody>
          <a:bodyPr wrap="square" lIns="0" tIns="0" rIns="0" bIns="0" rtlCol="0" anchor="t"/>
          <a:lstStyle/>
          <a:p>
            <a:pPr marL="0" indent="0">
              <a:buNone/>
            </a:pPr>
            <a:r>
              <a:rPr lang="en-US" sz="1500" dirty="0">
                <a:solidFill>
                  <a:schemeClr val="bg1"/>
                </a:solidFill>
              </a:rPr>
              <a:t>El precio bajó unos 3,4 pp; brecha global no significativa, pero en 2021 la Premier aún sobrevaloraba al local (−4,2 pp).</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F68"/>
                </a:solidFill>
              </a:defRPr>
            </a:lvl1pPr>
          </a:lstStyle>
          <a:p>
            <a:pPr algn="r"/>
            <a:fld id="{F7021451-1387-4CA6-816F-3879F97B5CBC}" type="slidenum">
              <a:rPr lang="en-US" b="0"/>
              <a:t>24</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68680"/>
          </a:xfrm>
          <a:prstGeom prst="rect">
            <a:avLst/>
          </a:prstGeom>
          <a:noFill/>
          <a:ln/>
        </p:spPr>
        <p:txBody>
          <a:bodyPr wrap="square" lIns="0" tIns="0" rIns="0" bIns="0" rtlCol="0" anchor="ctr"/>
          <a:lstStyle/>
          <a:p>
            <a:pPr marL="0" indent="0" algn="l">
              <a:buNone/>
            </a:pPr>
            <a:r>
              <a:rPr lang="en-US" sz="3400" b="1" dirty="0">
                <a:solidFill>
                  <a:schemeClr val="tx2"/>
                </a:solidFill>
              </a:rPr>
              <a:t>Lo que el diseño permite y no permite concluir</a:t>
            </a:r>
            <a:endParaRPr lang="en-US" sz="3400" dirty="0"/>
          </a:p>
        </p:txBody>
      </p:sp>
      <p:sp>
        <p:nvSpPr>
          <p:cNvPr id="3" name="Shape 1"/>
          <p:cNvSpPr/>
          <p:nvPr/>
        </p:nvSpPr>
        <p:spPr>
          <a:xfrm>
            <a:off x="548640" y="128016"/>
            <a:ext cx="795528" cy="274320"/>
          </a:xfrm>
          <a:prstGeom prst="roundRect">
            <a:avLst>
              <a:gd name="adj" fmla="val 50000"/>
            </a:avLst>
          </a:prstGeom>
          <a:solidFill>
            <a:srgbClr val="5E6F68"/>
          </a:solidFill>
          <a:ln w="12700">
            <a:solidFill>
              <a:srgbClr val="5E6F68"/>
            </a:solidFill>
            <a:prstDash val="solid"/>
          </a:ln>
        </p:spPr>
        <p:txBody>
          <a:bodyPr/>
          <a:lstStyle/>
          <a:p>
            <a:endParaRPr lang="es-CO"/>
          </a:p>
        </p:txBody>
      </p:sp>
      <p:sp>
        <p:nvSpPr>
          <p:cNvPr id="4" name="Text 2"/>
          <p:cNvSpPr txBox="1"/>
          <p:nvPr/>
        </p:nvSpPr>
        <p:spPr>
          <a:xfrm>
            <a:off x="548640" y="128016"/>
            <a:ext cx="795528" cy="274320"/>
          </a:xfrm>
          <a:prstGeom prst="rect">
            <a:avLst/>
          </a:prstGeom>
          <a:noFill/>
          <a:ln/>
        </p:spPr>
        <p:txBody>
          <a:bodyPr wrap="square" lIns="0" tIns="0" rIns="0" bIns="0" rtlCol="0" anchor="ctr"/>
          <a:lstStyle/>
          <a:p>
            <a:pPr marL="0" indent="0" algn="ctr">
              <a:buNone/>
            </a:pPr>
            <a:r>
              <a:rPr lang="en-US" sz="1050" b="1" kern="0" spc="100" dirty="0">
                <a:solidFill>
                  <a:schemeClr val="bg1"/>
                </a:solidFill>
              </a:rPr>
              <a:t>CIERRE</a:t>
            </a:r>
            <a:endParaRPr lang="en-US" sz="1050" dirty="0"/>
          </a:p>
        </p:txBody>
      </p:sp>
      <p:sp>
        <p:nvSpPr>
          <p:cNvPr id="5" name="!!panel"/>
          <p:cNvSpPr/>
          <p:nvPr/>
        </p:nvSpPr>
        <p:spPr>
          <a:xfrm>
            <a:off x="548640" y="1463040"/>
            <a:ext cx="4754880" cy="4526280"/>
          </a:xfrm>
          <a:prstGeom prst="roundRect">
            <a:avLst>
              <a:gd name="adj" fmla="val 3636"/>
            </a:avLst>
          </a:prstGeom>
          <a:solidFill>
            <a:srgbClr val="0C2B22"/>
          </a:solidFill>
          <a:ln w="12700">
            <a:solidFill>
              <a:srgbClr val="0C2B22"/>
            </a:solidFill>
            <a:prstDash val="solid"/>
          </a:ln>
        </p:spPr>
        <p:txBody>
          <a:bodyPr/>
          <a:lstStyle/>
          <a:p>
            <a:endParaRPr lang="es-CO"/>
          </a:p>
        </p:txBody>
      </p:sp>
      <p:sp>
        <p:nvSpPr>
          <p:cNvPr id="6" name="!!ring"/>
          <p:cNvSpPr/>
          <p:nvPr/>
        </p:nvSpPr>
        <p:spPr>
          <a:xfrm>
            <a:off x="10972800" y="384048"/>
            <a:ext cx="731520" cy="731520"/>
          </a:xfrm>
          <a:prstGeom prst="ellipse">
            <a:avLst/>
          </a:prstGeom>
          <a:solidFill>
            <a:srgbClr val="FFFFFF">
              <a:alpha val="0"/>
            </a:srgbClr>
          </a:solidFill>
          <a:ln w="31750">
            <a:solidFill>
              <a:srgbClr val="1F8A5B"/>
            </a:solidFill>
            <a:prstDash val="solid"/>
          </a:ln>
        </p:spPr>
        <p:txBody>
          <a:bodyPr/>
          <a:lstStyle/>
          <a:p>
            <a:endParaRPr lang="es-CO"/>
          </a:p>
        </p:txBody>
      </p:sp>
      <p:sp>
        <p:nvSpPr>
          <p:cNvPr id="7" name="!!ball"/>
          <p:cNvSpPr/>
          <p:nvPr/>
        </p:nvSpPr>
        <p:spPr>
          <a:xfrm>
            <a:off x="11256264" y="667512"/>
            <a:ext cx="164592" cy="164592"/>
          </a:xfrm>
          <a:prstGeom prst="ellipse">
            <a:avLst/>
          </a:prstGeom>
          <a:solidFill>
            <a:srgbClr val="F2B705"/>
          </a:solidFill>
          <a:ln w="12700">
            <a:solidFill>
              <a:srgbClr val="F2B705"/>
            </a:solidFill>
            <a:prstDash val="solid"/>
          </a:ln>
        </p:spPr>
        <p:txBody>
          <a:bodyPr/>
          <a:lstStyle/>
          <a:p>
            <a:endParaRPr lang="es-CO"/>
          </a:p>
        </p:txBody>
      </p:sp>
      <p:sp>
        <p:nvSpPr>
          <p:cNvPr id="8" name="Text 6"/>
          <p:cNvSpPr txBox="1"/>
          <p:nvPr/>
        </p:nvSpPr>
        <p:spPr>
          <a:xfrm>
            <a:off x="868680" y="1691640"/>
            <a:ext cx="4206240" cy="548640"/>
          </a:xfrm>
          <a:prstGeom prst="rect">
            <a:avLst/>
          </a:prstGeom>
          <a:noFill/>
          <a:ln/>
        </p:spPr>
        <p:txBody>
          <a:bodyPr wrap="square" lIns="0" tIns="0" rIns="0" bIns="0" rtlCol="0" anchor="ctr"/>
          <a:lstStyle/>
          <a:p>
            <a:pPr marL="0" indent="0">
              <a:buNone/>
            </a:pPr>
            <a:r>
              <a:rPr lang="en-US" sz="2200" b="1" dirty="0">
                <a:solidFill>
                  <a:schemeClr val="accent2"/>
                </a:solidFill>
              </a:rPr>
              <a:t>Significancia ≠ relevancia</a:t>
            </a:r>
            <a:endParaRPr lang="en-US" sz="2200" dirty="0"/>
          </a:p>
        </p:txBody>
      </p:sp>
      <p:sp>
        <p:nvSpPr>
          <p:cNvPr id="9" name="Text 7"/>
          <p:cNvSpPr txBox="1"/>
          <p:nvPr/>
        </p:nvSpPr>
        <p:spPr>
          <a:xfrm>
            <a:off x="868680" y="2331720"/>
            <a:ext cx="4160520" cy="3474720"/>
          </a:xfrm>
          <a:prstGeom prst="rect">
            <a:avLst/>
          </a:prstGeom>
          <a:noFill/>
          <a:ln/>
        </p:spPr>
        <p:txBody>
          <a:bodyPr wrap="square" lIns="0" tIns="0" rIns="0" bIns="0" rtlCol="0" anchor="t"/>
          <a:lstStyle/>
          <a:p>
            <a:pPr marL="0" indent="0">
              <a:spcAft>
                <a:spcPts val="600"/>
              </a:spcAft>
              <a:buNone/>
            </a:pPr>
            <a:r>
              <a:rPr lang="en-US" sz="1550" dirty="0">
                <a:solidFill>
                  <a:schemeClr val="bg1"/>
                </a:solidFill>
              </a:rPr>
              <a:t>Con miles de partidos cualquier desviación mínima podría ser "significativa". Por eso reportamos siempre la magnitud en puntos porcentuales: un error medio de 2,6–3,0 pp por resultado.</a:t>
            </a:r>
            <a:endParaRPr lang="en-US" sz="1550" dirty="0"/>
          </a:p>
          <a:p>
            <a:pPr marL="0" indent="0">
              <a:spcAft>
                <a:spcPts val="600"/>
              </a:spcAft>
              <a:buNone/>
            </a:pPr>
            <a:r>
              <a:rPr lang="en-US" sz="1550" dirty="0">
                <a:solidFill>
                  <a:schemeClr val="bg1"/>
                </a:solidFill>
              </a:rPr>
              <a:t> </a:t>
            </a:r>
            <a:endParaRPr lang="en-US" sz="1550" dirty="0"/>
          </a:p>
          <a:p>
            <a:pPr marL="0" indent="0">
              <a:spcAft>
                <a:spcPts val="600"/>
              </a:spcAft>
              <a:buNone/>
            </a:pPr>
            <a:r>
              <a:rPr lang="en-US" sz="1550" b="1" dirty="0">
                <a:solidFill>
                  <a:schemeClr val="bg1"/>
                </a:solidFill>
              </a:rPr>
              <a:t>No significativo ≠ sin efecto: por eso usamos equivalencia y efecto mínimo detectable.</a:t>
            </a:r>
            <a:endParaRPr lang="en-US" sz="1550" dirty="0"/>
          </a:p>
        </p:txBody>
      </p:sp>
      <p:sp>
        <p:nvSpPr>
          <p:cNvPr id="10" name="Shape 8"/>
          <p:cNvSpPr/>
          <p:nvPr/>
        </p:nvSpPr>
        <p:spPr>
          <a:xfrm>
            <a:off x="5760720" y="1554480"/>
            <a:ext cx="685800" cy="685800"/>
          </a:xfrm>
          <a:prstGeom prst="ellipse">
            <a:avLst/>
          </a:prstGeom>
          <a:solidFill>
            <a:srgbClr val="1F8A5B"/>
          </a:solidFill>
          <a:ln w="12700">
            <a:solidFill>
              <a:srgbClr val="1F8A5B"/>
            </a:solidFill>
            <a:prstDash val="solid"/>
          </a:ln>
        </p:spPr>
        <p:txBody>
          <a:bodyPr/>
          <a:lstStyle/>
          <a:p>
            <a:endParaRPr lang="es-CO"/>
          </a:p>
        </p:txBody>
      </p:sp>
      <p:pic>
        <p:nvPicPr>
          <p:cNvPr id="11" name="Image 0" descr="preencoded.png"/>
          <p:cNvPicPr>
            <a:picLocks noChangeAspect="1"/>
          </p:cNvPicPr>
          <p:nvPr/>
        </p:nvPicPr>
        <p:blipFill>
          <a:blip r:embed="rId3"/>
          <a:stretch>
            <a:fillRect/>
          </a:stretch>
        </p:blipFill>
        <p:spPr>
          <a:xfrm>
            <a:off x="5939028" y="1732788"/>
            <a:ext cx="329184" cy="329184"/>
          </a:xfrm>
          <a:prstGeom prst="rect">
            <a:avLst/>
          </a:prstGeom>
        </p:spPr>
      </p:pic>
      <p:sp>
        <p:nvSpPr>
          <p:cNvPr id="12" name="Text 9"/>
          <p:cNvSpPr txBox="1"/>
          <p:nvPr/>
        </p:nvSpPr>
        <p:spPr>
          <a:xfrm>
            <a:off x="6629400" y="1508760"/>
            <a:ext cx="4983480" cy="960120"/>
          </a:xfrm>
          <a:prstGeom prst="rect">
            <a:avLst/>
          </a:prstGeom>
          <a:noFill/>
          <a:ln/>
        </p:spPr>
        <p:txBody>
          <a:bodyPr wrap="square" lIns="0" tIns="0" rIns="0" bIns="0" rtlCol="0" anchor="t"/>
          <a:lstStyle/>
          <a:p>
            <a:pPr marL="0" indent="0">
              <a:buNone/>
            </a:pPr>
            <a:r>
              <a:rPr lang="en-US" sz="1400" b="1" dirty="0">
                <a:solidFill>
                  <a:schemeClr val="tx2"/>
                </a:solidFill>
              </a:rPr>
              <a:t>Potencia</a:t>
            </a:r>
            <a:endParaRPr lang="en-US" sz="1400" dirty="0"/>
          </a:p>
          <a:p>
            <a:pPr marL="0" indent="0">
              <a:buNone/>
            </a:pPr>
            <a:r>
              <a:rPr lang="en-US" sz="1400" dirty="0">
                <a:solidFill>
                  <a:schemeClr val="tx1"/>
                </a:solidFill>
              </a:rPr>
              <a:t>Solo se detectan pendientes ≥ 1,5 pp por 10 pp; el sesgo de LaLiga (≈ 1,0) queda sin resolver.</a:t>
            </a:r>
            <a:endParaRPr lang="en-US" sz="1400" dirty="0"/>
          </a:p>
        </p:txBody>
      </p:sp>
      <p:sp>
        <p:nvSpPr>
          <p:cNvPr id="13" name="Shape 10"/>
          <p:cNvSpPr/>
          <p:nvPr/>
        </p:nvSpPr>
        <p:spPr>
          <a:xfrm>
            <a:off x="5760720" y="2670048"/>
            <a:ext cx="685800" cy="685800"/>
          </a:xfrm>
          <a:prstGeom prst="ellipse">
            <a:avLst/>
          </a:prstGeom>
          <a:solidFill>
            <a:srgbClr val="1F8A5B"/>
          </a:solidFill>
          <a:ln w="12700">
            <a:solidFill>
              <a:srgbClr val="1F8A5B"/>
            </a:solidFill>
            <a:prstDash val="solid"/>
          </a:ln>
        </p:spPr>
        <p:txBody>
          <a:bodyPr/>
          <a:lstStyle/>
          <a:p>
            <a:endParaRPr lang="es-CO"/>
          </a:p>
        </p:txBody>
      </p:sp>
      <p:pic>
        <p:nvPicPr>
          <p:cNvPr id="14" name="Image 1" descr="preencoded.png"/>
          <p:cNvPicPr>
            <a:picLocks noChangeAspect="1"/>
          </p:cNvPicPr>
          <p:nvPr/>
        </p:nvPicPr>
        <p:blipFill>
          <a:blip r:embed="rId4"/>
          <a:stretch>
            <a:fillRect/>
          </a:stretch>
        </p:blipFill>
        <p:spPr>
          <a:xfrm>
            <a:off x="5939028" y="2848356"/>
            <a:ext cx="329184" cy="329184"/>
          </a:xfrm>
          <a:prstGeom prst="rect">
            <a:avLst/>
          </a:prstGeom>
        </p:spPr>
      </p:pic>
      <p:sp>
        <p:nvSpPr>
          <p:cNvPr id="15" name="Text 11"/>
          <p:cNvSpPr txBox="1"/>
          <p:nvPr/>
        </p:nvSpPr>
        <p:spPr>
          <a:xfrm>
            <a:off x="6629400" y="2624328"/>
            <a:ext cx="4983480" cy="960120"/>
          </a:xfrm>
          <a:prstGeom prst="rect">
            <a:avLst/>
          </a:prstGeom>
          <a:noFill/>
          <a:ln/>
        </p:spPr>
        <p:txBody>
          <a:bodyPr wrap="square" lIns="0" tIns="0" rIns="0" bIns="0" rtlCol="0" anchor="t"/>
          <a:lstStyle/>
          <a:p>
            <a:pPr marL="0" indent="0">
              <a:buNone/>
            </a:pPr>
            <a:r>
              <a:rPr lang="en-US" sz="1400" b="1" dirty="0">
                <a:solidFill>
                  <a:schemeClr val="tx2"/>
                </a:solidFill>
              </a:rPr>
              <a:t>Especificación</a:t>
            </a:r>
            <a:endParaRPr lang="en-US" sz="1400" dirty="0"/>
          </a:p>
          <a:p>
            <a:pPr marL="0" indent="0">
              <a:buNone/>
            </a:pPr>
            <a:r>
              <a:rPr lang="en-US" sz="1400" dirty="0">
                <a:solidFill>
                  <a:schemeClr val="tx1"/>
                </a:solidFill>
              </a:rPr>
              <a:t>Método, grupos y umbrales cambian algunos resultados; se reportan todas las variantes.</a:t>
            </a:r>
            <a:endParaRPr lang="en-US" sz="1400" dirty="0"/>
          </a:p>
        </p:txBody>
      </p:sp>
      <p:sp>
        <p:nvSpPr>
          <p:cNvPr id="16" name="Shape 12"/>
          <p:cNvSpPr/>
          <p:nvPr/>
        </p:nvSpPr>
        <p:spPr>
          <a:xfrm>
            <a:off x="5760720" y="3785616"/>
            <a:ext cx="685800" cy="685800"/>
          </a:xfrm>
          <a:prstGeom prst="ellipse">
            <a:avLst/>
          </a:prstGeom>
          <a:solidFill>
            <a:srgbClr val="1F8A5B"/>
          </a:solidFill>
          <a:ln w="12700">
            <a:solidFill>
              <a:srgbClr val="1F8A5B"/>
            </a:solidFill>
            <a:prstDash val="solid"/>
          </a:ln>
        </p:spPr>
        <p:txBody>
          <a:bodyPr/>
          <a:lstStyle/>
          <a:p>
            <a:endParaRPr lang="es-CO"/>
          </a:p>
        </p:txBody>
      </p:sp>
      <p:pic>
        <p:nvPicPr>
          <p:cNvPr id="17" name="Image 2" descr="preencoded.png"/>
          <p:cNvPicPr>
            <a:picLocks noChangeAspect="1"/>
          </p:cNvPicPr>
          <p:nvPr/>
        </p:nvPicPr>
        <p:blipFill>
          <a:blip r:embed="rId5"/>
          <a:stretch>
            <a:fillRect/>
          </a:stretch>
        </p:blipFill>
        <p:spPr>
          <a:xfrm>
            <a:off x="5939028" y="3963924"/>
            <a:ext cx="329184" cy="329184"/>
          </a:xfrm>
          <a:prstGeom prst="rect">
            <a:avLst/>
          </a:prstGeom>
        </p:spPr>
      </p:pic>
      <p:sp>
        <p:nvSpPr>
          <p:cNvPr id="18" name="Text 13"/>
          <p:cNvSpPr txBox="1"/>
          <p:nvPr/>
        </p:nvSpPr>
        <p:spPr>
          <a:xfrm>
            <a:off x="6629400" y="3739896"/>
            <a:ext cx="4983480" cy="960120"/>
          </a:xfrm>
          <a:prstGeom prst="rect">
            <a:avLst/>
          </a:prstGeom>
          <a:noFill/>
          <a:ln/>
        </p:spPr>
        <p:txBody>
          <a:bodyPr wrap="square" lIns="0" tIns="0" rIns="0" bIns="0" rtlCol="0" anchor="t"/>
          <a:lstStyle/>
          <a:p>
            <a:pPr marL="0" indent="0">
              <a:buNone/>
            </a:pPr>
            <a:r>
              <a:rPr lang="en-US" sz="1400" b="1" dirty="0">
                <a:solidFill>
                  <a:schemeClr val="tx2"/>
                </a:solidFill>
              </a:rPr>
              <a:t>Causalidad</a:t>
            </a:r>
            <a:endParaRPr lang="en-US" sz="1400" dirty="0"/>
          </a:p>
          <a:p>
            <a:pPr marL="0" indent="0">
              <a:buNone/>
            </a:pPr>
            <a:r>
              <a:rPr lang="en-US" sz="1400" dirty="0">
                <a:solidFill>
                  <a:schemeClr val="tx1"/>
                </a:solidFill>
              </a:rPr>
              <a:t>La pandemia cambió más cosas que el público; la reanudación de 2019/20 no muestra caída.</a:t>
            </a:r>
            <a:endParaRPr lang="en-US" sz="1400" dirty="0"/>
          </a:p>
        </p:txBody>
      </p:sp>
      <p:sp>
        <p:nvSpPr>
          <p:cNvPr id="19" name="Shape 14"/>
          <p:cNvSpPr/>
          <p:nvPr/>
        </p:nvSpPr>
        <p:spPr>
          <a:xfrm>
            <a:off x="5760720" y="4901184"/>
            <a:ext cx="685800" cy="685800"/>
          </a:xfrm>
          <a:prstGeom prst="ellipse">
            <a:avLst/>
          </a:prstGeom>
          <a:solidFill>
            <a:srgbClr val="1F8A5B"/>
          </a:solidFill>
          <a:ln w="12700">
            <a:solidFill>
              <a:srgbClr val="1F8A5B"/>
            </a:solidFill>
            <a:prstDash val="solid"/>
          </a:ln>
        </p:spPr>
        <p:txBody>
          <a:bodyPr/>
          <a:lstStyle/>
          <a:p>
            <a:endParaRPr lang="es-CO"/>
          </a:p>
        </p:txBody>
      </p:sp>
      <p:pic>
        <p:nvPicPr>
          <p:cNvPr id="20" name="Image 3" descr="preencoded.png"/>
          <p:cNvPicPr>
            <a:picLocks noChangeAspect="1"/>
          </p:cNvPicPr>
          <p:nvPr/>
        </p:nvPicPr>
        <p:blipFill>
          <a:blip r:embed="rId6"/>
          <a:stretch>
            <a:fillRect/>
          </a:stretch>
        </p:blipFill>
        <p:spPr>
          <a:xfrm>
            <a:off x="5939028" y="5079492"/>
            <a:ext cx="329184" cy="329184"/>
          </a:xfrm>
          <a:prstGeom prst="rect">
            <a:avLst/>
          </a:prstGeom>
        </p:spPr>
      </p:pic>
      <p:sp>
        <p:nvSpPr>
          <p:cNvPr id="21" name="Text 15"/>
          <p:cNvSpPr txBox="1"/>
          <p:nvPr/>
        </p:nvSpPr>
        <p:spPr>
          <a:xfrm>
            <a:off x="6629400" y="4855464"/>
            <a:ext cx="4983480" cy="960120"/>
          </a:xfrm>
          <a:prstGeom prst="rect">
            <a:avLst/>
          </a:prstGeom>
          <a:noFill/>
          <a:ln/>
        </p:spPr>
        <p:txBody>
          <a:bodyPr wrap="square" lIns="0" tIns="0" rIns="0" bIns="0" rtlCol="0" anchor="t"/>
          <a:lstStyle/>
          <a:p>
            <a:pPr marL="0" indent="0">
              <a:buNone/>
            </a:pPr>
            <a:r>
              <a:rPr lang="en-US" sz="1400" b="1" dirty="0">
                <a:solidFill>
                  <a:schemeClr val="tx2"/>
                </a:solidFill>
              </a:rPr>
              <a:t>Cobertura</a:t>
            </a:r>
            <a:endParaRPr lang="en-US" sz="1400" dirty="0"/>
          </a:p>
          <a:p>
            <a:pPr marL="0" indent="0">
              <a:buNone/>
            </a:pPr>
            <a:r>
              <a:rPr lang="en-US" sz="1400" dirty="0">
                <a:solidFill>
                  <a:schemeClr val="tx1"/>
                </a:solidFill>
              </a:rPr>
              <a:t>Dos casas, solo cierre; Bet365 sin cuotas de cierre antes de 2019/20; Pinnacle cortado en 2025.</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F68"/>
                </a:solidFill>
              </a:defRPr>
            </a:lvl1pPr>
          </a:lstStyle>
          <a:p>
            <a:pPr algn="r"/>
            <a:fld id="{F7021451-1387-4CA6-816F-3879F97B5CBC}" type="slidenum">
              <a:rPr lang="en-US" b="0"/>
              <a:t>25</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68680"/>
          </a:xfrm>
          <a:prstGeom prst="rect">
            <a:avLst/>
          </a:prstGeom>
          <a:noFill/>
          <a:ln/>
        </p:spPr>
        <p:txBody>
          <a:bodyPr wrap="square" lIns="0" tIns="0" rIns="0" bIns="0" rtlCol="0" anchor="ctr"/>
          <a:lstStyle/>
          <a:p>
            <a:pPr marL="0" indent="0" algn="l">
              <a:buNone/>
            </a:pPr>
            <a:r>
              <a:rPr lang="en-US" sz="3400" b="1" dirty="0">
                <a:solidFill>
                  <a:schemeClr val="tx2"/>
                </a:solidFill>
              </a:rPr>
              <a:t>Conclusiones</a:t>
            </a:r>
            <a:endParaRPr lang="en-US" sz="3400" dirty="0"/>
          </a:p>
        </p:txBody>
      </p:sp>
      <p:sp>
        <p:nvSpPr>
          <p:cNvPr id="3" name="Shape 1"/>
          <p:cNvSpPr/>
          <p:nvPr/>
        </p:nvSpPr>
        <p:spPr>
          <a:xfrm>
            <a:off x="548640" y="128016"/>
            <a:ext cx="795528" cy="274320"/>
          </a:xfrm>
          <a:prstGeom prst="roundRect">
            <a:avLst>
              <a:gd name="adj" fmla="val 50000"/>
            </a:avLst>
          </a:prstGeom>
          <a:solidFill>
            <a:srgbClr val="5E6F68"/>
          </a:solidFill>
          <a:ln w="12700">
            <a:solidFill>
              <a:srgbClr val="5E6F68"/>
            </a:solidFill>
            <a:prstDash val="solid"/>
          </a:ln>
        </p:spPr>
        <p:txBody>
          <a:bodyPr/>
          <a:lstStyle/>
          <a:p>
            <a:endParaRPr lang="es-CO"/>
          </a:p>
        </p:txBody>
      </p:sp>
      <p:sp>
        <p:nvSpPr>
          <p:cNvPr id="4" name="Text 2"/>
          <p:cNvSpPr txBox="1"/>
          <p:nvPr/>
        </p:nvSpPr>
        <p:spPr>
          <a:xfrm>
            <a:off x="548640" y="128016"/>
            <a:ext cx="795528" cy="274320"/>
          </a:xfrm>
          <a:prstGeom prst="rect">
            <a:avLst/>
          </a:prstGeom>
          <a:noFill/>
          <a:ln/>
        </p:spPr>
        <p:txBody>
          <a:bodyPr wrap="square" lIns="0" tIns="0" rIns="0" bIns="0" rtlCol="0" anchor="ctr"/>
          <a:lstStyle/>
          <a:p>
            <a:pPr marL="0" indent="0" algn="ctr">
              <a:buNone/>
            </a:pPr>
            <a:r>
              <a:rPr lang="en-US" sz="1050" b="1" kern="0" spc="100" dirty="0">
                <a:solidFill>
                  <a:schemeClr val="bg1"/>
                </a:solidFill>
              </a:rPr>
              <a:t>CIERRE</a:t>
            </a:r>
            <a:endParaRPr lang="en-US" sz="1050" dirty="0"/>
          </a:p>
        </p:txBody>
      </p:sp>
      <p:sp>
        <p:nvSpPr>
          <p:cNvPr id="5" name="!!panel"/>
          <p:cNvSpPr/>
          <p:nvPr/>
        </p:nvSpPr>
        <p:spPr>
          <a:xfrm>
            <a:off x="548640" y="1463040"/>
            <a:ext cx="11064240" cy="1417320"/>
          </a:xfrm>
          <a:prstGeom prst="roundRect">
            <a:avLst>
              <a:gd name="adj" fmla="val 11613"/>
            </a:avLst>
          </a:prstGeom>
          <a:solidFill>
            <a:srgbClr val="0C2B22"/>
          </a:solidFill>
          <a:ln w="12700">
            <a:solidFill>
              <a:srgbClr val="0C2B22"/>
            </a:solidFill>
            <a:prstDash val="solid"/>
          </a:ln>
        </p:spPr>
        <p:txBody>
          <a:bodyPr/>
          <a:lstStyle/>
          <a:p>
            <a:endParaRPr lang="es-CO"/>
          </a:p>
        </p:txBody>
      </p:sp>
      <p:sp>
        <p:nvSpPr>
          <p:cNvPr id="6" name="!!ring"/>
          <p:cNvSpPr/>
          <p:nvPr/>
        </p:nvSpPr>
        <p:spPr>
          <a:xfrm>
            <a:off x="10972800" y="384048"/>
            <a:ext cx="731520" cy="731520"/>
          </a:xfrm>
          <a:prstGeom prst="ellipse">
            <a:avLst/>
          </a:prstGeom>
          <a:solidFill>
            <a:srgbClr val="FFFFFF">
              <a:alpha val="0"/>
            </a:srgbClr>
          </a:solidFill>
          <a:ln w="31750">
            <a:solidFill>
              <a:srgbClr val="1F8A5B"/>
            </a:solidFill>
            <a:prstDash val="solid"/>
          </a:ln>
        </p:spPr>
        <p:txBody>
          <a:bodyPr/>
          <a:lstStyle/>
          <a:p>
            <a:endParaRPr lang="es-CO"/>
          </a:p>
        </p:txBody>
      </p:sp>
      <p:sp>
        <p:nvSpPr>
          <p:cNvPr id="7" name="!!ball"/>
          <p:cNvSpPr/>
          <p:nvPr/>
        </p:nvSpPr>
        <p:spPr>
          <a:xfrm>
            <a:off x="11256264" y="667512"/>
            <a:ext cx="164592" cy="164592"/>
          </a:xfrm>
          <a:prstGeom prst="ellipse">
            <a:avLst/>
          </a:prstGeom>
          <a:solidFill>
            <a:srgbClr val="F2B705"/>
          </a:solidFill>
          <a:ln w="12700">
            <a:solidFill>
              <a:srgbClr val="F2B705"/>
            </a:solidFill>
            <a:prstDash val="solid"/>
          </a:ln>
        </p:spPr>
        <p:txBody>
          <a:bodyPr/>
          <a:lstStyle/>
          <a:p>
            <a:endParaRPr lang="es-CO"/>
          </a:p>
        </p:txBody>
      </p:sp>
      <p:sp>
        <p:nvSpPr>
          <p:cNvPr id="8" name="Text 6"/>
          <p:cNvSpPr txBox="1"/>
          <p:nvPr/>
        </p:nvSpPr>
        <p:spPr>
          <a:xfrm>
            <a:off x="868680" y="1554480"/>
            <a:ext cx="10424160" cy="1234440"/>
          </a:xfrm>
          <a:prstGeom prst="rect">
            <a:avLst/>
          </a:prstGeom>
          <a:noFill/>
          <a:ln/>
        </p:spPr>
        <p:txBody>
          <a:bodyPr wrap="square" lIns="0" tIns="0" rIns="0" bIns="0" rtlCol="0" anchor="ctr"/>
          <a:lstStyle/>
          <a:p>
            <a:pPr marL="0" indent="0">
              <a:buNone/>
            </a:pPr>
            <a:r>
              <a:rPr lang="en-US" sz="2100" b="1" dirty="0">
                <a:solidFill>
                  <a:schemeClr val="bg1"/>
                </a:solidFill>
              </a:rPr>
              <a:t>Las casas pronostican bien. Parte del sesgo que se ve viene del método para quitar el margen, y la falta de público se asoció con menos ventaja de local en la Premier.</a:t>
            </a:r>
            <a:endParaRPr lang="en-US" sz="2100" dirty="0"/>
          </a:p>
        </p:txBody>
      </p:sp>
      <p:sp>
        <p:nvSpPr>
          <p:cNvPr id="9" name="Shape 7"/>
          <p:cNvSpPr/>
          <p:nvPr/>
        </p:nvSpPr>
        <p:spPr>
          <a:xfrm>
            <a:off x="548640" y="3154680"/>
            <a:ext cx="2606040" cy="2880360"/>
          </a:xfrm>
          <a:prstGeom prst="roundRect">
            <a:avLst>
              <a:gd name="adj" fmla="val 6316"/>
            </a:avLst>
          </a:prstGeom>
          <a:solidFill>
            <a:srgbClr val="EEF3F0"/>
          </a:solidFill>
          <a:ln w="12700">
            <a:solidFill>
              <a:srgbClr val="EEF3F0"/>
            </a:solidFill>
            <a:prstDash val="solid"/>
          </a:ln>
        </p:spPr>
        <p:txBody>
          <a:bodyPr/>
          <a:lstStyle/>
          <a:p>
            <a:endParaRPr lang="es-CO"/>
          </a:p>
        </p:txBody>
      </p:sp>
      <p:sp>
        <p:nvSpPr>
          <p:cNvPr id="10" name="Shape 8"/>
          <p:cNvSpPr/>
          <p:nvPr/>
        </p:nvSpPr>
        <p:spPr>
          <a:xfrm>
            <a:off x="822960" y="3383280"/>
            <a:ext cx="731520" cy="731520"/>
          </a:xfrm>
          <a:prstGeom prst="ellipse">
            <a:avLst/>
          </a:prstGeom>
          <a:solidFill>
            <a:srgbClr val="1F8A5B"/>
          </a:solidFill>
          <a:ln w="12700">
            <a:solidFill>
              <a:srgbClr val="1F8A5B"/>
            </a:solidFill>
            <a:prstDash val="solid"/>
          </a:ln>
        </p:spPr>
        <p:txBody>
          <a:bodyPr/>
          <a:lstStyle/>
          <a:p>
            <a:endParaRPr lang="es-CO"/>
          </a:p>
        </p:txBody>
      </p:sp>
      <p:pic>
        <p:nvPicPr>
          <p:cNvPr id="11" name="Image 0" descr="preencoded.png"/>
          <p:cNvPicPr>
            <a:picLocks noChangeAspect="1"/>
          </p:cNvPicPr>
          <p:nvPr/>
        </p:nvPicPr>
        <p:blipFill>
          <a:blip r:embed="rId3"/>
          <a:stretch>
            <a:fillRect/>
          </a:stretch>
        </p:blipFill>
        <p:spPr>
          <a:xfrm>
            <a:off x="1013155" y="3573475"/>
            <a:ext cx="351130" cy="351130"/>
          </a:xfrm>
          <a:prstGeom prst="rect">
            <a:avLst/>
          </a:prstGeom>
        </p:spPr>
      </p:pic>
      <p:sp>
        <p:nvSpPr>
          <p:cNvPr id="12" name="Text 9"/>
          <p:cNvSpPr txBox="1"/>
          <p:nvPr/>
        </p:nvSpPr>
        <p:spPr>
          <a:xfrm>
            <a:off x="822960" y="4251960"/>
            <a:ext cx="2103120" cy="457200"/>
          </a:xfrm>
          <a:prstGeom prst="rect">
            <a:avLst/>
          </a:prstGeom>
          <a:noFill/>
          <a:ln/>
        </p:spPr>
        <p:txBody>
          <a:bodyPr wrap="square" lIns="0" tIns="0" rIns="0" bIns="0" rtlCol="0" anchor="ctr"/>
          <a:lstStyle/>
          <a:p>
            <a:pPr marL="0" indent="0">
              <a:buNone/>
            </a:pPr>
            <a:r>
              <a:rPr lang="en-US" sz="1800" b="1" dirty="0">
                <a:solidFill>
                  <a:schemeClr val="tx2"/>
                </a:solidFill>
              </a:rPr>
              <a:t>Principal</a:t>
            </a:r>
            <a:endParaRPr lang="en-US" sz="1800" dirty="0"/>
          </a:p>
        </p:txBody>
      </p:sp>
      <p:sp>
        <p:nvSpPr>
          <p:cNvPr id="13" name="Text 10"/>
          <p:cNvSpPr txBox="1"/>
          <p:nvPr/>
        </p:nvSpPr>
        <p:spPr>
          <a:xfrm>
            <a:off x="822960" y="4709160"/>
            <a:ext cx="2103120" cy="1188720"/>
          </a:xfrm>
          <a:prstGeom prst="rect">
            <a:avLst/>
          </a:prstGeom>
          <a:noFill/>
          <a:ln/>
        </p:spPr>
        <p:txBody>
          <a:bodyPr wrap="square" lIns="0" tIns="0" rIns="0" bIns="0" rtlCol="0" anchor="t"/>
          <a:lstStyle/>
          <a:p>
            <a:pPr marL="0" indent="0">
              <a:buNone/>
            </a:pPr>
            <a:r>
              <a:rPr lang="en-US" sz="1400" dirty="0">
                <a:solidFill>
                  <a:schemeClr val="tx1"/>
                </a:solidFill>
              </a:rPr>
              <a:t>ECE igual al de un pronóstico perfecto. Premier sin sesgo; LaLiga no concluyente.</a:t>
            </a:r>
            <a:endParaRPr lang="en-US" sz="1400" dirty="0"/>
          </a:p>
        </p:txBody>
      </p:sp>
      <p:sp>
        <p:nvSpPr>
          <p:cNvPr id="14" name="Shape 11"/>
          <p:cNvSpPr/>
          <p:nvPr/>
        </p:nvSpPr>
        <p:spPr>
          <a:xfrm>
            <a:off x="3383280" y="3154680"/>
            <a:ext cx="2606040" cy="2880360"/>
          </a:xfrm>
          <a:prstGeom prst="roundRect">
            <a:avLst>
              <a:gd name="adj" fmla="val 6316"/>
            </a:avLst>
          </a:prstGeom>
          <a:solidFill>
            <a:srgbClr val="EEF3F0"/>
          </a:solidFill>
          <a:ln w="12700">
            <a:solidFill>
              <a:srgbClr val="EEF3F0"/>
            </a:solidFill>
            <a:prstDash val="solid"/>
          </a:ln>
        </p:spPr>
        <p:txBody>
          <a:bodyPr/>
          <a:lstStyle/>
          <a:p>
            <a:endParaRPr lang="es-CO"/>
          </a:p>
        </p:txBody>
      </p:sp>
      <p:sp>
        <p:nvSpPr>
          <p:cNvPr id="15" name="Shape 12"/>
          <p:cNvSpPr/>
          <p:nvPr/>
        </p:nvSpPr>
        <p:spPr>
          <a:xfrm>
            <a:off x="3657600" y="3383280"/>
            <a:ext cx="731520" cy="731520"/>
          </a:xfrm>
          <a:prstGeom prst="ellipse">
            <a:avLst/>
          </a:prstGeom>
          <a:solidFill>
            <a:srgbClr val="2F6FB2"/>
          </a:solidFill>
          <a:ln w="12700">
            <a:solidFill>
              <a:srgbClr val="2F6FB2"/>
            </a:solidFill>
            <a:prstDash val="solid"/>
          </a:ln>
        </p:spPr>
        <p:txBody>
          <a:bodyPr/>
          <a:lstStyle/>
          <a:p>
            <a:endParaRPr lang="es-CO"/>
          </a:p>
        </p:txBody>
      </p:sp>
      <p:pic>
        <p:nvPicPr>
          <p:cNvPr id="16" name="Image 1" descr="preencoded.png"/>
          <p:cNvPicPr>
            <a:picLocks noChangeAspect="1"/>
          </p:cNvPicPr>
          <p:nvPr/>
        </p:nvPicPr>
        <p:blipFill>
          <a:blip r:embed="rId4"/>
          <a:stretch>
            <a:fillRect/>
          </a:stretch>
        </p:blipFill>
        <p:spPr>
          <a:xfrm>
            <a:off x="3847795" y="3573475"/>
            <a:ext cx="351130" cy="351130"/>
          </a:xfrm>
          <a:prstGeom prst="rect">
            <a:avLst/>
          </a:prstGeom>
        </p:spPr>
      </p:pic>
      <p:sp>
        <p:nvSpPr>
          <p:cNvPr id="17" name="Text 13"/>
          <p:cNvSpPr txBox="1"/>
          <p:nvPr/>
        </p:nvSpPr>
        <p:spPr>
          <a:xfrm>
            <a:off x="3657600" y="4251960"/>
            <a:ext cx="2103120" cy="457200"/>
          </a:xfrm>
          <a:prstGeom prst="rect">
            <a:avLst/>
          </a:prstGeom>
          <a:noFill/>
          <a:ln/>
        </p:spPr>
        <p:txBody>
          <a:bodyPr wrap="square" lIns="0" tIns="0" rIns="0" bIns="0" rtlCol="0" anchor="ctr"/>
          <a:lstStyle/>
          <a:p>
            <a:pPr marL="0" indent="0">
              <a:buNone/>
            </a:pPr>
            <a:r>
              <a:rPr lang="en-US" sz="1800" b="1" dirty="0">
                <a:solidFill>
                  <a:schemeClr val="tx2"/>
                </a:solidFill>
              </a:rPr>
              <a:t>Secundaria 1</a:t>
            </a:r>
            <a:endParaRPr lang="en-US" sz="1800" dirty="0"/>
          </a:p>
        </p:txBody>
      </p:sp>
      <p:sp>
        <p:nvSpPr>
          <p:cNvPr id="18" name="Text 14"/>
          <p:cNvSpPr txBox="1"/>
          <p:nvPr/>
        </p:nvSpPr>
        <p:spPr>
          <a:xfrm>
            <a:off x="3657600" y="4709160"/>
            <a:ext cx="2103120" cy="1188720"/>
          </a:xfrm>
          <a:prstGeom prst="rect">
            <a:avLst/>
          </a:prstGeom>
          <a:noFill/>
          <a:ln/>
        </p:spPr>
        <p:txBody>
          <a:bodyPr wrap="square" lIns="0" tIns="0" rIns="0" bIns="0" rtlCol="0" anchor="t"/>
          <a:lstStyle/>
          <a:p>
            <a:pPr marL="0" indent="0">
              <a:buNone/>
            </a:pPr>
            <a:r>
              <a:rPr lang="en-US" sz="1400" dirty="0">
                <a:solidFill>
                  <a:schemeClr val="tx1"/>
                </a:solidFill>
              </a:rPr>
              <a:t>Ligas: no concluyente. Casas: equivalentes en RPS.</a:t>
            </a:r>
            <a:endParaRPr lang="en-US" sz="1400" dirty="0"/>
          </a:p>
        </p:txBody>
      </p:sp>
      <p:sp>
        <p:nvSpPr>
          <p:cNvPr id="19" name="Shape 15"/>
          <p:cNvSpPr/>
          <p:nvPr/>
        </p:nvSpPr>
        <p:spPr>
          <a:xfrm>
            <a:off x="6217920" y="3154680"/>
            <a:ext cx="2606040" cy="2880360"/>
          </a:xfrm>
          <a:prstGeom prst="roundRect">
            <a:avLst>
              <a:gd name="adj" fmla="val 6316"/>
            </a:avLst>
          </a:prstGeom>
          <a:solidFill>
            <a:srgbClr val="EEF3F0"/>
          </a:solidFill>
          <a:ln w="12700">
            <a:solidFill>
              <a:srgbClr val="EEF3F0"/>
            </a:solidFill>
            <a:prstDash val="solid"/>
          </a:ln>
        </p:spPr>
        <p:txBody>
          <a:bodyPr/>
          <a:lstStyle/>
          <a:p>
            <a:endParaRPr lang="es-CO"/>
          </a:p>
        </p:txBody>
      </p:sp>
      <p:sp>
        <p:nvSpPr>
          <p:cNvPr id="20" name="Shape 16"/>
          <p:cNvSpPr/>
          <p:nvPr/>
        </p:nvSpPr>
        <p:spPr>
          <a:xfrm>
            <a:off x="6492240" y="3383280"/>
            <a:ext cx="731520" cy="731520"/>
          </a:xfrm>
          <a:prstGeom prst="ellipse">
            <a:avLst/>
          </a:prstGeom>
          <a:solidFill>
            <a:srgbClr val="E07A1F"/>
          </a:solidFill>
          <a:ln w="12700">
            <a:solidFill>
              <a:srgbClr val="E07A1F"/>
            </a:solidFill>
            <a:prstDash val="solid"/>
          </a:ln>
        </p:spPr>
        <p:txBody>
          <a:bodyPr/>
          <a:lstStyle/>
          <a:p>
            <a:endParaRPr lang="es-CO"/>
          </a:p>
        </p:txBody>
      </p:sp>
      <p:pic>
        <p:nvPicPr>
          <p:cNvPr id="21" name="Image 2" descr="preencoded.png"/>
          <p:cNvPicPr>
            <a:picLocks noChangeAspect="1"/>
          </p:cNvPicPr>
          <p:nvPr/>
        </p:nvPicPr>
        <p:blipFill>
          <a:blip r:embed="rId5"/>
          <a:stretch>
            <a:fillRect/>
          </a:stretch>
        </p:blipFill>
        <p:spPr>
          <a:xfrm>
            <a:off x="6682435" y="3573475"/>
            <a:ext cx="351130" cy="351130"/>
          </a:xfrm>
          <a:prstGeom prst="rect">
            <a:avLst/>
          </a:prstGeom>
        </p:spPr>
      </p:pic>
      <p:sp>
        <p:nvSpPr>
          <p:cNvPr id="22" name="Text 17"/>
          <p:cNvSpPr txBox="1"/>
          <p:nvPr/>
        </p:nvSpPr>
        <p:spPr>
          <a:xfrm>
            <a:off x="6492240" y="4251960"/>
            <a:ext cx="2103120" cy="457200"/>
          </a:xfrm>
          <a:prstGeom prst="rect">
            <a:avLst/>
          </a:prstGeom>
          <a:noFill/>
          <a:ln/>
        </p:spPr>
        <p:txBody>
          <a:bodyPr wrap="square" lIns="0" tIns="0" rIns="0" bIns="0" rtlCol="0" anchor="ctr"/>
          <a:lstStyle/>
          <a:p>
            <a:pPr marL="0" indent="0">
              <a:buNone/>
            </a:pPr>
            <a:r>
              <a:rPr lang="en-US" sz="1800" b="1" dirty="0">
                <a:solidFill>
                  <a:schemeClr val="tx2"/>
                </a:solidFill>
              </a:rPr>
              <a:t>Secundaria 2</a:t>
            </a:r>
            <a:endParaRPr lang="en-US" sz="1800" dirty="0"/>
          </a:p>
        </p:txBody>
      </p:sp>
      <p:sp>
        <p:nvSpPr>
          <p:cNvPr id="23" name="Text 18"/>
          <p:cNvSpPr txBox="1"/>
          <p:nvPr/>
        </p:nvSpPr>
        <p:spPr>
          <a:xfrm>
            <a:off x="6492240" y="4709160"/>
            <a:ext cx="2103120" cy="1188720"/>
          </a:xfrm>
          <a:prstGeom prst="rect">
            <a:avLst/>
          </a:prstGeom>
          <a:noFill/>
          <a:ln/>
        </p:spPr>
        <p:txBody>
          <a:bodyPr wrap="square" lIns="0" tIns="0" rIns="0" bIns="0" rtlCol="0" anchor="t"/>
          <a:lstStyle/>
          <a:p>
            <a:pPr marL="0" indent="0">
              <a:buNone/>
            </a:pPr>
            <a:r>
              <a:rPr lang="en-US" sz="1400" dirty="0">
                <a:solidFill>
                  <a:schemeClr val="tx1"/>
                </a:solidFill>
              </a:rPr>
              <a:t>Temporadas: no concluyente (IC anchos).</a:t>
            </a:r>
            <a:endParaRPr lang="en-US" sz="1400" dirty="0"/>
          </a:p>
        </p:txBody>
      </p:sp>
      <p:sp>
        <p:nvSpPr>
          <p:cNvPr id="24" name="Shape 19"/>
          <p:cNvSpPr/>
          <p:nvPr/>
        </p:nvSpPr>
        <p:spPr>
          <a:xfrm>
            <a:off x="9052560" y="3154680"/>
            <a:ext cx="2606040" cy="2880360"/>
          </a:xfrm>
          <a:prstGeom prst="roundRect">
            <a:avLst>
              <a:gd name="adj" fmla="val 6316"/>
            </a:avLst>
          </a:prstGeom>
          <a:solidFill>
            <a:srgbClr val="EEF3F0"/>
          </a:solidFill>
          <a:ln w="12700">
            <a:solidFill>
              <a:srgbClr val="EEF3F0"/>
            </a:solidFill>
            <a:prstDash val="solid"/>
          </a:ln>
        </p:spPr>
        <p:txBody>
          <a:bodyPr/>
          <a:lstStyle/>
          <a:p>
            <a:endParaRPr lang="es-CO"/>
          </a:p>
        </p:txBody>
      </p:sp>
      <p:sp>
        <p:nvSpPr>
          <p:cNvPr id="25" name="Shape 20"/>
          <p:cNvSpPr/>
          <p:nvPr/>
        </p:nvSpPr>
        <p:spPr>
          <a:xfrm>
            <a:off x="9326880" y="3383280"/>
            <a:ext cx="731520" cy="731520"/>
          </a:xfrm>
          <a:prstGeom prst="ellipse">
            <a:avLst/>
          </a:prstGeom>
          <a:solidFill>
            <a:srgbClr val="D64545"/>
          </a:solidFill>
          <a:ln w="12700">
            <a:solidFill>
              <a:srgbClr val="D64545"/>
            </a:solidFill>
            <a:prstDash val="solid"/>
          </a:ln>
        </p:spPr>
        <p:txBody>
          <a:bodyPr/>
          <a:lstStyle/>
          <a:p>
            <a:endParaRPr lang="es-CO"/>
          </a:p>
        </p:txBody>
      </p:sp>
      <p:pic>
        <p:nvPicPr>
          <p:cNvPr id="26" name="Image 3" descr="preencoded.png"/>
          <p:cNvPicPr>
            <a:picLocks noChangeAspect="1"/>
          </p:cNvPicPr>
          <p:nvPr/>
        </p:nvPicPr>
        <p:blipFill>
          <a:blip r:embed="rId6"/>
          <a:stretch>
            <a:fillRect/>
          </a:stretch>
        </p:blipFill>
        <p:spPr>
          <a:xfrm>
            <a:off x="9517075" y="3573475"/>
            <a:ext cx="351130" cy="351130"/>
          </a:xfrm>
          <a:prstGeom prst="rect">
            <a:avLst/>
          </a:prstGeom>
        </p:spPr>
      </p:pic>
      <p:sp>
        <p:nvSpPr>
          <p:cNvPr id="27" name="Text 21"/>
          <p:cNvSpPr txBox="1"/>
          <p:nvPr/>
        </p:nvSpPr>
        <p:spPr>
          <a:xfrm>
            <a:off x="9326880" y="4251960"/>
            <a:ext cx="2103120" cy="457200"/>
          </a:xfrm>
          <a:prstGeom prst="rect">
            <a:avLst/>
          </a:prstGeom>
          <a:noFill/>
          <a:ln/>
        </p:spPr>
        <p:txBody>
          <a:bodyPr wrap="square" lIns="0" tIns="0" rIns="0" bIns="0" rtlCol="0" anchor="ctr"/>
          <a:lstStyle/>
          <a:p>
            <a:pPr marL="0" indent="0">
              <a:buNone/>
            </a:pPr>
            <a:r>
              <a:rPr lang="en-US" sz="1800" b="1" dirty="0">
                <a:solidFill>
                  <a:schemeClr val="tx2"/>
                </a:solidFill>
              </a:rPr>
              <a:t>Secundaria 3</a:t>
            </a:r>
            <a:endParaRPr lang="en-US" sz="1800" dirty="0"/>
          </a:p>
        </p:txBody>
      </p:sp>
      <p:sp>
        <p:nvSpPr>
          <p:cNvPr id="28" name="Text 22"/>
          <p:cNvSpPr txBox="1"/>
          <p:nvPr/>
        </p:nvSpPr>
        <p:spPr>
          <a:xfrm>
            <a:off x="9326880" y="4709160"/>
            <a:ext cx="2103120" cy="1188720"/>
          </a:xfrm>
          <a:prstGeom prst="rect">
            <a:avLst/>
          </a:prstGeom>
          <a:noFill/>
          <a:ln/>
        </p:spPr>
        <p:txBody>
          <a:bodyPr wrap="square" lIns="0" tIns="0" rIns="0" bIns="0" rtlCol="0" anchor="t"/>
          <a:lstStyle/>
          <a:p>
            <a:pPr marL="0" indent="0">
              <a:buNone/>
            </a:pPr>
            <a:r>
              <a:rPr lang="en-US" sz="1400" dirty="0">
                <a:solidFill>
                  <a:schemeClr val="tx1"/>
                </a:solidFill>
              </a:rPr>
              <a:t>Premier −0,42 robusto; LaLiga débil. Asociación, no causalidad.</a:t>
            </a:r>
            <a:endParaRPr lang="en-US" sz="1400" dirty="0"/>
          </a:p>
        </p:txBody>
      </p:sp>
      <p:sp>
        <p:nvSpPr>
          <p:cNvPr id="29"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F68"/>
                </a:solidFill>
              </a:defRPr>
            </a:lvl1pPr>
          </a:lstStyle>
          <a:p>
            <a:pPr algn="r"/>
            <a:fld id="{F7021451-1387-4CA6-816F-3879F97B5CBC}" type="slidenum">
              <a:rPr lang="en-US" b="0"/>
              <a:t>26</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68680"/>
          </a:xfrm>
          <a:prstGeom prst="rect">
            <a:avLst/>
          </a:prstGeom>
          <a:noFill/>
          <a:ln/>
        </p:spPr>
        <p:txBody>
          <a:bodyPr wrap="square" lIns="0" tIns="0" rIns="0" bIns="0" rtlCol="0" anchor="ctr"/>
          <a:lstStyle/>
          <a:p>
            <a:pPr marL="0" indent="0" algn="l">
              <a:buNone/>
            </a:pPr>
            <a:r>
              <a:rPr lang="en-US" sz="3400" b="1" dirty="0">
                <a:solidFill>
                  <a:schemeClr val="tx2"/>
                </a:solidFill>
              </a:rPr>
              <a:t>Referencias</a:t>
            </a:r>
            <a:endParaRPr lang="en-US" sz="3400" dirty="0"/>
          </a:p>
        </p:txBody>
      </p:sp>
      <p:sp>
        <p:nvSpPr>
          <p:cNvPr id="3" name="Shape 1"/>
          <p:cNvSpPr/>
          <p:nvPr/>
        </p:nvSpPr>
        <p:spPr>
          <a:xfrm>
            <a:off x="548640" y="128016"/>
            <a:ext cx="795528" cy="274320"/>
          </a:xfrm>
          <a:prstGeom prst="roundRect">
            <a:avLst>
              <a:gd name="adj" fmla="val 50000"/>
            </a:avLst>
          </a:prstGeom>
          <a:solidFill>
            <a:srgbClr val="5E6F68"/>
          </a:solidFill>
          <a:ln w="12700">
            <a:solidFill>
              <a:srgbClr val="5E6F68"/>
            </a:solidFill>
            <a:prstDash val="solid"/>
          </a:ln>
        </p:spPr>
        <p:txBody>
          <a:bodyPr/>
          <a:lstStyle/>
          <a:p>
            <a:endParaRPr lang="es-CO"/>
          </a:p>
        </p:txBody>
      </p:sp>
      <p:sp>
        <p:nvSpPr>
          <p:cNvPr id="4" name="Text 2"/>
          <p:cNvSpPr txBox="1"/>
          <p:nvPr/>
        </p:nvSpPr>
        <p:spPr>
          <a:xfrm>
            <a:off x="548640" y="128016"/>
            <a:ext cx="795528" cy="274320"/>
          </a:xfrm>
          <a:prstGeom prst="rect">
            <a:avLst/>
          </a:prstGeom>
          <a:noFill/>
          <a:ln/>
        </p:spPr>
        <p:txBody>
          <a:bodyPr wrap="square" lIns="0" tIns="0" rIns="0" bIns="0" rtlCol="0" anchor="ctr"/>
          <a:lstStyle/>
          <a:p>
            <a:pPr marL="0" indent="0" algn="ctr">
              <a:buNone/>
            </a:pPr>
            <a:r>
              <a:rPr lang="en-US" sz="1050" b="1" kern="0" spc="100" dirty="0">
                <a:solidFill>
                  <a:schemeClr val="bg1"/>
                </a:solidFill>
              </a:rPr>
              <a:t>CIERRE</a:t>
            </a:r>
            <a:endParaRPr lang="en-US" sz="1050" dirty="0"/>
          </a:p>
        </p:txBody>
      </p:sp>
      <p:sp>
        <p:nvSpPr>
          <p:cNvPr id="5" name="!!panel"/>
          <p:cNvSpPr/>
          <p:nvPr/>
        </p:nvSpPr>
        <p:spPr>
          <a:xfrm>
            <a:off x="9052560" y="1463040"/>
            <a:ext cx="2560320" cy="4526280"/>
          </a:xfrm>
          <a:prstGeom prst="roundRect">
            <a:avLst>
              <a:gd name="adj" fmla="val 6429"/>
            </a:avLst>
          </a:prstGeom>
          <a:solidFill>
            <a:srgbClr val="0C2B22"/>
          </a:solidFill>
          <a:ln w="12700">
            <a:solidFill>
              <a:srgbClr val="0C2B22"/>
            </a:solidFill>
            <a:prstDash val="solid"/>
          </a:ln>
        </p:spPr>
        <p:txBody>
          <a:bodyPr/>
          <a:lstStyle/>
          <a:p>
            <a:endParaRPr lang="es-CO"/>
          </a:p>
        </p:txBody>
      </p:sp>
      <p:sp>
        <p:nvSpPr>
          <p:cNvPr id="6" name="!!ring"/>
          <p:cNvSpPr/>
          <p:nvPr/>
        </p:nvSpPr>
        <p:spPr>
          <a:xfrm>
            <a:off x="10972800" y="384048"/>
            <a:ext cx="731520" cy="731520"/>
          </a:xfrm>
          <a:prstGeom prst="ellipse">
            <a:avLst/>
          </a:prstGeom>
          <a:solidFill>
            <a:srgbClr val="FFFFFF">
              <a:alpha val="0"/>
            </a:srgbClr>
          </a:solidFill>
          <a:ln w="31750">
            <a:solidFill>
              <a:srgbClr val="1F8A5B"/>
            </a:solidFill>
            <a:prstDash val="solid"/>
          </a:ln>
        </p:spPr>
        <p:txBody>
          <a:bodyPr/>
          <a:lstStyle/>
          <a:p>
            <a:endParaRPr lang="es-CO"/>
          </a:p>
        </p:txBody>
      </p:sp>
      <p:sp>
        <p:nvSpPr>
          <p:cNvPr id="7" name="!!ball"/>
          <p:cNvSpPr/>
          <p:nvPr/>
        </p:nvSpPr>
        <p:spPr>
          <a:xfrm>
            <a:off x="11256264" y="667512"/>
            <a:ext cx="164592" cy="164592"/>
          </a:xfrm>
          <a:prstGeom prst="ellipse">
            <a:avLst/>
          </a:prstGeom>
          <a:solidFill>
            <a:srgbClr val="F2B705"/>
          </a:solidFill>
          <a:ln w="12700">
            <a:solidFill>
              <a:srgbClr val="F2B705"/>
            </a:solidFill>
            <a:prstDash val="solid"/>
          </a:ln>
        </p:spPr>
        <p:txBody>
          <a:bodyPr/>
          <a:lstStyle/>
          <a:p>
            <a:endParaRPr lang="es-CO"/>
          </a:p>
        </p:txBody>
      </p:sp>
      <p:sp>
        <p:nvSpPr>
          <p:cNvPr id="8" name="Text 6"/>
          <p:cNvSpPr txBox="1"/>
          <p:nvPr/>
        </p:nvSpPr>
        <p:spPr>
          <a:xfrm>
            <a:off x="548640" y="1371600"/>
            <a:ext cx="8229600" cy="4846320"/>
          </a:xfrm>
          <a:prstGeom prst="rect">
            <a:avLst/>
          </a:prstGeom>
          <a:noFill/>
          <a:ln/>
        </p:spPr>
        <p:txBody>
          <a:bodyPr wrap="square" lIns="0" tIns="0" rIns="0" bIns="0" rtlCol="0" anchor="t"/>
          <a:lstStyle/>
          <a:p>
            <a:pPr marL="0" indent="0">
              <a:spcAft>
                <a:spcPts val="600"/>
              </a:spcAft>
              <a:buNone/>
            </a:pPr>
            <a:r>
              <a:rPr lang="en-US" sz="1050" dirty="0">
                <a:solidFill>
                  <a:schemeClr val="tx1"/>
                </a:solidFill>
              </a:rPr>
              <a:t>Bryson, A., Dolton, P., Reade, J. J., Schreyer, D. y Singleton, C. (2021). Causal effects of an absent crowd on performances and refereeing decisions during Covid-19. Economics Letters, 198, 109664.</a:t>
            </a:r>
            <a:endParaRPr lang="en-US" sz="1050" dirty="0"/>
          </a:p>
          <a:p>
            <a:pPr marL="0" indent="0">
              <a:spcAft>
                <a:spcPts val="600"/>
              </a:spcAft>
              <a:buNone/>
            </a:pPr>
            <a:r>
              <a:rPr lang="en-US" sz="1050" dirty="0">
                <a:solidFill>
                  <a:schemeClr val="tx1"/>
                </a:solidFill>
              </a:rPr>
              <a:t>Clarke, S., Kovalchik, S. e Ingram, M. (2017). Adjusting bookmaker's odds to allow for overround. American Journal of Sports Science, 5(6), 45–49.</a:t>
            </a:r>
            <a:endParaRPr lang="en-US" sz="1050" dirty="0"/>
          </a:p>
          <a:p>
            <a:pPr marL="0" indent="0">
              <a:spcAft>
                <a:spcPts val="600"/>
              </a:spcAft>
              <a:buNone/>
            </a:pPr>
            <a:r>
              <a:rPr lang="en-US" sz="1050" dirty="0">
                <a:solidFill>
                  <a:schemeClr val="tx1"/>
                </a:solidFill>
              </a:rPr>
              <a:t>Griffith, R. M. (1949). Odds adjustments by American horse-race bettors. The American Journal of Psychology, 62(2), 290–294.</a:t>
            </a:r>
            <a:endParaRPr lang="en-US" sz="1050" dirty="0"/>
          </a:p>
          <a:p>
            <a:pPr marL="0" indent="0">
              <a:spcAft>
                <a:spcPts val="600"/>
              </a:spcAft>
              <a:buNone/>
            </a:pPr>
            <a:r>
              <a:rPr lang="en-US" sz="1050" dirty="0">
                <a:solidFill>
                  <a:schemeClr val="tx1"/>
                </a:solidFill>
              </a:rPr>
              <a:t>Levitt, S. D. (2004). Why are gambling markets organised so differently from financial markets? The Economic Journal, 114(495), 223–246.</a:t>
            </a:r>
            <a:endParaRPr lang="en-US" sz="1050" dirty="0"/>
          </a:p>
          <a:p>
            <a:pPr marL="0" indent="0">
              <a:spcAft>
                <a:spcPts val="600"/>
              </a:spcAft>
              <a:buNone/>
            </a:pPr>
            <a:r>
              <a:rPr lang="en-US" sz="1050" dirty="0">
                <a:solidFill>
                  <a:schemeClr val="tx1"/>
                </a:solidFill>
              </a:rPr>
              <a:t>McCarrick, D., Bilalic, M., Neave, N. y Wolfson, S. (2021). Home advantage during the COVID-19 pandemic: Analyses of European football leagues. Psychology of Sport and Exercise, 56, 102013.</a:t>
            </a:r>
            <a:endParaRPr lang="en-US" sz="1050" dirty="0"/>
          </a:p>
          <a:p>
            <a:pPr marL="0" indent="0">
              <a:spcAft>
                <a:spcPts val="600"/>
              </a:spcAft>
              <a:buNone/>
            </a:pPr>
            <a:r>
              <a:rPr lang="en-US" sz="1050" dirty="0">
                <a:solidFill>
                  <a:schemeClr val="tx1"/>
                </a:solidFill>
              </a:rPr>
              <a:t>Lakens, D. (2017). Equivalence tests: A practical primer for t tests, correlations, and meta-analyses. Social Psychological and Personality Science, 8(4), 355–362.</a:t>
            </a:r>
            <a:endParaRPr lang="en-US" sz="1050" dirty="0"/>
          </a:p>
          <a:p>
            <a:pPr marL="0" indent="0">
              <a:spcAft>
                <a:spcPts val="600"/>
              </a:spcAft>
              <a:buNone/>
            </a:pPr>
            <a:r>
              <a:rPr lang="en-US" sz="1050" dirty="0">
                <a:solidFill>
                  <a:schemeClr val="tx1"/>
                </a:solidFill>
              </a:rPr>
              <a:t>Politis, D. N. y White, H. (2004). Automatic block-length selection for the dependent bootstrap. Econometric Reviews, 23(1), 53–70.</a:t>
            </a:r>
            <a:endParaRPr lang="en-US" sz="1050" dirty="0"/>
          </a:p>
          <a:p>
            <a:pPr marL="0" indent="0">
              <a:spcAft>
                <a:spcPts val="600"/>
              </a:spcAft>
              <a:buNone/>
            </a:pPr>
            <a:r>
              <a:rPr lang="en-US" sz="1050" dirty="0">
                <a:solidFill>
                  <a:schemeClr val="tx1"/>
                </a:solidFill>
              </a:rPr>
              <a:t>Snowberg, E. y Wolfers, J. (2010). Explaining the favorite–long shot bias: Is it risk-love or misperceptions? Journal of Political Economy, 118(4), 723–746.</a:t>
            </a:r>
            <a:endParaRPr lang="en-US" sz="1050" dirty="0"/>
          </a:p>
          <a:p>
            <a:pPr marL="0" indent="0">
              <a:spcAft>
                <a:spcPts val="600"/>
              </a:spcAft>
              <a:buNone/>
            </a:pPr>
            <a:r>
              <a:rPr lang="en-US" sz="1050" dirty="0">
                <a:solidFill>
                  <a:schemeClr val="tx1"/>
                </a:solidFill>
              </a:rPr>
              <a:t>Štrumbelj, E. (2014). On determining probability forecasts from betting odds. International Journal of Forecasting, 30(4), 934–943.</a:t>
            </a:r>
            <a:endParaRPr lang="en-US" sz="1050" dirty="0"/>
          </a:p>
          <a:p>
            <a:pPr marL="0" indent="0">
              <a:spcAft>
                <a:spcPts val="600"/>
              </a:spcAft>
              <a:buNone/>
            </a:pPr>
            <a:r>
              <a:rPr lang="en-US" sz="1050" dirty="0">
                <a:solidFill>
                  <a:schemeClr val="tx1"/>
                </a:solidFill>
              </a:rPr>
              <a:t>Winkelmann, D., Deutscher, C. y Ötting, M. (2021). Bookmakers' mispricing of the disappeared home advantage in the German Bundesliga after the COVID-19 break. Applied Economics, 53(26), 3054–3064.</a:t>
            </a:r>
            <a:endParaRPr lang="en-US" sz="1050" dirty="0"/>
          </a:p>
          <a:p>
            <a:pPr marL="0" indent="0">
              <a:spcAft>
                <a:spcPts val="600"/>
              </a:spcAft>
              <a:buNone/>
            </a:pPr>
            <a:r>
              <a:rPr lang="en-US" sz="1050" dirty="0">
                <a:solidFill>
                  <a:schemeClr val="tx1"/>
                </a:solidFill>
              </a:rPr>
              <a:t>Datos: Football-Data.co.uk, resultados y cuotas históricas de Premier League y LaLiga, 2017/18–2024/25.</a:t>
            </a:r>
            <a:endParaRPr lang="en-US" sz="1050" dirty="0"/>
          </a:p>
        </p:txBody>
      </p:sp>
      <p:pic>
        <p:nvPicPr>
          <p:cNvPr id="9" name="Image 0" descr="preencoded.png"/>
          <p:cNvPicPr>
            <a:picLocks noChangeAspect="1"/>
          </p:cNvPicPr>
          <p:nvPr/>
        </p:nvPicPr>
        <p:blipFill>
          <a:blip r:embed="rId3"/>
          <a:stretch>
            <a:fillRect/>
          </a:stretch>
        </p:blipFill>
        <p:spPr>
          <a:xfrm>
            <a:off x="9829800" y="3154680"/>
            <a:ext cx="1005840" cy="1005840"/>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F68"/>
                </a:solidFill>
              </a:defRPr>
            </a:lvl1pPr>
          </a:lstStyle>
          <a:p>
            <a:pPr algn="r"/>
            <a:fld id="{F7021451-1387-4CA6-816F-3879F97B5CBC}" type="slidenum">
              <a:rPr lang="en-US" b="0"/>
              <a:t>27</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panel"/>
          <p:cNvSpPr/>
          <p:nvPr/>
        </p:nvSpPr>
        <p:spPr>
          <a:xfrm>
            <a:off x="0" y="0"/>
            <a:ext cx="12191695" cy="6858000"/>
          </a:xfrm>
          <a:prstGeom prst="roundRect">
            <a:avLst/>
          </a:prstGeom>
          <a:solidFill>
            <a:srgbClr val="0C2B22"/>
          </a:solidFill>
          <a:ln w="12700">
            <a:solidFill>
              <a:srgbClr val="0C2B22"/>
            </a:solidFill>
            <a:prstDash val="solid"/>
          </a:ln>
        </p:spPr>
        <p:txBody>
          <a:bodyPr/>
          <a:lstStyle/>
          <a:p>
            <a:endParaRPr lang="es-CO"/>
          </a:p>
        </p:txBody>
      </p:sp>
      <p:sp>
        <p:nvSpPr>
          <p:cNvPr id="3" name="!!ring"/>
          <p:cNvSpPr/>
          <p:nvPr/>
        </p:nvSpPr>
        <p:spPr>
          <a:xfrm>
            <a:off x="7726680" y="960120"/>
            <a:ext cx="4754880" cy="4754880"/>
          </a:xfrm>
          <a:prstGeom prst="ellipse">
            <a:avLst/>
          </a:prstGeom>
          <a:solidFill>
            <a:srgbClr val="FFFFFF">
              <a:alpha val="0"/>
            </a:srgbClr>
          </a:solidFill>
          <a:ln w="38100">
            <a:solidFill>
              <a:srgbClr val="1F8A5B"/>
            </a:solidFill>
            <a:prstDash val="solid"/>
          </a:ln>
        </p:spPr>
        <p:txBody>
          <a:bodyPr/>
          <a:lstStyle/>
          <a:p>
            <a:endParaRPr lang="es-CO"/>
          </a:p>
        </p:txBody>
      </p:sp>
      <p:sp>
        <p:nvSpPr>
          <p:cNvPr id="4" name="!!ball"/>
          <p:cNvSpPr/>
          <p:nvPr/>
        </p:nvSpPr>
        <p:spPr>
          <a:xfrm>
            <a:off x="9921240" y="3154680"/>
            <a:ext cx="365760" cy="365760"/>
          </a:xfrm>
          <a:prstGeom prst="ellipse">
            <a:avLst/>
          </a:prstGeom>
          <a:solidFill>
            <a:srgbClr val="F2B705"/>
          </a:solidFill>
          <a:ln w="12700">
            <a:solidFill>
              <a:srgbClr val="F2B705"/>
            </a:solidFill>
            <a:prstDash val="solid"/>
          </a:ln>
        </p:spPr>
        <p:txBody>
          <a:bodyPr/>
          <a:lstStyle/>
          <a:p>
            <a:endParaRPr lang="es-CO"/>
          </a:p>
        </p:txBody>
      </p:sp>
      <p:sp>
        <p:nvSpPr>
          <p:cNvPr id="5" name="Text 0"/>
          <p:cNvSpPr>
            <a:spLocks noGrp="1"/>
          </p:cNvSpPr>
          <p:nvPr>
            <p:ph type="title" idx="100" hasCustomPrompt="1"/>
          </p:nvPr>
        </p:nvSpPr>
        <p:spPr>
          <a:xfrm>
            <a:off x="731520" y="2377440"/>
            <a:ext cx="6766560" cy="1371600"/>
          </a:xfrm>
          <a:prstGeom prst="rect">
            <a:avLst/>
          </a:prstGeom>
          <a:noFill/>
          <a:ln/>
        </p:spPr>
        <p:txBody>
          <a:bodyPr wrap="square" lIns="0" tIns="0" rIns="0" bIns="0" rtlCol="0" anchor="b"/>
          <a:lstStyle/>
          <a:p>
            <a:pPr marL="0" indent="0" algn="l">
              <a:buNone/>
            </a:pPr>
            <a:r>
              <a:rPr lang="en-US" sz="4400" b="1" dirty="0">
                <a:solidFill>
                  <a:schemeClr val="bg1"/>
                </a:solidFill>
              </a:rPr>
              <a:t>¿Preguntas?</a:t>
            </a:r>
            <a:endParaRPr lang="en-US" sz="4400" dirty="0"/>
          </a:p>
        </p:txBody>
      </p:sp>
      <p:sp>
        <p:nvSpPr>
          <p:cNvPr id="6" name="Text 0"/>
          <p:cNvSpPr>
            <a:spLocks noGrp="1"/>
          </p:cNvSpPr>
          <p:nvPr>
            <p:ph type="body" idx="101" hasCustomPrompt="1"/>
          </p:nvPr>
        </p:nvSpPr>
        <p:spPr>
          <a:xfrm>
            <a:off x="731520" y="3931920"/>
            <a:ext cx="6583680" cy="1600200"/>
          </a:xfrm>
          <a:prstGeom prst="rect">
            <a:avLst/>
          </a:prstGeom>
          <a:noFill/>
          <a:ln/>
        </p:spPr>
        <p:txBody>
          <a:bodyPr wrap="square" lIns="0" tIns="0" rIns="0" bIns="0" rtlCol="0" anchor="t"/>
          <a:lstStyle/>
          <a:p>
            <a:pPr marL="0" indent="0" algn="l">
              <a:buNone/>
            </a:pPr>
            <a:r>
              <a:rPr lang="en-US" sz="1900" dirty="0">
                <a:solidFill>
                  <a:schemeClr val="bg2"/>
                </a:solidFill>
              </a:rPr>
              <a:t>Andrés Beleño · Mauricio Serrano · Carlos Cadena</a:t>
            </a:r>
            <a:endParaRPr lang="en-US" sz="1900" dirty="0"/>
          </a:p>
        </p:txBody>
      </p:sp>
      <p:sp>
        <p:nvSpPr>
          <p:cNvPr id="7" name="Text 5"/>
          <p:cNvSpPr txBox="1"/>
          <p:nvPr/>
        </p:nvSpPr>
        <p:spPr>
          <a:xfrm>
            <a:off x="731520" y="5120640"/>
            <a:ext cx="6766560" cy="914400"/>
          </a:xfrm>
          <a:prstGeom prst="rect">
            <a:avLst/>
          </a:prstGeom>
          <a:noFill/>
          <a:ln/>
        </p:spPr>
        <p:txBody>
          <a:bodyPr wrap="square" lIns="0" tIns="0" rIns="0" bIns="0" rtlCol="0" anchor="t"/>
          <a:lstStyle/>
          <a:p>
            <a:pPr marL="0" indent="0">
              <a:buNone/>
            </a:pPr>
            <a:r>
              <a:rPr lang="en-US" sz="1300" dirty="0">
                <a:solidFill>
                  <a:schemeClr val="bg2"/>
                </a:solidFill>
              </a:rPr>
              <a:t>Si el juego deja de ser un juego: la ludopatía es tratable. Tu EPS puede orientar una consulta de salud mental, y en coljuegos.gov.co hay información y registro de autoexclusión.</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28</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theme/theme1.xml><?xml version="1.0" encoding="utf-8"?>
<a:theme xmlns:a="http://schemas.openxmlformats.org/drawingml/2006/main" name="Estadio de noche">
  <a:themeElements>
    <a:clrScheme name="Estadio de noche">
      <a:dk1>
        <a:srgbClr val="14211C"/>
      </a:dk1>
      <a:lt1>
        <a:srgbClr val="FFFFFF"/>
      </a:lt1>
      <a:dk2>
        <a:srgbClr val="0C2B22"/>
      </a:dk2>
      <a:lt2>
        <a:srgbClr val="EEF3F0"/>
      </a:lt2>
      <a:accent1>
        <a:srgbClr val="1F8A5B"/>
      </a:accent1>
      <a:accent2>
        <a:srgbClr val="F2B705"/>
      </a:accent2>
      <a:accent3>
        <a:srgbClr val="D64545"/>
      </a:accent3>
      <a:accent4>
        <a:srgbClr val="2F6FB2"/>
      </a:accent4>
      <a:accent5>
        <a:srgbClr val="E07A1F"/>
      </a:accent5>
      <a:accent6>
        <a:srgbClr val="8AA399"/>
      </a:accent6>
      <a:hlink>
        <a:srgbClr val="2F6FB2"/>
      </a:hlink>
      <a:folHlink>
        <a:srgbClr val="6D5BA8"/>
      </a:folHlink>
    </a:clrScheme>
    <a:fontScheme name="Estadio de noch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932</TotalTime>
  <Words>5160</Words>
  <Application>Microsoft Office PowerPoint</Application>
  <PresentationFormat>Panorámica</PresentationFormat>
  <Paragraphs>352</Paragraphs>
  <Slides>28</Slides>
  <Notes>28</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28</vt:i4>
      </vt:variant>
    </vt:vector>
  </HeadingPairs>
  <TitlesOfParts>
    <vt:vector size="31" baseType="lpstr">
      <vt:lpstr>Arial</vt:lpstr>
      <vt:lpstr>Calibri</vt:lpstr>
      <vt:lpstr>Estadio de noche</vt:lpstr>
      <vt:lpstr>¿Le atinan las casas de apuestas?</vt:lpstr>
      <vt:lpstr>Auditamos pronósticos, no apostamos</vt:lpstr>
      <vt:lpstr>Cuatro preguntas</vt:lpstr>
      <vt:lpstr>Los datos: Football-Data, cuotas de cierre</vt:lpstr>
      <vt:lpstr>¿Están bien calibradas las cuotas?</vt:lpstr>
      <vt:lpstr>Una cuota es una probabilidad… inflada</vt:lpstr>
      <vt:lpstr>¿Cuánto cobra cada casa?</vt:lpstr>
      <vt:lpstr>¿A quién se le quita el margen?</vt:lpstr>
      <vt:lpstr>Método: de la cuota a la evaluación</vt:lpstr>
      <vt:lpstr>Método: cómo decidimos si una diferencia es real</vt:lpstr>
      <vt:lpstr>Si dicen 40 %, ¿pasa 4 de cada 10 veces?</vt:lpstr>
      <vt:lpstr>El sesgo favorito–longshot depende del método</vt:lpstr>
      <vt:lpstr>LaLiga: ¿sesgo real o falta de datos?</vt:lpstr>
      <vt:lpstr>Un sesgo conocido desde 1949</vt:lpstr>
      <vt:lpstr>¿Cambia entre ligas y temporadas?</vt:lpstr>
      <vt:lpstr>Premier League vs LaLiga</vt:lpstr>
      <vt:lpstr>¿Cambió algo entre temporadas?</vt:lpstr>
      <vt:lpstr>¿Y si se vacían los estadios?</vt:lpstr>
      <vt:lpstr>Tres periodos, 6.080 partidos</vt:lpstr>
      <vt:lpstr>Sin público, la ventaja de local cayó</vt:lpstr>
      <vt:lpstr>¿Fue el público o fue la pandemia?</vt:lpstr>
      <vt:lpstr>¿Por dónde actúa el público?</vt:lpstr>
      <vt:lpstr>¿Se dio cuenta el mercado?</vt:lpstr>
      <vt:lpstr>Lo que encontraron otros y lo que encontramos</vt:lpstr>
      <vt:lpstr>Lo que el diseño permite y no permite concluir</vt:lpstr>
      <vt:lpstr>Conclusiones</vt:lpstr>
      <vt:lpstr>Referencias</vt:lpstr>
      <vt:lpstr>¿Preguntas?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 atinan las casas de apuestas?</dc:title>
  <dc:subject>Proyecto 2 · Evaluación de pronósticos probabilísticos</dc:subject>
  <dc:creator>Andrés Beleño, Mauricio Serrano y Carlos Cadena</dc:creator>
  <cp:lastModifiedBy>MAURICIO DAVID SERRANO HERNANDEZ</cp:lastModifiedBy>
  <cp:revision>1</cp:revision>
  <dcterms:created xsi:type="dcterms:W3CDTF">2026-10-03T04:34:29Z</dcterms:created>
  <dcterms:modified xsi:type="dcterms:W3CDTF">2026-10-05T16:31:07Z</dcterms:modified>
</cp:coreProperties>
</file>